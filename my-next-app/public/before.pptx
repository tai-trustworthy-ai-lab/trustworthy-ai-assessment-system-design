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3" roundtripDataSignature="AMtx7mi4Hw+Qqk0CWynRvg8y10RYLr2M5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3" Type="http://customschemas.google.com/relationships/presentationmetadata" Target="meta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7" name="Google Shape;9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6" name="Google Shape;11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8" name="Google Shape;17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4" name="Google Shape;20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0" name="Google Shape;22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4" name="Google Shape;23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9" name="Google Shape;24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6" name="Google Shape;26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3" name="Google Shape;28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1" name="Google Shape;30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0" name="Google Shape;31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0" name="Google Shape;33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6" name="Google Shape;34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1" name="Google Shape;36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9" name="Google Shape;379;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8" name="Google Shape;39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7" name="Google Shape;417;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3" name="Google Shape;433;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9" name="Google Shape;449;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8" name="Google Shape;45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5" name="Google Shape;475;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8" name="Google Shape;488;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2" name="Google Shape;502;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0" name="Google Shape;520;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4" name="Google Shape;534;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9" name="Google Shape;549;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6" name="Google Shape;566;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4" name="Google Shape;584;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2" name="Google Shape;602;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1" name="Google Shape;611;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0" name="Google Shape;630;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4" name="Google Shape;644;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9" name="Google Shape;659;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7" name="Google Shape;677;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5" name="Google Shape;695;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26" name="Google Shape;726;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41" name="Google Shape;741;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57" name="Google Shape;757;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3" name="Google Shape;773;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88" name="Google Shape;788;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1" name="Google Shape;801;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0" name="Google Shape;820;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34" name="Google Shape;834;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51" name="Google Shape;851;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8" name="Google Shape;868;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6" name="Google Shape;886;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5" name="Google Shape;905;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19" name="Google Shape;919;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8" name="Google Shape;928;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6" name="Google Shape;946;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0" name="Google Shape;960;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p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78" name="Google Shape;978;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投影片" type="title">
  <p:cSld name="TITLE">
    <p:spTree>
      <p:nvGrpSpPr>
        <p:cNvPr id="11" name="Shape 11"/>
        <p:cNvGrpSpPr/>
        <p:nvPr/>
      </p:nvGrpSpPr>
      <p:grpSpPr>
        <a:xfrm>
          <a:off x="0" y="0"/>
          <a:ext cx="0" cy="0"/>
          <a:chOff x="0" y="0"/>
          <a:chExt cx="0" cy="0"/>
        </a:xfrm>
      </p:grpSpPr>
      <p:sp>
        <p:nvSpPr>
          <p:cNvPr id="12" name="Google Shape;12;p6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6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17" name="Shape 17"/>
        <p:cNvGrpSpPr/>
        <p:nvPr/>
      </p:nvGrpSpPr>
      <p:grpSpPr>
        <a:xfrm>
          <a:off x="0" y="0"/>
          <a:ext cx="0" cy="0"/>
          <a:chOff x="0" y="0"/>
          <a:chExt cx="0" cy="0"/>
        </a:xfrm>
      </p:grpSpPr>
      <p:sp>
        <p:nvSpPr>
          <p:cNvPr id="18" name="Google Shape;18;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內容" type="obj">
  <p:cSld name="OBJECT">
    <p:spTree>
      <p:nvGrpSpPr>
        <p:cNvPr id="21" name="Shape 21"/>
        <p:cNvGrpSpPr/>
        <p:nvPr/>
      </p:nvGrpSpPr>
      <p:grpSpPr>
        <a:xfrm>
          <a:off x="0" y="0"/>
          <a:ext cx="0" cy="0"/>
          <a:chOff x="0" y="0"/>
          <a:chExt cx="0" cy="0"/>
        </a:xfrm>
      </p:grpSpPr>
      <p:sp>
        <p:nvSpPr>
          <p:cNvPr id="22" name="Google Shape;22;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6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章節標題" type="secHead">
  <p:cSld name="SECTION_HEADER">
    <p:spTree>
      <p:nvGrpSpPr>
        <p:cNvPr id="27" name="Shape 27"/>
        <p:cNvGrpSpPr/>
        <p:nvPr/>
      </p:nvGrpSpPr>
      <p:grpSpPr>
        <a:xfrm>
          <a:off x="0" y="0"/>
          <a:ext cx="0" cy="0"/>
          <a:chOff x="0" y="0"/>
          <a:chExt cx="0" cy="0"/>
        </a:xfrm>
      </p:grpSpPr>
      <p:sp>
        <p:nvSpPr>
          <p:cNvPr id="28" name="Google Shape;28;p6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6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兩個內容" type="twoObj">
  <p:cSld name="TWO_OBJECTS">
    <p:spTree>
      <p:nvGrpSpPr>
        <p:cNvPr id="33" name="Shape 33"/>
        <p:cNvGrpSpPr/>
        <p:nvPr/>
      </p:nvGrpSpPr>
      <p:grpSpPr>
        <a:xfrm>
          <a:off x="0" y="0"/>
          <a:ext cx="0" cy="0"/>
          <a:chOff x="0" y="0"/>
          <a:chExt cx="0" cy="0"/>
        </a:xfrm>
      </p:grpSpPr>
      <p:sp>
        <p:nvSpPr>
          <p:cNvPr id="34" name="Google Shape;34;p6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6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較" type="twoTxTwoObj">
  <p:cSld name="TWO_OBJECTS_WITH_TEXT">
    <p:spTree>
      <p:nvGrpSpPr>
        <p:cNvPr id="40" name="Shape 40"/>
        <p:cNvGrpSpPr/>
        <p:nvPr/>
      </p:nvGrpSpPr>
      <p:grpSpPr>
        <a:xfrm>
          <a:off x="0" y="0"/>
          <a:ext cx="0" cy="0"/>
          <a:chOff x="0" y="0"/>
          <a:chExt cx="0" cy="0"/>
        </a:xfrm>
      </p:grpSpPr>
      <p:sp>
        <p:nvSpPr>
          <p:cNvPr id="41" name="Google Shape;41;p6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只有標題" type="titleOnly">
  <p:cSld name="TITLE_ONLY">
    <p:spTree>
      <p:nvGrpSpPr>
        <p:cNvPr id="49" name="Shape 49"/>
        <p:cNvGrpSpPr/>
        <p:nvPr/>
      </p:nvGrpSpPr>
      <p:grpSpPr>
        <a:xfrm>
          <a:off x="0" y="0"/>
          <a:ext cx="0" cy="0"/>
          <a:chOff x="0" y="0"/>
          <a:chExt cx="0" cy="0"/>
        </a:xfrm>
      </p:grpSpPr>
      <p:sp>
        <p:nvSpPr>
          <p:cNvPr id="50" name="Google Shape;50;p6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6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輔助字幕的內容" type="objTx">
  <p:cSld name="OBJECT_WITH_CAPTION_TEXT">
    <p:spTree>
      <p:nvGrpSpPr>
        <p:cNvPr id="54" name="Shape 54"/>
        <p:cNvGrpSpPr/>
        <p:nvPr/>
      </p:nvGrpSpPr>
      <p:grpSpPr>
        <a:xfrm>
          <a:off x="0" y="0"/>
          <a:ext cx="0" cy="0"/>
          <a:chOff x="0" y="0"/>
          <a:chExt cx="0" cy="0"/>
        </a:xfrm>
      </p:grpSpPr>
      <p:sp>
        <p:nvSpPr>
          <p:cNvPr id="55" name="Google Shape;55;p6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6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6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6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6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含輔助字幕的圖片" type="picTx">
  <p:cSld name="PICTURE_WITH_CAPTION_TEXT">
    <p:spTree>
      <p:nvGrpSpPr>
        <p:cNvPr id="61" name="Shape 61"/>
        <p:cNvGrpSpPr/>
        <p:nvPr/>
      </p:nvGrpSpPr>
      <p:grpSpPr>
        <a:xfrm>
          <a:off x="0" y="0"/>
          <a:ext cx="0" cy="0"/>
          <a:chOff x="0" y="0"/>
          <a:chExt cx="0" cy="0"/>
        </a:xfrm>
      </p:grpSpPr>
      <p:sp>
        <p:nvSpPr>
          <p:cNvPr id="62" name="Google Shape;62;p6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68"/>
          <p:cNvSpPr/>
          <p:nvPr>
            <p:ph idx="2" type="pic"/>
          </p:nvPr>
        </p:nvSpPr>
        <p:spPr>
          <a:xfrm>
            <a:off x="5183188" y="987425"/>
            <a:ext cx="6172200" cy="4873625"/>
          </a:xfrm>
          <a:prstGeom prst="rect">
            <a:avLst/>
          </a:prstGeom>
          <a:noFill/>
          <a:ln>
            <a:noFill/>
          </a:ln>
        </p:spPr>
      </p:sp>
      <p:sp>
        <p:nvSpPr>
          <p:cNvPr id="64" name="Google Shape;64;p6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6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6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6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標題及直排文字" type="vertTx">
  <p:cSld name="VERTICAL_TEXT">
    <p:spTree>
      <p:nvGrpSpPr>
        <p:cNvPr id="68" name="Shape 68"/>
        <p:cNvGrpSpPr/>
        <p:nvPr/>
      </p:nvGrpSpPr>
      <p:grpSpPr>
        <a:xfrm>
          <a:off x="0" y="0"/>
          <a:ext cx="0" cy="0"/>
          <a:chOff x="0" y="0"/>
          <a:chExt cx="0" cy="0"/>
        </a:xfrm>
      </p:grpSpPr>
      <p:sp>
        <p:nvSpPr>
          <p:cNvPr id="69" name="Google Shape;69;p6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6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6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6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6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直排標題及文字" type="vertTitleAndTx">
  <p:cSld name="VERTICAL_TITLE_AND_VERTICAL_TEXT">
    <p:spTree>
      <p:nvGrpSpPr>
        <p:cNvPr id="74" name="Shape 74"/>
        <p:cNvGrpSpPr/>
        <p:nvPr/>
      </p:nvGrpSpPr>
      <p:grpSpPr>
        <a:xfrm>
          <a:off x="0" y="0"/>
          <a:ext cx="0" cy="0"/>
          <a:chOff x="0" y="0"/>
          <a:chExt cx="0" cy="0"/>
        </a:xfrm>
      </p:grpSpPr>
      <p:sp>
        <p:nvSpPr>
          <p:cNvPr id="75" name="Google Shape;75;p7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7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7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7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7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5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slide" Target="/ppt/slides/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slide" Target="/ppt/slides/slide3.xml"/><Relationship Id="rId5" Type="http://schemas.openxmlformats.org/officeDocument/2006/relationships/slide" Target="/ppt/slides/slide22.xml"/><Relationship Id="rId6" Type="http://schemas.openxmlformats.org/officeDocument/2006/relationships/slide" Target="/ppt/slides/slide41.xml"/></Relationships>
</file>

<file path=ppt/slides/_rels/slide3.xml.rels><?xml version="1.0" encoding="UTF-8" standalone="yes"?><Relationships xmlns="http://schemas.openxmlformats.org/package/2006/relationships"><Relationship Id="rId20" Type="http://schemas.openxmlformats.org/officeDocument/2006/relationships/slide" Target="/ppt/slides/slide8.xml"/><Relationship Id="rId22" Type="http://schemas.openxmlformats.org/officeDocument/2006/relationships/slide" Target="/ppt/slides/slide12.xml"/><Relationship Id="rId21" Type="http://schemas.openxmlformats.org/officeDocument/2006/relationships/image" Target="../media/image10.png"/><Relationship Id="rId24" Type="http://schemas.openxmlformats.org/officeDocument/2006/relationships/slide" Target="/ppt/slides/slide20.xml"/><Relationship Id="rId23" Type="http://schemas.openxmlformats.org/officeDocument/2006/relationships/image" Target="../media/image12.png"/><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slide" Target="/ppt/slides/slide2.xml"/><Relationship Id="rId9" Type="http://schemas.openxmlformats.org/officeDocument/2006/relationships/image" Target="../media/image19.png"/><Relationship Id="rId26" Type="http://schemas.openxmlformats.org/officeDocument/2006/relationships/slide" Target="/ppt/slides/slide21.xml"/><Relationship Id="rId25" Type="http://schemas.openxmlformats.org/officeDocument/2006/relationships/image" Target="../media/image16.png"/><Relationship Id="rId27" Type="http://schemas.openxmlformats.org/officeDocument/2006/relationships/image" Target="../media/image14.png"/><Relationship Id="rId5" Type="http://schemas.openxmlformats.org/officeDocument/2006/relationships/image" Target="../media/image7.png"/><Relationship Id="rId6" Type="http://schemas.openxmlformats.org/officeDocument/2006/relationships/slide" Target="/ppt/slides/slide6.xml"/><Relationship Id="rId7" Type="http://schemas.openxmlformats.org/officeDocument/2006/relationships/image" Target="../media/image5.png"/><Relationship Id="rId8" Type="http://schemas.openxmlformats.org/officeDocument/2006/relationships/slide" Target="/ppt/slides/slide7.xml"/><Relationship Id="rId11" Type="http://schemas.openxmlformats.org/officeDocument/2006/relationships/image" Target="../media/image6.png"/><Relationship Id="rId10" Type="http://schemas.openxmlformats.org/officeDocument/2006/relationships/slide" Target="/ppt/slides/slide9.xml"/><Relationship Id="rId13" Type="http://schemas.openxmlformats.org/officeDocument/2006/relationships/image" Target="../media/image4.png"/><Relationship Id="rId12" Type="http://schemas.openxmlformats.org/officeDocument/2006/relationships/slide" Target="/ppt/slides/slide10.xml"/><Relationship Id="rId15" Type="http://schemas.openxmlformats.org/officeDocument/2006/relationships/image" Target="../media/image9.png"/><Relationship Id="rId14" Type="http://schemas.openxmlformats.org/officeDocument/2006/relationships/slide" Target="/ppt/slides/slide13.xml"/><Relationship Id="rId17" Type="http://schemas.openxmlformats.org/officeDocument/2006/relationships/image" Target="../media/image1.png"/><Relationship Id="rId16" Type="http://schemas.openxmlformats.org/officeDocument/2006/relationships/slide" Target="/ppt/slides/slide16.xml"/><Relationship Id="rId19" Type="http://schemas.openxmlformats.org/officeDocument/2006/relationships/image" Target="../media/image27.png"/><Relationship Id="rId18" Type="http://schemas.openxmlformats.org/officeDocument/2006/relationships/slide" Target="/ppt/slid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slide" Target="/ppt/slides/slide3.xml"/><Relationship Id="rId5" Type="http://schemas.openxmlformats.org/officeDocument/2006/relationships/image" Target="../media/image7.png"/><Relationship Id="rId6" Type="http://schemas.openxmlformats.org/officeDocument/2006/relationships/slide" Target="/ppt/slides/slide5.xml"/><Relationship Id="rId7"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slide" Target="/ppt/slides/slide3.xml"/><Relationship Id="rId5" Type="http://schemas.openxmlformats.org/officeDocument/2006/relationships/image" Target="../media/image7.png"/><Relationship Id="rId6" Type="http://schemas.openxmlformats.org/officeDocument/2006/relationships/slide" Target="/ppt/slides/slide4.xml"/><Relationship Id="rId7"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slide" Target="/ppt/slides/slide3.xml"/><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slide" Target="/ppt/slides/slide3.xml"/><Relationship Id="rId5"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slide" Target="/ppt/slides/slide3.xml"/><Relationship Id="rId5"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slide" Target="/ppt/slides/slide3.xml"/><Relationship Id="rId5"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slide" Target="/ppt/slides/slide3.xml"/><Relationship Id="rId5" Type="http://schemas.openxmlformats.org/officeDocument/2006/relationships/image" Target="../media/image7.png"/><Relationship Id="rId6" Type="http://schemas.openxmlformats.org/officeDocument/2006/relationships/slide" Target="/ppt/slides/slide11.xml"/><Relationship Id="rId7"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slide" Target="/ppt/slides/slide3.xml"/><Relationship Id="rId5" Type="http://schemas.openxmlformats.org/officeDocument/2006/relationships/image" Target="../media/image7.png"/><Relationship Id="rId6" Type="http://schemas.openxmlformats.org/officeDocument/2006/relationships/slide" Target="/ppt/slides/slide10.xml"/><Relationship Id="rId7"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slide" Target="/ppt/slides/slide3.xml"/><Relationship Id="rId5"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29.png"/><Relationship Id="rId9" Type="http://schemas.openxmlformats.org/officeDocument/2006/relationships/slide" Target="/ppt/slides/slide15.xml"/><Relationship Id="rId5" Type="http://schemas.openxmlformats.org/officeDocument/2006/relationships/image" Target="../media/image44.png"/><Relationship Id="rId6" Type="http://schemas.openxmlformats.org/officeDocument/2006/relationships/slide" Target="/ppt/slides/slide3.xml"/><Relationship Id="rId7" Type="http://schemas.openxmlformats.org/officeDocument/2006/relationships/image" Target="../media/image7.png"/><Relationship Id="rId8" Type="http://schemas.openxmlformats.org/officeDocument/2006/relationships/slide" Target="/ppt/slid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slide" Target="/ppt/slides/slide3.xml"/><Relationship Id="rId5" Type="http://schemas.openxmlformats.org/officeDocument/2006/relationships/image" Target="../media/image7.png"/><Relationship Id="rId6" Type="http://schemas.openxmlformats.org/officeDocument/2006/relationships/slide" Target="/ppt/slides/slide15.xml"/><Relationship Id="rId7" Type="http://schemas.openxmlformats.org/officeDocument/2006/relationships/image" Target="../media/image3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slide" Target="/ppt/slides/slide13.xml"/><Relationship Id="rId5" Type="http://schemas.openxmlformats.org/officeDocument/2006/relationships/slide" Target="/ppt/slides/slide3.xml"/><Relationship Id="rId6" Type="http://schemas.openxmlformats.org/officeDocument/2006/relationships/image" Target="../media/image7.png"/><Relationship Id="rId7" Type="http://schemas.openxmlformats.org/officeDocument/2006/relationships/slide" Target="/ppt/slides/slide14.xml"/><Relationship Id="rId8" Type="http://schemas.openxmlformats.org/officeDocument/2006/relationships/image" Target="../media/image4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9.png"/><Relationship Id="rId4" Type="http://schemas.openxmlformats.org/officeDocument/2006/relationships/slide" Target="/ppt/slides/slide17.xml"/><Relationship Id="rId9" Type="http://schemas.openxmlformats.org/officeDocument/2006/relationships/image" Target="../media/image7.png"/><Relationship Id="rId5" Type="http://schemas.openxmlformats.org/officeDocument/2006/relationships/image" Target="../media/image46.png"/><Relationship Id="rId6" Type="http://schemas.openxmlformats.org/officeDocument/2006/relationships/slide" Target="/ppt/slides/slide19.xml"/><Relationship Id="rId7" Type="http://schemas.openxmlformats.org/officeDocument/2006/relationships/image" Target="../media/image40.png"/><Relationship Id="rId8" Type="http://schemas.openxmlformats.org/officeDocument/2006/relationships/slide" Target="/ppt/slid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5.png"/><Relationship Id="rId4" Type="http://schemas.openxmlformats.org/officeDocument/2006/relationships/slide" Target="/ppt/slides/slide3.xml"/><Relationship Id="rId9"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slide" Target="/ppt/slides/slide18.xml"/><Relationship Id="rId7" Type="http://schemas.openxmlformats.org/officeDocument/2006/relationships/image" Target="../media/image17.png"/><Relationship Id="rId8" Type="http://schemas.openxmlformats.org/officeDocument/2006/relationships/slide" Target="/ppt/slid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slide" Target="/ppt/slides/slide3.xml"/><Relationship Id="rId5" Type="http://schemas.openxmlformats.org/officeDocument/2006/relationships/image" Target="../media/image7.png"/><Relationship Id="rId6" Type="http://schemas.openxmlformats.org/officeDocument/2006/relationships/slide" Target="/ppt/slides/slide16.xml"/><Relationship Id="rId7"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5.png"/><Relationship Id="rId4" Type="http://schemas.openxmlformats.org/officeDocument/2006/relationships/slide" Target="/ppt/slides/slide3.xml"/><Relationship Id="rId9"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slide" Target="/ppt/slides/slide18.xml"/><Relationship Id="rId7" Type="http://schemas.openxmlformats.org/officeDocument/2006/relationships/image" Target="../media/image17.png"/><Relationship Id="rId8" Type="http://schemas.openxmlformats.org/officeDocument/2006/relationships/slide" Target="/ppt/slid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png"/><Relationship Id="rId4" Type="http://schemas.openxmlformats.org/officeDocument/2006/relationships/slide" Target="/ppt/slides/slide3.xml"/><Relationship Id="rId5"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5.png"/><Relationship Id="rId4" Type="http://schemas.openxmlformats.org/officeDocument/2006/relationships/slide" Target="/ppt/slides/slide3.xml"/><Relationship Id="rId5" Type="http://schemas.openxmlformats.org/officeDocument/2006/relationships/image" Target="../media/image7.png"/></Relationships>
</file>

<file path=ppt/slides/_rels/slide22.xml.rels><?xml version="1.0" encoding="UTF-8" standalone="yes"?><Relationships xmlns="http://schemas.openxmlformats.org/package/2006/relationships"><Relationship Id="rId20" Type="http://schemas.openxmlformats.org/officeDocument/2006/relationships/slide" Target="/ppt/slides/slide27.xml"/><Relationship Id="rId22" Type="http://schemas.openxmlformats.org/officeDocument/2006/relationships/slide" Target="/ppt/slides/slide39.xml"/><Relationship Id="rId21" Type="http://schemas.openxmlformats.org/officeDocument/2006/relationships/image" Target="../media/image10.png"/><Relationship Id="rId24" Type="http://schemas.openxmlformats.org/officeDocument/2006/relationships/slide" Target="/ppt/slides/slide40.xml"/><Relationship Id="rId23" Type="http://schemas.openxmlformats.org/officeDocument/2006/relationships/image" Target="../media/image16.png"/><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png"/><Relationship Id="rId4" Type="http://schemas.openxmlformats.org/officeDocument/2006/relationships/slide" Target="/ppt/slides/slide2.xml"/><Relationship Id="rId9" Type="http://schemas.openxmlformats.org/officeDocument/2006/relationships/image" Target="../media/image19.png"/><Relationship Id="rId26" Type="http://schemas.openxmlformats.org/officeDocument/2006/relationships/slide" Target="/ppt/slides/slide31.xml"/><Relationship Id="rId25" Type="http://schemas.openxmlformats.org/officeDocument/2006/relationships/image" Target="../media/image14.png"/><Relationship Id="rId27" Type="http://schemas.openxmlformats.org/officeDocument/2006/relationships/image" Target="../media/image12.png"/><Relationship Id="rId5" Type="http://schemas.openxmlformats.org/officeDocument/2006/relationships/image" Target="../media/image7.png"/><Relationship Id="rId6" Type="http://schemas.openxmlformats.org/officeDocument/2006/relationships/slide" Target="/ppt/slides/slide24.xml"/><Relationship Id="rId7" Type="http://schemas.openxmlformats.org/officeDocument/2006/relationships/image" Target="../media/image5.png"/><Relationship Id="rId8" Type="http://schemas.openxmlformats.org/officeDocument/2006/relationships/slide" Target="/ppt/slides/slide25.xml"/><Relationship Id="rId11" Type="http://schemas.openxmlformats.org/officeDocument/2006/relationships/image" Target="../media/image6.png"/><Relationship Id="rId10" Type="http://schemas.openxmlformats.org/officeDocument/2006/relationships/slide" Target="/ppt/slides/slide28.xml"/><Relationship Id="rId13" Type="http://schemas.openxmlformats.org/officeDocument/2006/relationships/image" Target="../media/image4.png"/><Relationship Id="rId12" Type="http://schemas.openxmlformats.org/officeDocument/2006/relationships/slide" Target="/ppt/slides/slide29.xml"/><Relationship Id="rId15" Type="http://schemas.openxmlformats.org/officeDocument/2006/relationships/image" Target="../media/image9.png"/><Relationship Id="rId14" Type="http://schemas.openxmlformats.org/officeDocument/2006/relationships/slide" Target="/ppt/slides/slide32.xml"/><Relationship Id="rId17" Type="http://schemas.openxmlformats.org/officeDocument/2006/relationships/image" Target="../media/image1.png"/><Relationship Id="rId16" Type="http://schemas.openxmlformats.org/officeDocument/2006/relationships/slide" Target="/ppt/slides/slide35.xml"/><Relationship Id="rId19" Type="http://schemas.openxmlformats.org/officeDocument/2006/relationships/image" Target="../media/image27.png"/><Relationship Id="rId18" Type="http://schemas.openxmlformats.org/officeDocument/2006/relationships/slide" Target="/ppt/slides/slide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5.png"/><Relationship Id="rId4" Type="http://schemas.openxmlformats.org/officeDocument/2006/relationships/slide" Target="/ppt/slides/slide22.xml"/><Relationship Id="rId5"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5.png"/><Relationship Id="rId4" Type="http://schemas.openxmlformats.org/officeDocument/2006/relationships/slide" Target="/ppt/slides/slide22.xml"/><Relationship Id="rId5"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9.png"/><Relationship Id="rId4" Type="http://schemas.openxmlformats.org/officeDocument/2006/relationships/slide" Target="/ppt/slides/slide26.xml"/><Relationship Id="rId9" Type="http://schemas.openxmlformats.org/officeDocument/2006/relationships/image" Target="../media/image7.png"/><Relationship Id="rId5" Type="http://schemas.openxmlformats.org/officeDocument/2006/relationships/image" Target="../media/image47.png"/><Relationship Id="rId6" Type="http://schemas.openxmlformats.org/officeDocument/2006/relationships/slide" Target="/ppt/slides/slide22.xml"/><Relationship Id="rId7" Type="http://schemas.openxmlformats.org/officeDocument/2006/relationships/image" Target="../media/image40.png"/><Relationship Id="rId8" Type="http://schemas.openxmlformats.org/officeDocument/2006/relationships/slide" Target="/ppt/slid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5.png"/><Relationship Id="rId4" Type="http://schemas.openxmlformats.org/officeDocument/2006/relationships/slide" Target="/ppt/slides/slide22.xml"/><Relationship Id="rId5" Type="http://schemas.openxmlformats.org/officeDocument/2006/relationships/image" Target="../media/image7.png"/><Relationship Id="rId6" Type="http://schemas.openxmlformats.org/officeDocument/2006/relationships/slide" Target="/ppt/slides/slide25.xml"/><Relationship Id="rId7"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5.png"/><Relationship Id="rId4" Type="http://schemas.openxmlformats.org/officeDocument/2006/relationships/slide" Target="/ppt/slides/slide22.xml"/><Relationship Id="rId5"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5.png"/><Relationship Id="rId4" Type="http://schemas.openxmlformats.org/officeDocument/2006/relationships/slide" Target="/ppt/slides/slide22.xml"/><Relationship Id="rId5"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5.png"/><Relationship Id="rId4" Type="http://schemas.openxmlformats.org/officeDocument/2006/relationships/slide" Target="/ppt/slides/slide22.xml"/><Relationship Id="rId5" Type="http://schemas.openxmlformats.org/officeDocument/2006/relationships/image" Target="../media/image7.png"/><Relationship Id="rId6" Type="http://schemas.openxmlformats.org/officeDocument/2006/relationships/slide" Target="/ppt/slides/slide30.xml"/><Relationship Id="rId7"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5.png"/><Relationship Id="rId4" Type="http://schemas.openxmlformats.org/officeDocument/2006/relationships/slide" Target="/ppt/slides/slide22.xml"/><Relationship Id="rId5" Type="http://schemas.openxmlformats.org/officeDocument/2006/relationships/image" Target="../media/image7.png"/><Relationship Id="rId6" Type="http://schemas.openxmlformats.org/officeDocument/2006/relationships/slide" Target="/ppt/slides/slide29.xml"/><Relationship Id="rId7"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5.png"/><Relationship Id="rId4" Type="http://schemas.openxmlformats.org/officeDocument/2006/relationships/slide" Target="/ppt/slides/slide22.xml"/><Relationship Id="rId5"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5.png"/><Relationship Id="rId4" Type="http://schemas.openxmlformats.org/officeDocument/2006/relationships/image" Target="../media/image29.png"/><Relationship Id="rId9" Type="http://schemas.openxmlformats.org/officeDocument/2006/relationships/image" Target="../media/image7.png"/><Relationship Id="rId5" Type="http://schemas.openxmlformats.org/officeDocument/2006/relationships/image" Target="../media/image44.png"/><Relationship Id="rId6" Type="http://schemas.openxmlformats.org/officeDocument/2006/relationships/slide" Target="/ppt/slides/slide33.xml"/><Relationship Id="rId7" Type="http://schemas.openxmlformats.org/officeDocument/2006/relationships/slide" Target="/ppt/slides/slide34.xml"/><Relationship Id="rId8" Type="http://schemas.openxmlformats.org/officeDocument/2006/relationships/slide" Target="/ppt/slid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5.png"/><Relationship Id="rId4" Type="http://schemas.openxmlformats.org/officeDocument/2006/relationships/slide" Target="/ppt/slides/slide22.xml"/><Relationship Id="rId5" Type="http://schemas.openxmlformats.org/officeDocument/2006/relationships/image" Target="../media/image7.png"/><Relationship Id="rId6" Type="http://schemas.openxmlformats.org/officeDocument/2006/relationships/slide" Target="/ppt/slides/slide34.xml"/><Relationship Id="rId7" Type="http://schemas.openxmlformats.org/officeDocument/2006/relationships/image" Target="../media/image3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5.png"/><Relationship Id="rId4" Type="http://schemas.openxmlformats.org/officeDocument/2006/relationships/slide" Target="/ppt/slides/slide32.xml"/><Relationship Id="rId5" Type="http://schemas.openxmlformats.org/officeDocument/2006/relationships/slide" Target="/ppt/slides/slide22.xml"/><Relationship Id="rId6" Type="http://schemas.openxmlformats.org/officeDocument/2006/relationships/image" Target="../media/image7.png"/><Relationship Id="rId7" Type="http://schemas.openxmlformats.org/officeDocument/2006/relationships/slide" Target="/ppt/slides/slide33.xml"/><Relationship Id="rId8" Type="http://schemas.openxmlformats.org/officeDocument/2006/relationships/image" Target="../media/image4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9.png"/><Relationship Id="rId4" Type="http://schemas.openxmlformats.org/officeDocument/2006/relationships/slide" Target="/ppt/slides/slide3.xml"/><Relationship Id="rId9" Type="http://schemas.openxmlformats.org/officeDocument/2006/relationships/image" Target="../media/image40.png"/><Relationship Id="rId5" Type="http://schemas.openxmlformats.org/officeDocument/2006/relationships/image" Target="../media/image7.png"/><Relationship Id="rId6" Type="http://schemas.openxmlformats.org/officeDocument/2006/relationships/slide" Target="/ppt/slides/slide36.xml"/><Relationship Id="rId7" Type="http://schemas.openxmlformats.org/officeDocument/2006/relationships/image" Target="../media/image47.png"/><Relationship Id="rId8" Type="http://schemas.openxmlformats.org/officeDocument/2006/relationships/slide" Target="/ppt/slides/slide3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5.png"/><Relationship Id="rId4" Type="http://schemas.openxmlformats.org/officeDocument/2006/relationships/slide" Target="/ppt/slides/slide22.xml"/><Relationship Id="rId5" Type="http://schemas.openxmlformats.org/officeDocument/2006/relationships/image" Target="../media/image7.png"/><Relationship Id="rId6" Type="http://schemas.openxmlformats.org/officeDocument/2006/relationships/slide" Target="/ppt/slides/slide37.xml"/><Relationship Id="rId7"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5.png"/><Relationship Id="rId4" Type="http://schemas.openxmlformats.org/officeDocument/2006/relationships/slide" Target="/ppt/slides/slide22.xml"/><Relationship Id="rId5" Type="http://schemas.openxmlformats.org/officeDocument/2006/relationships/image" Target="../media/image7.png"/><Relationship Id="rId6" Type="http://schemas.openxmlformats.org/officeDocument/2006/relationships/slide" Target="/ppt/slides/slide36.xml"/><Relationship Id="rId7"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5.png"/><Relationship Id="rId4" Type="http://schemas.openxmlformats.org/officeDocument/2006/relationships/slide" Target="/ppt/slides/slide22.xml"/><Relationship Id="rId9" Type="http://schemas.openxmlformats.org/officeDocument/2006/relationships/image" Target="../media/image17.png"/><Relationship Id="rId5" Type="http://schemas.openxmlformats.org/officeDocument/2006/relationships/image" Target="../media/image7.png"/><Relationship Id="rId6" Type="http://schemas.openxmlformats.org/officeDocument/2006/relationships/slide" Target="/ppt/slides/slide35.xml"/><Relationship Id="rId7" Type="http://schemas.openxmlformats.org/officeDocument/2006/relationships/image" Target="../media/image11.png"/><Relationship Id="rId8" Type="http://schemas.openxmlformats.org/officeDocument/2006/relationships/slide" Target="/ppt/slid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5.png"/><Relationship Id="rId4" Type="http://schemas.openxmlformats.org/officeDocument/2006/relationships/slide" Target="/ppt/slides/slide22.xml"/><Relationship Id="rId5" Type="http://schemas.openxmlformats.org/officeDocument/2006/relationships/image" Target="../media/image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5.png"/><Relationship Id="rId4" Type="http://schemas.openxmlformats.org/officeDocument/2006/relationships/slide" Target="/ppt/slides/slide22.xml"/><Relationship Id="rId5" Type="http://schemas.openxmlformats.org/officeDocument/2006/relationships/image" Target="../media/image7.png"/></Relationships>
</file>

<file path=ppt/slides/_rels/slide41.xml.rels><?xml version="1.0" encoding="UTF-8" standalone="yes"?><Relationships xmlns="http://schemas.openxmlformats.org/package/2006/relationships"><Relationship Id="rId20" Type="http://schemas.openxmlformats.org/officeDocument/2006/relationships/image" Target="../media/image19.png"/><Relationship Id="rId22" Type="http://schemas.openxmlformats.org/officeDocument/2006/relationships/image" Target="../media/image6.png"/><Relationship Id="rId21" Type="http://schemas.openxmlformats.org/officeDocument/2006/relationships/slide" Target="/ppt/slides/slide46.xml"/><Relationship Id="rId24" Type="http://schemas.openxmlformats.org/officeDocument/2006/relationships/image" Target="../media/image4.png"/><Relationship Id="rId23" Type="http://schemas.openxmlformats.org/officeDocument/2006/relationships/slide" Target="/ppt/slides/slide47.xml"/><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3.png"/><Relationship Id="rId4" Type="http://schemas.openxmlformats.org/officeDocument/2006/relationships/slide" Target="/ppt/slides/slide42.xml"/><Relationship Id="rId9" Type="http://schemas.openxmlformats.org/officeDocument/2006/relationships/slide" Target="/ppt/slides/slide47.xml"/><Relationship Id="rId26" Type="http://schemas.openxmlformats.org/officeDocument/2006/relationships/image" Target="../media/image9.png"/><Relationship Id="rId25" Type="http://schemas.openxmlformats.org/officeDocument/2006/relationships/slide" Target="/ppt/slides/slide50.xml"/><Relationship Id="rId28" Type="http://schemas.openxmlformats.org/officeDocument/2006/relationships/image" Target="../media/image1.png"/><Relationship Id="rId27" Type="http://schemas.openxmlformats.org/officeDocument/2006/relationships/slide" Target="/ppt/slides/slide54.xml"/><Relationship Id="rId5" Type="http://schemas.openxmlformats.org/officeDocument/2006/relationships/slide" Target="/ppt/slides/slide43.xml"/><Relationship Id="rId6" Type="http://schemas.openxmlformats.org/officeDocument/2006/relationships/slide" Target="/ppt/slides/slide44.xml"/><Relationship Id="rId29" Type="http://schemas.openxmlformats.org/officeDocument/2006/relationships/slide" Target="/ppt/slides/slide42.xml"/><Relationship Id="rId7" Type="http://schemas.openxmlformats.org/officeDocument/2006/relationships/slide" Target="/ppt/slides/slide45.xml"/><Relationship Id="rId8" Type="http://schemas.openxmlformats.org/officeDocument/2006/relationships/slide" Target="/ppt/slides/slide46.xml"/><Relationship Id="rId31" Type="http://schemas.openxmlformats.org/officeDocument/2006/relationships/slide" Target="/ppt/slides/slide45.xml"/><Relationship Id="rId30" Type="http://schemas.openxmlformats.org/officeDocument/2006/relationships/image" Target="../media/image27.png"/><Relationship Id="rId11" Type="http://schemas.openxmlformats.org/officeDocument/2006/relationships/slide" Target="/ppt/slides/slide50.xml"/><Relationship Id="rId33" Type="http://schemas.openxmlformats.org/officeDocument/2006/relationships/slide" Target="/ppt/slides/slide57.xml"/><Relationship Id="rId10" Type="http://schemas.openxmlformats.org/officeDocument/2006/relationships/slide" Target="/ppt/slides/slide49.xml"/><Relationship Id="rId32" Type="http://schemas.openxmlformats.org/officeDocument/2006/relationships/image" Target="../media/image10.png"/><Relationship Id="rId13" Type="http://schemas.openxmlformats.org/officeDocument/2006/relationships/slide" Target="/ppt/slides/slide57.xml"/><Relationship Id="rId35" Type="http://schemas.openxmlformats.org/officeDocument/2006/relationships/slide" Target="/ppt/slides/slide58.xml"/><Relationship Id="rId12" Type="http://schemas.openxmlformats.org/officeDocument/2006/relationships/slide" Target="/ppt/slides/slide54.xml"/><Relationship Id="rId34" Type="http://schemas.openxmlformats.org/officeDocument/2006/relationships/image" Target="../media/image16.png"/><Relationship Id="rId15" Type="http://schemas.openxmlformats.org/officeDocument/2006/relationships/slide" Target="/ppt/slides/slide2.xml"/><Relationship Id="rId37" Type="http://schemas.openxmlformats.org/officeDocument/2006/relationships/slide" Target="/ppt/slides/slide49.xml"/><Relationship Id="rId14" Type="http://schemas.openxmlformats.org/officeDocument/2006/relationships/slide" Target="/ppt/slides/slide58.xml"/><Relationship Id="rId36" Type="http://schemas.openxmlformats.org/officeDocument/2006/relationships/image" Target="../media/image14.png"/><Relationship Id="rId17" Type="http://schemas.openxmlformats.org/officeDocument/2006/relationships/slide" Target="/ppt/slides/slide43.xml"/><Relationship Id="rId16" Type="http://schemas.openxmlformats.org/officeDocument/2006/relationships/image" Target="../media/image7.png"/><Relationship Id="rId38" Type="http://schemas.openxmlformats.org/officeDocument/2006/relationships/image" Target="../media/image12.png"/><Relationship Id="rId19" Type="http://schemas.openxmlformats.org/officeDocument/2006/relationships/slide" Target="/ppt/slides/slide44.xml"/><Relationship Id="rId18" Type="http://schemas.openxmlformats.org/officeDocument/2006/relationships/image" Target="../media/image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5.png"/><Relationship Id="rId4" Type="http://schemas.openxmlformats.org/officeDocument/2006/relationships/slide" Target="/ppt/slides/slide41.xml"/><Relationship Id="rId5" Type="http://schemas.openxmlformats.org/officeDocument/2006/relationships/image" Target="../media/image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5.png"/><Relationship Id="rId4" Type="http://schemas.openxmlformats.org/officeDocument/2006/relationships/slide" Target="/ppt/slides/slide41.xml"/><Relationship Id="rId5" Type="http://schemas.openxmlformats.org/officeDocument/2006/relationships/image" Target="../media/image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5.png"/><Relationship Id="rId4" Type="http://schemas.openxmlformats.org/officeDocument/2006/relationships/slide" Target="/ppt/slides/slide41.xml"/><Relationship Id="rId5" Type="http://schemas.openxmlformats.org/officeDocument/2006/relationships/image" Target="../media/image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15.png"/><Relationship Id="rId4" Type="http://schemas.openxmlformats.org/officeDocument/2006/relationships/slide" Target="/ppt/slides/slide41.xml"/><Relationship Id="rId5" Type="http://schemas.openxmlformats.org/officeDocument/2006/relationships/image" Target="../media/image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5.png"/><Relationship Id="rId4" Type="http://schemas.openxmlformats.org/officeDocument/2006/relationships/slide" Target="/ppt/slides/slide41.xml"/><Relationship Id="rId5" Type="http://schemas.openxmlformats.org/officeDocument/2006/relationships/image" Target="../media/image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5.png"/><Relationship Id="rId4" Type="http://schemas.openxmlformats.org/officeDocument/2006/relationships/slide" Target="/ppt/slides/slide41.xml"/><Relationship Id="rId5" Type="http://schemas.openxmlformats.org/officeDocument/2006/relationships/image" Target="../media/image7.png"/><Relationship Id="rId6" Type="http://schemas.openxmlformats.org/officeDocument/2006/relationships/slide" Target="/ppt/slides/slide48.xml"/><Relationship Id="rId7" Type="http://schemas.openxmlformats.org/officeDocument/2006/relationships/image" Target="../media/image1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15.png"/><Relationship Id="rId4" Type="http://schemas.openxmlformats.org/officeDocument/2006/relationships/slide" Target="/ppt/slides/slide41.xml"/><Relationship Id="rId5" Type="http://schemas.openxmlformats.org/officeDocument/2006/relationships/image" Target="../media/image7.png"/><Relationship Id="rId6" Type="http://schemas.openxmlformats.org/officeDocument/2006/relationships/slide" Target="/ppt/slides/slide47.xml"/><Relationship Id="rId7" Type="http://schemas.openxmlformats.org/officeDocument/2006/relationships/image" Target="../media/image1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5.png"/><Relationship Id="rId4" Type="http://schemas.openxmlformats.org/officeDocument/2006/relationships/slide" Target="/ppt/slides/slide41.xml"/><Relationship Id="rId5" Type="http://schemas.openxmlformats.org/officeDocument/2006/relationships/image" Target="../media/image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15.png"/><Relationship Id="rId4" Type="http://schemas.openxmlformats.org/officeDocument/2006/relationships/image" Target="../media/image29.png"/><Relationship Id="rId9" Type="http://schemas.openxmlformats.org/officeDocument/2006/relationships/image" Target="../media/image7.png"/><Relationship Id="rId5" Type="http://schemas.openxmlformats.org/officeDocument/2006/relationships/image" Target="../media/image44.png"/><Relationship Id="rId6" Type="http://schemas.openxmlformats.org/officeDocument/2006/relationships/slide" Target="/ppt/slides/slide51.xml"/><Relationship Id="rId7" Type="http://schemas.openxmlformats.org/officeDocument/2006/relationships/slide" Target="/ppt/slides/slide52.xml"/><Relationship Id="rId8" Type="http://schemas.openxmlformats.org/officeDocument/2006/relationships/slide" Target="/ppt/slides/slide4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15.png"/><Relationship Id="rId4" Type="http://schemas.openxmlformats.org/officeDocument/2006/relationships/slide" Target="/ppt/slides/slide41.xml"/><Relationship Id="rId5" Type="http://schemas.openxmlformats.org/officeDocument/2006/relationships/image" Target="../media/image7.png"/><Relationship Id="rId6" Type="http://schemas.openxmlformats.org/officeDocument/2006/relationships/slide" Target="/ppt/slides/slide52.xml"/><Relationship Id="rId7" Type="http://schemas.openxmlformats.org/officeDocument/2006/relationships/image" Target="../media/image3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50.png"/><Relationship Id="rId4" Type="http://schemas.openxmlformats.org/officeDocument/2006/relationships/slide" Target="/ppt/slides/slide50.xml"/><Relationship Id="rId9" Type="http://schemas.openxmlformats.org/officeDocument/2006/relationships/slide" Target="/ppt/slides/slide53.xml"/><Relationship Id="rId5" Type="http://schemas.openxmlformats.org/officeDocument/2006/relationships/slide" Target="/ppt/slides/slide41.xml"/><Relationship Id="rId6" Type="http://schemas.openxmlformats.org/officeDocument/2006/relationships/image" Target="../media/image7.png"/><Relationship Id="rId7" Type="http://schemas.openxmlformats.org/officeDocument/2006/relationships/slide" Target="/ppt/slides/slide51.xml"/><Relationship Id="rId8" Type="http://schemas.openxmlformats.org/officeDocument/2006/relationships/image" Target="../media/image43.png"/><Relationship Id="rId10" Type="http://schemas.openxmlformats.org/officeDocument/2006/relationships/image" Target="../media/image1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15.png"/><Relationship Id="rId4" Type="http://schemas.openxmlformats.org/officeDocument/2006/relationships/slide" Target="/ppt/slides/slide41.xml"/><Relationship Id="rId5" Type="http://schemas.openxmlformats.org/officeDocument/2006/relationships/image" Target="../media/image7.png"/><Relationship Id="rId6" Type="http://schemas.openxmlformats.org/officeDocument/2006/relationships/slide" Target="/ppt/slides/slide52.xml"/><Relationship Id="rId7" Type="http://schemas.openxmlformats.org/officeDocument/2006/relationships/image" Target="../media/image1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39.png"/><Relationship Id="rId4" Type="http://schemas.openxmlformats.org/officeDocument/2006/relationships/slide" Target="/ppt/slides/slide3.xml"/><Relationship Id="rId9" Type="http://schemas.openxmlformats.org/officeDocument/2006/relationships/image" Target="../media/image40.png"/><Relationship Id="rId5" Type="http://schemas.openxmlformats.org/officeDocument/2006/relationships/image" Target="../media/image7.png"/><Relationship Id="rId6" Type="http://schemas.openxmlformats.org/officeDocument/2006/relationships/slide" Target="/ppt/slides/slide55.xml"/><Relationship Id="rId7" Type="http://schemas.openxmlformats.org/officeDocument/2006/relationships/image" Target="../media/image47.png"/><Relationship Id="rId8" Type="http://schemas.openxmlformats.org/officeDocument/2006/relationships/slide" Target="/ppt/slides/slide4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15.png"/><Relationship Id="rId4" Type="http://schemas.openxmlformats.org/officeDocument/2006/relationships/slide" Target="/ppt/slides/slide41.xml"/><Relationship Id="rId5" Type="http://schemas.openxmlformats.org/officeDocument/2006/relationships/image" Target="../media/image7.png"/><Relationship Id="rId6" Type="http://schemas.openxmlformats.org/officeDocument/2006/relationships/slide" Target="/ppt/slides/slide56.xml"/><Relationship Id="rId7" Type="http://schemas.openxmlformats.org/officeDocument/2006/relationships/image" Target="../media/image1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15.png"/><Relationship Id="rId4" Type="http://schemas.openxmlformats.org/officeDocument/2006/relationships/slide" Target="/ppt/slides/slide41.xml"/><Relationship Id="rId5" Type="http://schemas.openxmlformats.org/officeDocument/2006/relationships/image" Target="../media/image7.png"/><Relationship Id="rId6" Type="http://schemas.openxmlformats.org/officeDocument/2006/relationships/slide" Target="/ppt/slides/slide55.xml"/><Relationship Id="rId7" Type="http://schemas.openxmlformats.org/officeDocument/2006/relationships/image" Target="../media/image1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15.png"/><Relationship Id="rId4" Type="http://schemas.openxmlformats.org/officeDocument/2006/relationships/slide" Target="/ppt/slides/slide41.xml"/><Relationship Id="rId5" Type="http://schemas.openxmlformats.org/officeDocument/2006/relationships/image" Target="../media/image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15.png"/><Relationship Id="rId4" Type="http://schemas.openxmlformats.org/officeDocument/2006/relationships/slide" Target="/ppt/slides/slide41.xml"/><Relationship Id="rId5"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gradFill>
          <a:gsLst>
            <a:gs pos="0">
              <a:srgbClr val="AA8862"/>
            </a:gs>
            <a:gs pos="58999">
              <a:srgbClr val="BAA996"/>
            </a:gs>
            <a:gs pos="75000">
              <a:srgbClr val="C2B9B0"/>
            </a:gs>
            <a:gs pos="100000">
              <a:srgbClr val="C9C9C9"/>
            </a:gs>
          </a:gsLst>
          <a:lin ang="16200000" scaled="0"/>
        </a:gradFill>
      </p:bgPr>
    </p:bg>
    <p:spTree>
      <p:nvGrpSpPr>
        <p:cNvPr id="83" name="Shape 83"/>
        <p:cNvGrpSpPr/>
        <p:nvPr/>
      </p:nvGrpSpPr>
      <p:grpSpPr>
        <a:xfrm>
          <a:off x="0" y="0"/>
          <a:ext cx="0" cy="0"/>
          <a:chOff x="0" y="0"/>
          <a:chExt cx="0" cy="0"/>
        </a:xfrm>
      </p:grpSpPr>
      <p:sp>
        <p:nvSpPr>
          <p:cNvPr id="84" name="Google Shape;84;p1"/>
          <p:cNvSpPr txBox="1"/>
          <p:nvPr/>
        </p:nvSpPr>
        <p:spPr>
          <a:xfrm>
            <a:off x="1617785" y="526099"/>
            <a:ext cx="8595360" cy="1355106"/>
          </a:xfrm>
          <a:prstGeom prst="rect">
            <a:avLst/>
          </a:prstGeom>
          <a:noFill/>
          <a:ln>
            <a:noFill/>
          </a:ln>
        </p:spPr>
        <p:txBody>
          <a:bodyPr anchorCtr="0" anchor="b" bIns="45700" lIns="91425" spcFirstLastPara="1" rIns="91425" wrap="square" tIns="45700">
            <a:normAutofit fontScale="25000" lnSpcReduction="20000"/>
          </a:bodyPr>
          <a:lstStyle/>
          <a:p>
            <a:pPr indent="0" lvl="0" marL="0" marR="0" rtl="0" algn="ctr">
              <a:lnSpc>
                <a:spcPct val="120000"/>
              </a:lnSpc>
              <a:spcBef>
                <a:spcPts val="0"/>
              </a:spcBef>
              <a:spcAft>
                <a:spcPts val="0"/>
              </a:spcAft>
              <a:buClr>
                <a:srgbClr val="000000"/>
              </a:buClr>
              <a:buSzPct val="100000"/>
              <a:buFont typeface="Microsoft JhengHei"/>
              <a:buNone/>
            </a:pPr>
            <a:r>
              <a:rPr b="1" i="0" lang="zh-TW" sz="8500" u="none" cap="none" strike="noStrike">
                <a:solidFill>
                  <a:srgbClr val="000000"/>
                </a:solidFill>
                <a:latin typeface="Microsoft JhengHei"/>
                <a:ea typeface="Microsoft JhengHei"/>
                <a:cs typeface="Microsoft JhengHei"/>
                <a:sym typeface="Microsoft JhengHei"/>
              </a:rPr>
              <a:t>永續智慧城市之指揮與監控中心設計</a:t>
            </a:r>
            <a:endParaRPr b="1" i="0" sz="8500" u="none" cap="none" strike="noStrike">
              <a:solidFill>
                <a:srgbClr val="000000"/>
              </a:solidFill>
              <a:latin typeface="Microsoft JhengHei"/>
              <a:ea typeface="Microsoft JhengHei"/>
              <a:cs typeface="Microsoft JhengHei"/>
              <a:sym typeface="Microsoft JhengHei"/>
            </a:endParaRPr>
          </a:p>
          <a:p>
            <a:pPr indent="0" lvl="0" marL="0" marR="0" rtl="0" algn="ctr">
              <a:lnSpc>
                <a:spcPct val="100000"/>
              </a:lnSpc>
              <a:spcBef>
                <a:spcPts val="0"/>
              </a:spcBef>
              <a:spcAft>
                <a:spcPts val="0"/>
              </a:spcAft>
              <a:buClr>
                <a:srgbClr val="8296B0"/>
              </a:buClr>
              <a:buSzPct val="100000"/>
              <a:buFont typeface="Calibri"/>
              <a:buNone/>
            </a:pPr>
            <a:r>
              <a:t/>
            </a:r>
            <a:endParaRPr b="1" i="0" sz="5400" u="none" cap="none" strike="noStrike">
              <a:solidFill>
                <a:srgbClr val="000000"/>
              </a:solidFill>
              <a:latin typeface="Microsoft JhengHei"/>
              <a:ea typeface="Microsoft JhengHei"/>
              <a:cs typeface="Microsoft JhengHei"/>
              <a:sym typeface="Microsoft JhengHei"/>
            </a:endParaRPr>
          </a:p>
          <a:p>
            <a:pPr indent="0" lvl="0" marL="0" marR="0" rtl="0" algn="ctr">
              <a:lnSpc>
                <a:spcPct val="120000"/>
              </a:lnSpc>
              <a:spcBef>
                <a:spcPts val="0"/>
              </a:spcBef>
              <a:spcAft>
                <a:spcPts val="0"/>
              </a:spcAft>
              <a:buClr>
                <a:srgbClr val="000000"/>
              </a:buClr>
              <a:buSzPct val="100000"/>
              <a:buFont typeface="Arial Rounded"/>
              <a:buNone/>
            </a:pPr>
            <a:r>
              <a:rPr b="1" i="0" lang="zh-TW" sz="7500" u="none" cap="none" strike="noStrike">
                <a:solidFill>
                  <a:srgbClr val="000000"/>
                </a:solidFill>
                <a:latin typeface="Arial Rounded"/>
                <a:ea typeface="Arial Rounded"/>
                <a:cs typeface="Arial Rounded"/>
                <a:sym typeface="Arial Rounded"/>
              </a:rPr>
              <a:t>Integrated Command &amp; Control Center for Sustainable Smart Cities</a:t>
            </a:r>
            <a:endParaRPr b="1" i="0" sz="5300" u="none" cap="none" strike="noStrike">
              <a:solidFill>
                <a:srgbClr val="000000"/>
              </a:solidFill>
              <a:latin typeface="Arial Rounded"/>
              <a:ea typeface="Arial Rounded"/>
              <a:cs typeface="Arial Rounded"/>
              <a:sym typeface="Arial Rounded"/>
            </a:endParaRPr>
          </a:p>
        </p:txBody>
      </p:sp>
      <p:sp>
        <p:nvSpPr>
          <p:cNvPr id="85" name="Google Shape;85;p1"/>
          <p:cNvSpPr txBox="1"/>
          <p:nvPr/>
        </p:nvSpPr>
        <p:spPr>
          <a:xfrm>
            <a:off x="2128773" y="2675896"/>
            <a:ext cx="7573384" cy="1824191"/>
          </a:xfrm>
          <a:prstGeom prst="rect">
            <a:avLst/>
          </a:prstGeom>
          <a:noFill/>
          <a:ln>
            <a:noFill/>
          </a:ln>
        </p:spPr>
        <p:txBody>
          <a:bodyPr anchorCtr="0" anchor="b" bIns="45700" lIns="91425" spcFirstLastPara="1" rIns="91425" wrap="square" tIns="45700">
            <a:normAutofit fontScale="60000" lnSpcReduction="20000"/>
          </a:bodyPr>
          <a:lstStyle/>
          <a:p>
            <a:pPr indent="0" lvl="0" marL="0" marR="0" rtl="0" algn="ctr">
              <a:lnSpc>
                <a:spcPct val="120000"/>
              </a:lnSpc>
              <a:spcBef>
                <a:spcPts val="0"/>
              </a:spcBef>
              <a:spcAft>
                <a:spcPts val="0"/>
              </a:spcAft>
              <a:buClr>
                <a:srgbClr val="000000"/>
              </a:buClr>
              <a:buSzPct val="100000"/>
              <a:buFont typeface="Microsoft JhengHei"/>
              <a:buNone/>
            </a:pPr>
            <a:r>
              <a:rPr b="1" i="0" lang="zh-TW" sz="7600" u="none" cap="none" strike="noStrike">
                <a:solidFill>
                  <a:srgbClr val="000000"/>
                </a:solidFill>
                <a:latin typeface="Microsoft JhengHei"/>
                <a:ea typeface="Microsoft JhengHei"/>
                <a:cs typeface="Microsoft JhengHei"/>
                <a:sym typeface="Microsoft JhengHei"/>
              </a:rPr>
              <a:t>可信任AI團隊內部檢核機制</a:t>
            </a:r>
            <a:endParaRPr b="1" i="0" sz="7600" u="none" cap="none" strike="noStrike">
              <a:solidFill>
                <a:srgbClr val="000000"/>
              </a:solidFill>
              <a:latin typeface="Microsoft JhengHei"/>
              <a:ea typeface="Microsoft JhengHei"/>
              <a:cs typeface="Microsoft JhengHei"/>
              <a:sym typeface="Microsoft JhengHei"/>
            </a:endParaRPr>
          </a:p>
          <a:p>
            <a:pPr indent="0" lvl="0" marL="0" marR="0" rtl="0" algn="ctr">
              <a:lnSpc>
                <a:spcPct val="100000"/>
              </a:lnSpc>
              <a:spcBef>
                <a:spcPts val="0"/>
              </a:spcBef>
              <a:spcAft>
                <a:spcPts val="0"/>
              </a:spcAft>
              <a:buClr>
                <a:srgbClr val="8296B0"/>
              </a:buClr>
              <a:buSzPct val="100000"/>
              <a:buFont typeface="Calibri"/>
              <a:buNone/>
            </a:pPr>
            <a:r>
              <a:t/>
            </a:r>
            <a:endParaRPr b="1" i="0" sz="4700" u="none" cap="none" strike="noStrike">
              <a:solidFill>
                <a:srgbClr val="000000"/>
              </a:solidFill>
              <a:latin typeface="Arial Rounded"/>
              <a:ea typeface="Arial Rounded"/>
              <a:cs typeface="Arial Rounded"/>
              <a:sym typeface="Arial Rounded"/>
            </a:endParaRPr>
          </a:p>
          <a:p>
            <a:pPr indent="0" lvl="0" marL="0" marR="0" rtl="0" algn="ctr">
              <a:lnSpc>
                <a:spcPct val="100000"/>
              </a:lnSpc>
              <a:spcBef>
                <a:spcPts val="0"/>
              </a:spcBef>
              <a:spcAft>
                <a:spcPts val="0"/>
              </a:spcAft>
              <a:buClr>
                <a:srgbClr val="000000"/>
              </a:buClr>
              <a:buSzPct val="100000"/>
              <a:buFont typeface="Arial Rounded"/>
              <a:buNone/>
            </a:pPr>
            <a:r>
              <a:rPr b="1" i="0" lang="zh-TW" sz="4700" u="none" cap="none" strike="noStrike">
                <a:solidFill>
                  <a:srgbClr val="000000"/>
                </a:solidFill>
                <a:latin typeface="Arial Rounded"/>
                <a:ea typeface="Arial Rounded"/>
                <a:cs typeface="Arial Rounded"/>
                <a:sym typeface="Arial Rounded"/>
              </a:rPr>
              <a:t>Trustworthy AI Self-Evaluation Toolkits</a:t>
            </a:r>
            <a:endParaRPr b="0" i="0" sz="1400" u="none" cap="none" strike="noStrike">
              <a:solidFill>
                <a:srgbClr val="000000"/>
              </a:solidFill>
              <a:latin typeface="Arial"/>
              <a:ea typeface="Arial"/>
              <a:cs typeface="Arial"/>
              <a:sym typeface="Arial"/>
            </a:endParaRPr>
          </a:p>
        </p:txBody>
      </p:sp>
      <p:sp>
        <p:nvSpPr>
          <p:cNvPr id="86" name="Google Shape;86;p1">
            <a:hlinkClick action="ppaction://hlinksldjump" r:id="rId3"/>
          </p:cNvPr>
          <p:cNvSpPr/>
          <p:nvPr/>
        </p:nvSpPr>
        <p:spPr>
          <a:xfrm>
            <a:off x="5014128" y="5353907"/>
            <a:ext cx="1802674" cy="627017"/>
          </a:xfrm>
          <a:prstGeom prst="roundRect">
            <a:avLst>
              <a:gd fmla="val 16667" name="adj"/>
            </a:avLst>
          </a:prstGeom>
          <a:solidFill>
            <a:srgbClr val="6B59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zh-TW" sz="2800" u="none" cap="none" strike="noStrike">
                <a:solidFill>
                  <a:schemeClr val="lt1"/>
                </a:solidFill>
                <a:latin typeface="Microsoft JhengHei"/>
                <a:ea typeface="Microsoft JhengHei"/>
                <a:cs typeface="Microsoft JhengHei"/>
                <a:sym typeface="Microsoft JhengHei"/>
              </a:rPr>
              <a:t>開始</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id="91" name="Google Shape;91;p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2" name="Google Shape;92;p2">
            <a:hlinkClick action="ppaction://hlinksldjump" r:id="rId4"/>
          </p:cNvPr>
          <p:cNvSpPr/>
          <p:nvPr/>
        </p:nvSpPr>
        <p:spPr>
          <a:xfrm>
            <a:off x="4292600" y="3111500"/>
            <a:ext cx="3619500" cy="406400"/>
          </a:xfrm>
          <a:prstGeom prst="roundRect">
            <a:avLst>
              <a:gd fmla="val 16667" name="adj"/>
            </a:avLst>
          </a:prstGeom>
          <a:solidFill>
            <a:srgbClr val="E6E6E6">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3" name="Google Shape;93;p2">
            <a:hlinkClick action="ppaction://hlinksldjump" r:id="rId5"/>
          </p:cNvPr>
          <p:cNvSpPr/>
          <p:nvPr/>
        </p:nvSpPr>
        <p:spPr>
          <a:xfrm>
            <a:off x="4318000" y="3809999"/>
            <a:ext cx="3619500" cy="472751"/>
          </a:xfrm>
          <a:prstGeom prst="roundRect">
            <a:avLst>
              <a:gd fmla="val 16667" name="adj"/>
            </a:avLst>
          </a:prstGeom>
          <a:solidFill>
            <a:srgbClr val="E6E6E6">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4" name="Google Shape;94;p2">
            <a:hlinkClick action="ppaction://hlinksldjump" r:id="rId6"/>
          </p:cNvPr>
          <p:cNvSpPr/>
          <p:nvPr/>
        </p:nvSpPr>
        <p:spPr>
          <a:xfrm>
            <a:off x="4305300" y="4521200"/>
            <a:ext cx="3619500" cy="406400"/>
          </a:xfrm>
          <a:prstGeom prst="roundRect">
            <a:avLst>
              <a:gd fmla="val 16667" name="adj"/>
            </a:avLst>
          </a:prstGeom>
          <a:solidFill>
            <a:srgbClr val="E6E6E6">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3"/>
          <p:cNvPicPr preferRelativeResize="0"/>
          <p:nvPr/>
        </p:nvPicPr>
        <p:blipFill rotWithShape="1">
          <a:blip r:embed="rId3">
            <a:alphaModFix/>
          </a:blip>
          <a:srcRect b="0" l="0" r="0" t="0"/>
          <a:stretch/>
        </p:blipFill>
        <p:spPr>
          <a:xfrm>
            <a:off x="0" y="214"/>
            <a:ext cx="12192000" cy="6857571"/>
          </a:xfrm>
          <a:prstGeom prst="rect">
            <a:avLst/>
          </a:prstGeom>
          <a:noFill/>
          <a:ln>
            <a:noFill/>
          </a:ln>
        </p:spPr>
      </p:pic>
      <p:sp>
        <p:nvSpPr>
          <p:cNvPr id="100" name="Google Shape;100;p3"/>
          <p:cNvSpPr txBox="1"/>
          <p:nvPr/>
        </p:nvSpPr>
        <p:spPr>
          <a:xfrm>
            <a:off x="3926264" y="839900"/>
            <a:ext cx="4339471"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zh-TW" sz="3200" u="none" cap="none" strike="noStrike">
                <a:solidFill>
                  <a:schemeClr val="lt1"/>
                </a:solidFill>
                <a:latin typeface="Microsoft JhengHei"/>
                <a:ea typeface="Microsoft JhengHei"/>
                <a:cs typeface="Microsoft JhengHei"/>
                <a:sym typeface="Microsoft JhengHei"/>
              </a:rPr>
              <a:t>TAI指標:建模前</a:t>
            </a:r>
            <a:endParaRPr b="0" i="0" sz="1400" u="none" cap="none" strike="noStrike">
              <a:solidFill>
                <a:srgbClr val="000000"/>
              </a:solidFill>
              <a:latin typeface="Arial"/>
              <a:ea typeface="Arial"/>
              <a:cs typeface="Arial"/>
              <a:sym typeface="Arial"/>
            </a:endParaRPr>
          </a:p>
        </p:txBody>
      </p:sp>
      <p:pic>
        <p:nvPicPr>
          <p:cNvPr id="101" name="Google Shape;101;p3">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102" name="Google Shape;102;p3"/>
          <p:cNvGrpSpPr/>
          <p:nvPr/>
        </p:nvGrpSpPr>
        <p:grpSpPr>
          <a:xfrm>
            <a:off x="2108719" y="1942684"/>
            <a:ext cx="8164285" cy="4483137"/>
            <a:chOff x="2108719" y="1942684"/>
            <a:chExt cx="8164285" cy="4483137"/>
          </a:xfrm>
        </p:grpSpPr>
        <p:pic>
          <p:nvPicPr>
            <p:cNvPr id="103" name="Google Shape;103;p3">
              <a:hlinkClick action="ppaction://hlinksldjump" r:id="rId6"/>
            </p:cNvPr>
            <p:cNvPicPr preferRelativeResize="0"/>
            <p:nvPr/>
          </p:nvPicPr>
          <p:blipFill rotWithShape="1">
            <a:blip r:embed="rId7">
              <a:alphaModFix/>
            </a:blip>
            <a:srcRect b="24729" l="19269" r="12523" t="27283"/>
            <a:stretch/>
          </p:blipFill>
          <p:spPr>
            <a:xfrm>
              <a:off x="4874581" y="1946842"/>
              <a:ext cx="2491274" cy="982971"/>
            </a:xfrm>
            <a:prstGeom prst="rect">
              <a:avLst/>
            </a:prstGeom>
            <a:noFill/>
            <a:ln>
              <a:noFill/>
            </a:ln>
          </p:spPr>
        </p:pic>
        <p:pic>
          <p:nvPicPr>
            <p:cNvPr id="104" name="Google Shape;104;p3">
              <a:hlinkClick action="ppaction://hlinksldjump" r:id="rId8"/>
            </p:cNvPr>
            <p:cNvPicPr preferRelativeResize="0"/>
            <p:nvPr/>
          </p:nvPicPr>
          <p:blipFill rotWithShape="1">
            <a:blip r:embed="rId9">
              <a:alphaModFix/>
            </a:blip>
            <a:srcRect b="26542" l="18318" r="9639" t="25469"/>
            <a:stretch/>
          </p:blipFill>
          <p:spPr>
            <a:xfrm>
              <a:off x="7641771" y="1942684"/>
              <a:ext cx="2631233" cy="982972"/>
            </a:xfrm>
            <a:prstGeom prst="rect">
              <a:avLst/>
            </a:prstGeom>
            <a:noFill/>
            <a:ln>
              <a:noFill/>
            </a:ln>
          </p:spPr>
        </p:pic>
        <p:pic>
          <p:nvPicPr>
            <p:cNvPr id="105" name="Google Shape;105;p3">
              <a:hlinkClick action="ppaction://hlinksldjump" r:id="rId10"/>
            </p:cNvPr>
            <p:cNvPicPr preferRelativeResize="0"/>
            <p:nvPr/>
          </p:nvPicPr>
          <p:blipFill rotWithShape="1">
            <a:blip r:embed="rId11">
              <a:alphaModFix/>
            </a:blip>
            <a:srcRect b="25447" l="17947" r="11071" t="26567"/>
            <a:stretch/>
          </p:blipFill>
          <p:spPr>
            <a:xfrm>
              <a:off x="4851921" y="3065833"/>
              <a:ext cx="2592580" cy="982971"/>
            </a:xfrm>
            <a:prstGeom prst="rect">
              <a:avLst/>
            </a:prstGeom>
            <a:noFill/>
            <a:ln>
              <a:noFill/>
            </a:ln>
          </p:spPr>
        </p:pic>
        <p:pic>
          <p:nvPicPr>
            <p:cNvPr id="106" name="Google Shape;106;p3">
              <a:hlinkClick action="ppaction://hlinksldjump" r:id="rId12"/>
            </p:cNvPr>
            <p:cNvPicPr preferRelativeResize="0"/>
            <p:nvPr/>
          </p:nvPicPr>
          <p:blipFill rotWithShape="1">
            <a:blip r:embed="rId13">
              <a:alphaModFix/>
            </a:blip>
            <a:srcRect b="25909" l="17766" r="11672" t="26102"/>
            <a:stretch/>
          </p:blipFill>
          <p:spPr>
            <a:xfrm>
              <a:off x="7668792" y="3065833"/>
              <a:ext cx="2577190" cy="982971"/>
            </a:xfrm>
            <a:prstGeom prst="rect">
              <a:avLst/>
            </a:prstGeom>
            <a:noFill/>
            <a:ln>
              <a:noFill/>
            </a:ln>
          </p:spPr>
        </p:pic>
        <p:pic>
          <p:nvPicPr>
            <p:cNvPr id="107" name="Google Shape;107;p3">
              <a:hlinkClick action="ppaction://hlinksldjump" r:id="rId14"/>
            </p:cNvPr>
            <p:cNvPicPr preferRelativeResize="0"/>
            <p:nvPr/>
          </p:nvPicPr>
          <p:blipFill rotWithShape="1">
            <a:blip r:embed="rId15">
              <a:alphaModFix/>
            </a:blip>
            <a:srcRect b="22633" l="17346" r="11672" t="24780"/>
            <a:stretch/>
          </p:blipFill>
          <p:spPr>
            <a:xfrm>
              <a:off x="4833259" y="4176809"/>
              <a:ext cx="2592581" cy="1077165"/>
            </a:xfrm>
            <a:prstGeom prst="rect">
              <a:avLst/>
            </a:prstGeom>
            <a:noFill/>
            <a:ln>
              <a:noFill/>
            </a:ln>
          </p:spPr>
        </p:pic>
        <p:pic>
          <p:nvPicPr>
            <p:cNvPr id="108" name="Google Shape;108;p3">
              <a:hlinkClick action="ppaction://hlinksldjump" r:id="rId16"/>
            </p:cNvPr>
            <p:cNvPicPr preferRelativeResize="0"/>
            <p:nvPr/>
          </p:nvPicPr>
          <p:blipFill rotWithShape="1">
            <a:blip r:embed="rId17">
              <a:alphaModFix/>
            </a:blip>
            <a:srcRect b="23361" l="17766" r="11672" t="24054"/>
            <a:stretch/>
          </p:blipFill>
          <p:spPr>
            <a:xfrm>
              <a:off x="7668792" y="4176809"/>
              <a:ext cx="2577190" cy="1077165"/>
            </a:xfrm>
            <a:prstGeom prst="rect">
              <a:avLst/>
            </a:prstGeom>
            <a:noFill/>
            <a:ln>
              <a:noFill/>
            </a:ln>
          </p:spPr>
        </p:pic>
        <p:pic>
          <p:nvPicPr>
            <p:cNvPr id="109" name="Google Shape;109;p3">
              <a:hlinkClick action="ppaction://hlinksldjump" r:id="rId18"/>
            </p:cNvPr>
            <p:cNvPicPr preferRelativeResize="0"/>
            <p:nvPr/>
          </p:nvPicPr>
          <p:blipFill rotWithShape="1">
            <a:blip r:embed="rId19">
              <a:alphaModFix/>
            </a:blip>
            <a:srcRect b="25633" l="17984" r="11761" t="27644"/>
            <a:stretch/>
          </p:blipFill>
          <p:spPr>
            <a:xfrm>
              <a:off x="2108719" y="1972749"/>
              <a:ext cx="2565918" cy="957064"/>
            </a:xfrm>
            <a:prstGeom prst="rect">
              <a:avLst/>
            </a:prstGeom>
            <a:noFill/>
            <a:ln>
              <a:noFill/>
            </a:ln>
          </p:spPr>
        </p:pic>
        <p:pic>
          <p:nvPicPr>
            <p:cNvPr id="110" name="Google Shape;110;p3">
              <a:hlinkClick action="ppaction://hlinksldjump" r:id="rId20"/>
            </p:cNvPr>
            <p:cNvPicPr preferRelativeResize="0"/>
            <p:nvPr/>
          </p:nvPicPr>
          <p:blipFill rotWithShape="1">
            <a:blip r:embed="rId21">
              <a:alphaModFix/>
            </a:blip>
            <a:srcRect b="23209" l="17985" r="13164" t="24206"/>
            <a:stretch/>
          </p:blipFill>
          <p:spPr>
            <a:xfrm>
              <a:off x="2134344" y="3018736"/>
              <a:ext cx="2514668" cy="1077165"/>
            </a:xfrm>
            <a:prstGeom prst="rect">
              <a:avLst/>
            </a:prstGeom>
            <a:noFill/>
            <a:ln>
              <a:noFill/>
            </a:ln>
          </p:spPr>
        </p:pic>
        <p:pic>
          <p:nvPicPr>
            <p:cNvPr id="111" name="Google Shape;111;p3">
              <a:hlinkClick action="ppaction://hlinksldjump" r:id="rId22"/>
            </p:cNvPr>
            <p:cNvPicPr preferRelativeResize="0"/>
            <p:nvPr/>
          </p:nvPicPr>
          <p:blipFill rotWithShape="1">
            <a:blip r:embed="rId23">
              <a:alphaModFix/>
            </a:blip>
            <a:srcRect b="24199" l="17229" r="13108" t="23041"/>
            <a:stretch/>
          </p:blipFill>
          <p:spPr>
            <a:xfrm>
              <a:off x="2124600" y="4156439"/>
              <a:ext cx="2491274" cy="1058121"/>
            </a:xfrm>
            <a:prstGeom prst="rect">
              <a:avLst/>
            </a:prstGeom>
            <a:noFill/>
            <a:ln>
              <a:noFill/>
            </a:ln>
          </p:spPr>
        </p:pic>
        <p:pic>
          <p:nvPicPr>
            <p:cNvPr id="112" name="Google Shape;112;p3">
              <a:hlinkClick action="ppaction://hlinksldjump" r:id="rId24"/>
            </p:cNvPr>
            <p:cNvPicPr preferRelativeResize="0"/>
            <p:nvPr/>
          </p:nvPicPr>
          <p:blipFill rotWithShape="1">
            <a:blip r:embed="rId25">
              <a:alphaModFix/>
            </a:blip>
            <a:srcRect b="23040" l="18412" r="13380" t="24374"/>
            <a:stretch/>
          </p:blipFill>
          <p:spPr>
            <a:xfrm>
              <a:off x="2146041" y="5348655"/>
              <a:ext cx="2491274" cy="1077166"/>
            </a:xfrm>
            <a:prstGeom prst="rect">
              <a:avLst/>
            </a:prstGeom>
            <a:noFill/>
            <a:ln>
              <a:noFill/>
            </a:ln>
          </p:spPr>
        </p:pic>
        <p:pic>
          <p:nvPicPr>
            <p:cNvPr id="113" name="Google Shape;113;p3">
              <a:hlinkClick action="ppaction://hlinksldjump" r:id="rId26"/>
            </p:cNvPr>
            <p:cNvPicPr preferRelativeResize="0"/>
            <p:nvPr/>
          </p:nvPicPr>
          <p:blipFill rotWithShape="1">
            <a:blip r:embed="rId27">
              <a:alphaModFix/>
            </a:blip>
            <a:srcRect b="24584" l="16800" r="11518" t="24381"/>
            <a:stretch/>
          </p:blipFill>
          <p:spPr>
            <a:xfrm>
              <a:off x="4874581" y="5304740"/>
              <a:ext cx="2551259" cy="1018686"/>
            </a:xfrm>
            <a:prstGeom prst="rect">
              <a:avLst/>
            </a:prstGeom>
            <a:noFill/>
            <a:ln>
              <a:noFill/>
            </a:ln>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id="118" name="Google Shape;118;p4"/>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119" name="Google Shape;119;p4"/>
          <p:cNvGrpSpPr/>
          <p:nvPr/>
        </p:nvGrpSpPr>
        <p:grpSpPr>
          <a:xfrm>
            <a:off x="4053632" y="1374794"/>
            <a:ext cx="6604800" cy="4731600"/>
            <a:chOff x="4002832" y="1712690"/>
            <a:chExt cx="6604800" cy="4731600"/>
          </a:xfrm>
        </p:grpSpPr>
        <p:sp>
          <p:nvSpPr>
            <p:cNvPr id="120" name="Google Shape;120;p4"/>
            <p:cNvSpPr txBox="1"/>
            <p:nvPr/>
          </p:nvSpPr>
          <p:spPr>
            <a:xfrm>
              <a:off x="4002832" y="1712690"/>
              <a:ext cx="6604800" cy="4731600"/>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資料準確性: </a:t>
              </a:r>
              <a:endParaRPr b="1" i="0" sz="2000" u="none" cap="none" strike="noStrike">
                <a:solidFill>
                  <a:schemeClr val="dk1"/>
                </a:solidFill>
                <a:latin typeface="Microsoft JhengHei"/>
                <a:ea typeface="Microsoft JhengHei"/>
                <a:cs typeface="Microsoft JhengHei"/>
                <a:sym typeface="Microsoft JhengHei"/>
              </a:endParaRPr>
            </a:p>
            <a:p>
              <a:pPr indent="-342900" lvl="0" marL="342900" marR="0" rtl="0" algn="l">
                <a:lnSpc>
                  <a:spcPct val="144444"/>
                </a:lnSpc>
                <a:spcBef>
                  <a:spcPts val="0"/>
                </a:spcBef>
                <a:spcAft>
                  <a:spcPts val="0"/>
                </a:spcAft>
                <a:buClr>
                  <a:srgbClr val="000000"/>
                </a:buClr>
                <a:buSzPts val="1800"/>
                <a:buFont typeface="Calibri"/>
                <a:buAutoNum type="arabicPeriod"/>
              </a:pPr>
              <a:r>
                <a:rPr b="1" i="0" lang="zh-TW" sz="1800" u="none" cap="none" strike="noStrike">
                  <a:solidFill>
                    <a:srgbClr val="000000"/>
                  </a:solidFill>
                  <a:latin typeface="Microsoft JhengHei"/>
                  <a:ea typeface="Microsoft JhengHei"/>
                  <a:cs typeface="Microsoft JhengHei"/>
                  <a:sym typeface="Microsoft JhengHei"/>
                </a:rPr>
                <a:t>資料是否最新？</a:t>
              </a:r>
              <a:endParaRPr b="1" i="0" sz="1800" u="none" cap="none" strike="noStrike">
                <a:solidFill>
                  <a:srgbClr val="000000"/>
                </a:solidFill>
                <a:latin typeface="Microsoft JhengHei"/>
                <a:ea typeface="Microsoft JhengHei"/>
                <a:cs typeface="Microsoft JhengHei"/>
                <a:sym typeface="Microsoft JhengHei"/>
              </a:endParaRPr>
            </a:p>
            <a:p>
              <a:pPr indent="-342900" lvl="0" marL="342900" marR="0" rtl="0" algn="l">
                <a:lnSpc>
                  <a:spcPct val="144444"/>
                </a:lnSpc>
                <a:spcBef>
                  <a:spcPts val="0"/>
                </a:spcBef>
                <a:spcAft>
                  <a:spcPts val="0"/>
                </a:spcAft>
                <a:buClr>
                  <a:srgbClr val="000000"/>
                </a:buClr>
                <a:buSzPts val="1800"/>
                <a:buFont typeface="Calibri"/>
                <a:buAutoNum type="arabicPeriod"/>
              </a:pPr>
              <a:r>
                <a:rPr b="1" i="0" lang="zh-TW" sz="1800" u="none" cap="none" strike="noStrike">
                  <a:solidFill>
                    <a:srgbClr val="000000"/>
                  </a:solidFill>
                  <a:latin typeface="Microsoft JhengHei"/>
                  <a:ea typeface="Microsoft JhengHei"/>
                  <a:cs typeface="Microsoft JhengHei"/>
                  <a:sym typeface="Microsoft JhengHei"/>
                </a:rPr>
                <a:t>資料是否高品質？</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3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資料標準化:</a:t>
              </a:r>
              <a:endParaRPr b="0" i="0" sz="1400" u="none" cap="none" strike="noStrike">
                <a:solidFill>
                  <a:srgbClr val="000000"/>
                </a:solidFill>
                <a:latin typeface="Arial"/>
                <a:ea typeface="Arial"/>
                <a:cs typeface="Arial"/>
                <a:sym typeface="Arial"/>
              </a:endParaRPr>
            </a:p>
            <a:p>
              <a:pPr indent="0" lvl="0" marL="0" marR="0" rtl="0" algn="l">
                <a:lnSpc>
                  <a:spcPct val="144444"/>
                </a:lnSpc>
                <a:spcBef>
                  <a:spcPts val="0"/>
                </a:spcBef>
                <a:spcAft>
                  <a:spcPts val="0"/>
                </a:spcAft>
                <a:buClr>
                  <a:srgbClr val="000000"/>
                </a:buClr>
                <a:buSzPts val="1800"/>
                <a:buFont typeface="Arial"/>
                <a:buNone/>
              </a:pPr>
              <a:r>
                <a:rPr b="1" i="0" lang="zh-TW" sz="1800" u="none" cap="none" strike="noStrike">
                  <a:solidFill>
                    <a:srgbClr val="000000"/>
                  </a:solidFill>
                  <a:latin typeface="Microsoft JhengHei"/>
                  <a:ea typeface="Microsoft JhengHei"/>
                  <a:cs typeface="Microsoft JhengHei"/>
                  <a:sym typeface="Microsoft JhengHei"/>
                </a:rPr>
                <a:t>資料是否有標準化？</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30000"/>
                </a:lnSpc>
                <a:spcBef>
                  <a:spcPts val="0"/>
                </a:spcBef>
                <a:spcAft>
                  <a:spcPts val="0"/>
                </a:spcAft>
                <a:buClr>
                  <a:srgbClr val="000000"/>
                </a:buClr>
                <a:buSzPts val="2000"/>
                <a:buFont typeface="Arial"/>
                <a:buNone/>
              </a:pPr>
              <a:br>
                <a:rPr b="1" i="0" lang="zh-TW" sz="2000" u="none" cap="none" strike="noStrike">
                  <a:solidFill>
                    <a:schemeClr val="dk1"/>
                  </a:solidFill>
                  <a:latin typeface="Microsoft JhengHei"/>
                  <a:ea typeface="Microsoft JhengHei"/>
                  <a:cs typeface="Microsoft JhengHei"/>
                  <a:sym typeface="Microsoft JhengHei"/>
                </a:rPr>
              </a:br>
              <a:r>
                <a:rPr b="1" i="0" lang="zh-TW" sz="2000" u="none" cap="none" strike="noStrike">
                  <a:solidFill>
                    <a:srgbClr val="FF0000"/>
                  </a:solidFill>
                  <a:latin typeface="Microsoft JhengHei"/>
                  <a:ea typeface="Microsoft JhengHei"/>
                  <a:cs typeface="Microsoft JhengHei"/>
                  <a:sym typeface="Microsoft JhengHei"/>
                </a:rPr>
                <a:t>資料的完整性:</a:t>
              </a:r>
              <a:endParaRPr b="0" i="0" sz="1400" u="none" cap="none" strike="noStrike">
                <a:solidFill>
                  <a:srgbClr val="000000"/>
                </a:solidFill>
                <a:latin typeface="Arial"/>
                <a:ea typeface="Arial"/>
                <a:cs typeface="Arial"/>
                <a:sym typeface="Arial"/>
              </a:endParaRPr>
            </a:p>
            <a:p>
              <a:pPr indent="0" lvl="0" marL="0" marR="0" rtl="0" algn="l">
                <a:lnSpc>
                  <a:spcPct val="144444"/>
                </a:lnSpc>
                <a:spcBef>
                  <a:spcPts val="0"/>
                </a:spcBef>
                <a:spcAft>
                  <a:spcPts val="0"/>
                </a:spcAft>
                <a:buClr>
                  <a:srgbClr val="000000"/>
                </a:buClr>
                <a:buSzPts val="1800"/>
                <a:buFont typeface="Arial"/>
                <a:buNone/>
              </a:pPr>
              <a:r>
                <a:rPr b="1" i="0" lang="zh-TW" sz="1800" u="none" cap="none" strike="noStrike">
                  <a:solidFill>
                    <a:srgbClr val="000000"/>
                  </a:solidFill>
                  <a:latin typeface="Microsoft JhengHei"/>
                  <a:ea typeface="Microsoft JhengHei"/>
                  <a:cs typeface="Microsoft JhengHei"/>
                  <a:sym typeface="Microsoft JhengHei"/>
                </a:rPr>
                <a:t>資料是否完整？</a:t>
              </a:r>
              <a:endParaRPr b="1" i="0" sz="1800" u="none" cap="none" strike="noStrike">
                <a:solidFill>
                  <a:srgbClr val="000000"/>
                </a:solidFill>
                <a:latin typeface="Microsoft JhengHei"/>
                <a:ea typeface="Microsoft JhengHei"/>
                <a:cs typeface="Microsoft JhengHei"/>
                <a:sym typeface="Microsoft JhengHei"/>
              </a:endParaRPr>
            </a:p>
            <a:p>
              <a:pPr indent="0" lvl="0" marL="0" marR="0" rtl="0" algn="l">
                <a:lnSpc>
                  <a:spcPct val="144444"/>
                </a:lnSpc>
                <a:spcBef>
                  <a:spcPts val="0"/>
                </a:spcBef>
                <a:spcAft>
                  <a:spcPts val="0"/>
                </a:spcAft>
                <a:buClr>
                  <a:srgbClr val="000000"/>
                </a:buClr>
                <a:buSzPts val="1800"/>
                <a:buFont typeface="Arial"/>
                <a:buNone/>
              </a:pPr>
              <a:r>
                <a:rPr b="0" i="0" lang="zh-TW" sz="1800" u="none" cap="none" strike="noStrike">
                  <a:solidFill>
                    <a:srgbClr val="713613"/>
                  </a:solidFill>
                  <a:latin typeface="Microsoft JhengHei"/>
                  <a:ea typeface="Microsoft JhengHei"/>
                  <a:cs typeface="Microsoft JhengHei"/>
                  <a:sym typeface="Microsoft JhengHei"/>
                </a:rPr>
                <a:t>（指的是每筆資料必要的欄位或屬性都存在）</a:t>
              </a:r>
              <a:endParaRPr b="0" i="0" sz="1800" u="none" cap="none" strike="noStrike">
                <a:solidFill>
                  <a:srgbClr val="713613"/>
                </a:solidFill>
                <a:latin typeface="Microsoft JhengHei"/>
                <a:ea typeface="Microsoft JhengHei"/>
                <a:cs typeface="Microsoft JhengHei"/>
                <a:sym typeface="Microsoft JhengHei"/>
              </a:endParaRPr>
            </a:p>
            <a:p>
              <a:pPr indent="0" lvl="0" marL="0" marR="0" rtl="0" algn="l">
                <a:lnSpc>
                  <a:spcPct val="130000"/>
                </a:lnSpc>
                <a:spcBef>
                  <a:spcPts val="0"/>
                </a:spcBef>
                <a:spcAft>
                  <a:spcPts val="0"/>
                </a:spcAft>
                <a:buClr>
                  <a:srgbClr val="000000"/>
                </a:buClr>
                <a:buSzPts val="1800"/>
                <a:buFont typeface="Arial"/>
                <a:buNone/>
              </a:pPr>
              <a:br>
                <a:rPr b="1" i="0" lang="zh-TW" sz="1800" u="none" cap="none" strike="noStrike">
                  <a:solidFill>
                    <a:schemeClr val="dk1"/>
                  </a:solidFill>
                  <a:latin typeface="Microsoft JhengHei"/>
                  <a:ea typeface="Microsoft JhengHei"/>
                  <a:cs typeface="Microsoft JhengHei"/>
                  <a:sym typeface="Microsoft JhengHei"/>
                </a:rPr>
              </a:br>
              <a:r>
                <a:rPr b="1" i="0" lang="zh-TW" sz="2000" u="none" cap="none" strike="noStrike">
                  <a:solidFill>
                    <a:srgbClr val="FF0000"/>
                  </a:solidFill>
                  <a:latin typeface="Microsoft JhengHei"/>
                  <a:ea typeface="Microsoft JhengHei"/>
                  <a:cs typeface="Microsoft JhengHei"/>
                  <a:sym typeface="Microsoft JhengHei"/>
                </a:rPr>
                <a:t>模型準確性監控</a:t>
              </a:r>
              <a:r>
                <a:rPr b="1" i="0" lang="zh-TW" sz="2000" u="none" cap="none" strike="noStrike">
                  <a:solidFill>
                    <a:srgbClr val="000000"/>
                  </a:solidFill>
                  <a:latin typeface="Microsoft JhengHei"/>
                  <a:ea typeface="Microsoft JhengHei"/>
                  <a:cs typeface="Microsoft JhengHei"/>
                  <a:sym typeface="Microsoft JhengHei"/>
                </a:rPr>
                <a:t>:</a:t>
              </a:r>
              <a:endParaRPr b="1" i="0" sz="2000" u="none" cap="none" strike="noStrike">
                <a:solidFill>
                  <a:schemeClr val="dk1"/>
                </a:solidFill>
                <a:latin typeface="Microsoft JhengHei"/>
                <a:ea typeface="Microsoft JhengHei"/>
                <a:cs typeface="Microsoft JhengHei"/>
                <a:sym typeface="Microsoft JhengHei"/>
              </a:endParaRPr>
            </a:p>
            <a:p>
              <a:pPr indent="0" lvl="0" marL="0" marR="0" rtl="0" algn="l">
                <a:lnSpc>
                  <a:spcPct val="144444"/>
                </a:lnSpc>
                <a:spcBef>
                  <a:spcPts val="0"/>
                </a:spcBef>
                <a:spcAft>
                  <a:spcPts val="0"/>
                </a:spcAft>
                <a:buClr>
                  <a:srgbClr val="000000"/>
                </a:buClr>
                <a:buSzPts val="1800"/>
                <a:buFont typeface="Arial"/>
                <a:buNone/>
              </a:pPr>
              <a:r>
                <a:rPr b="1" i="0" lang="zh-TW" sz="1800" u="none" cap="none" strike="noStrike">
                  <a:solidFill>
                    <a:srgbClr val="000000"/>
                  </a:solidFill>
                  <a:latin typeface="Microsoft JhengHei"/>
                  <a:ea typeface="Microsoft JhengHei"/>
                  <a:cs typeface="Microsoft JhengHei"/>
                  <a:sym typeface="Microsoft JhengHei"/>
                </a:rPr>
                <a:t>是否建立監控及記錄AI模型準確性之步驟？</a:t>
              </a:r>
              <a:endParaRPr b="1" i="0" sz="1800" u="none" cap="none" strike="noStrike">
                <a:solidFill>
                  <a:schemeClr val="dk1"/>
                </a:solidFill>
                <a:latin typeface="Microsoft JhengHei"/>
                <a:ea typeface="Microsoft JhengHei"/>
                <a:cs typeface="Microsoft JhengHei"/>
                <a:sym typeface="Microsoft JhengHei"/>
              </a:endParaRPr>
            </a:p>
          </p:txBody>
        </p:sp>
        <p:grpSp>
          <p:nvGrpSpPr>
            <p:cNvPr id="121" name="Google Shape;121;p4"/>
            <p:cNvGrpSpPr/>
            <p:nvPr/>
          </p:nvGrpSpPr>
          <p:grpSpPr>
            <a:xfrm>
              <a:off x="4068147" y="2883157"/>
              <a:ext cx="6207190" cy="2304661"/>
              <a:chOff x="4068147" y="2883157"/>
              <a:chExt cx="6207190" cy="2304661"/>
            </a:xfrm>
          </p:grpSpPr>
          <p:cxnSp>
            <p:nvCxnSpPr>
              <p:cNvPr id="122" name="Google Shape;122;p4"/>
              <p:cNvCxnSpPr/>
              <p:nvPr/>
            </p:nvCxnSpPr>
            <p:spPr>
              <a:xfrm>
                <a:off x="4068147" y="2883157"/>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123" name="Google Shape;123;p4"/>
              <p:cNvCxnSpPr/>
              <p:nvPr/>
            </p:nvCxnSpPr>
            <p:spPr>
              <a:xfrm>
                <a:off x="4068147" y="3872202"/>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124" name="Google Shape;124;p4"/>
              <p:cNvCxnSpPr/>
              <p:nvPr/>
            </p:nvCxnSpPr>
            <p:spPr>
              <a:xfrm>
                <a:off x="4068147" y="5187818"/>
                <a:ext cx="6207190" cy="0"/>
              </a:xfrm>
              <a:prstGeom prst="straightConnector1">
                <a:avLst/>
              </a:prstGeom>
              <a:noFill/>
              <a:ln cap="flat" cmpd="sng" w="9525">
                <a:solidFill>
                  <a:schemeClr val="dk1"/>
                </a:solidFill>
                <a:prstDash val="solid"/>
                <a:miter lim="800000"/>
                <a:headEnd len="sm" w="sm" type="none"/>
                <a:tailEnd len="sm" w="sm" type="none"/>
              </a:ln>
            </p:spPr>
          </p:cxnSp>
        </p:grpSp>
      </p:grpSp>
      <p:pic>
        <p:nvPicPr>
          <p:cNvPr id="125" name="Google Shape;125;p4">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126" name="Google Shape;126;p4"/>
          <p:cNvGrpSpPr/>
          <p:nvPr/>
        </p:nvGrpSpPr>
        <p:grpSpPr>
          <a:xfrm>
            <a:off x="1533494" y="2839701"/>
            <a:ext cx="2674353" cy="1347631"/>
            <a:chOff x="1469994" y="3081001"/>
            <a:chExt cx="2674353" cy="1347631"/>
          </a:xfrm>
        </p:grpSpPr>
        <p:sp>
          <p:nvSpPr>
            <p:cNvPr id="127" name="Google Shape;127;p4"/>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準確性</a:t>
              </a:r>
              <a:endParaRPr b="0" i="0" sz="1400" u="none" cap="none" strike="noStrike">
                <a:solidFill>
                  <a:srgbClr val="000000"/>
                </a:solidFill>
                <a:latin typeface="Arial"/>
                <a:ea typeface="Arial"/>
                <a:cs typeface="Arial"/>
                <a:sym typeface="Arial"/>
              </a:endParaRPr>
            </a:p>
          </p:txBody>
        </p:sp>
        <p:sp>
          <p:nvSpPr>
            <p:cNvPr id="128" name="Google Shape;128;p4"/>
            <p:cNvSpPr txBox="1"/>
            <p:nvPr/>
          </p:nvSpPr>
          <p:spPr>
            <a:xfrm>
              <a:off x="1469994" y="3081001"/>
              <a:ext cx="2357887"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A4714B"/>
                  </a:solidFill>
                  <a:latin typeface="Arial"/>
                  <a:ea typeface="Arial"/>
                  <a:cs typeface="Arial"/>
                  <a:sym typeface="Arial"/>
                </a:rPr>
                <a:t>A</a:t>
              </a:r>
              <a:r>
                <a:rPr b="0" i="0" lang="zh-TW" sz="2800" u="sng" cap="none" strike="noStrike">
                  <a:solidFill>
                    <a:srgbClr val="000000"/>
                  </a:solidFill>
                  <a:latin typeface="Arial"/>
                  <a:ea typeface="Arial"/>
                  <a:cs typeface="Arial"/>
                  <a:sym typeface="Arial"/>
                </a:rPr>
                <a:t>ccuracy</a:t>
              </a:r>
              <a:endParaRPr b="0" i="0" sz="2800" u="sng" cap="none" strike="noStrike">
                <a:solidFill>
                  <a:schemeClr val="dk1"/>
                </a:solidFill>
                <a:latin typeface="Arial"/>
                <a:ea typeface="Arial"/>
                <a:cs typeface="Arial"/>
                <a:sym typeface="Arial"/>
              </a:endParaRPr>
            </a:p>
          </p:txBody>
        </p:sp>
      </p:grpSp>
      <p:grpSp>
        <p:nvGrpSpPr>
          <p:cNvPr id="129" name="Google Shape;129;p4"/>
          <p:cNvGrpSpPr/>
          <p:nvPr/>
        </p:nvGrpSpPr>
        <p:grpSpPr>
          <a:xfrm>
            <a:off x="1950098" y="682731"/>
            <a:ext cx="1453063" cy="737119"/>
            <a:chOff x="2080727" y="858416"/>
            <a:chExt cx="1453063" cy="737119"/>
          </a:xfrm>
        </p:grpSpPr>
        <p:sp>
          <p:nvSpPr>
            <p:cNvPr id="130" name="Google Shape;130;p4"/>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建模前</a:t>
              </a:r>
              <a:endParaRPr b="0" i="0" sz="2400" u="none" cap="none" strike="noStrike">
                <a:solidFill>
                  <a:schemeClr val="dk1"/>
                </a:solidFill>
                <a:latin typeface="Calibri"/>
                <a:ea typeface="Calibri"/>
                <a:cs typeface="Calibri"/>
                <a:sym typeface="Calibri"/>
              </a:endParaRPr>
            </a:p>
          </p:txBody>
        </p:sp>
        <p:sp>
          <p:nvSpPr>
            <p:cNvPr id="131" name="Google Shape;131;p4"/>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32" name="Google Shape;132;p4">
            <a:hlinkClick action="ppaction://hlinksldjump" r:id="rId6"/>
          </p:cNvPr>
          <p:cNvPicPr preferRelativeResize="0"/>
          <p:nvPr/>
        </p:nvPicPr>
        <p:blipFill rotWithShape="1">
          <a:blip r:embed="rId7">
            <a:alphaModFix/>
          </a:blip>
          <a:srcRect b="0" l="0" r="0" t="0"/>
          <a:stretch/>
        </p:blipFill>
        <p:spPr>
          <a:xfrm>
            <a:off x="11395985" y="2489169"/>
            <a:ext cx="593900" cy="259610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p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38" name="Google Shape;138;p5">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139" name="Google Shape;139;p5"/>
          <p:cNvGrpSpPr/>
          <p:nvPr/>
        </p:nvGrpSpPr>
        <p:grpSpPr>
          <a:xfrm>
            <a:off x="1533494" y="2839701"/>
            <a:ext cx="2674353" cy="1347631"/>
            <a:chOff x="1469994" y="3081001"/>
            <a:chExt cx="2674353" cy="1347631"/>
          </a:xfrm>
        </p:grpSpPr>
        <p:sp>
          <p:nvSpPr>
            <p:cNvPr id="140" name="Google Shape;140;p5"/>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準確性</a:t>
              </a:r>
              <a:endParaRPr b="0" i="0" sz="1400" u="none" cap="none" strike="noStrike">
                <a:solidFill>
                  <a:srgbClr val="000000"/>
                </a:solidFill>
                <a:latin typeface="Arial"/>
                <a:ea typeface="Arial"/>
                <a:cs typeface="Arial"/>
                <a:sym typeface="Arial"/>
              </a:endParaRPr>
            </a:p>
          </p:txBody>
        </p:sp>
        <p:sp>
          <p:nvSpPr>
            <p:cNvPr id="141" name="Google Shape;141;p5"/>
            <p:cNvSpPr txBox="1"/>
            <p:nvPr/>
          </p:nvSpPr>
          <p:spPr>
            <a:xfrm>
              <a:off x="1469994" y="3081001"/>
              <a:ext cx="2357887"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A4714B"/>
                  </a:solidFill>
                  <a:latin typeface="Arial"/>
                  <a:ea typeface="Arial"/>
                  <a:cs typeface="Arial"/>
                  <a:sym typeface="Arial"/>
                </a:rPr>
                <a:t>A</a:t>
              </a:r>
              <a:r>
                <a:rPr b="0" i="0" lang="zh-TW" sz="2800" u="sng" cap="none" strike="noStrike">
                  <a:solidFill>
                    <a:srgbClr val="000000"/>
                  </a:solidFill>
                  <a:latin typeface="Arial"/>
                  <a:ea typeface="Arial"/>
                  <a:cs typeface="Arial"/>
                  <a:sym typeface="Arial"/>
                </a:rPr>
                <a:t>ccuracy</a:t>
              </a:r>
              <a:endParaRPr b="0" i="0" sz="2800" u="sng" cap="none" strike="noStrike">
                <a:solidFill>
                  <a:schemeClr val="dk1"/>
                </a:solidFill>
                <a:latin typeface="Arial"/>
                <a:ea typeface="Arial"/>
                <a:cs typeface="Arial"/>
                <a:sym typeface="Arial"/>
              </a:endParaRPr>
            </a:p>
          </p:txBody>
        </p:sp>
      </p:grpSp>
      <p:grpSp>
        <p:nvGrpSpPr>
          <p:cNvPr id="142" name="Google Shape;142;p5"/>
          <p:cNvGrpSpPr/>
          <p:nvPr/>
        </p:nvGrpSpPr>
        <p:grpSpPr>
          <a:xfrm>
            <a:off x="1950098" y="682731"/>
            <a:ext cx="1453063" cy="737119"/>
            <a:chOff x="2080727" y="858416"/>
            <a:chExt cx="1453063" cy="737119"/>
          </a:xfrm>
        </p:grpSpPr>
        <p:sp>
          <p:nvSpPr>
            <p:cNvPr id="143" name="Google Shape;143;p5"/>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建模前</a:t>
              </a:r>
              <a:endParaRPr b="0" i="0" sz="2400" u="none" cap="none" strike="noStrike">
                <a:solidFill>
                  <a:schemeClr val="dk1"/>
                </a:solidFill>
                <a:latin typeface="Calibri"/>
                <a:ea typeface="Calibri"/>
                <a:cs typeface="Calibri"/>
                <a:sym typeface="Calibri"/>
              </a:endParaRPr>
            </a:p>
          </p:txBody>
        </p:sp>
        <p:sp>
          <p:nvSpPr>
            <p:cNvPr id="144" name="Google Shape;144;p5"/>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145" name="Google Shape;145;p5"/>
          <p:cNvSpPr txBox="1"/>
          <p:nvPr/>
        </p:nvSpPr>
        <p:spPr>
          <a:xfrm>
            <a:off x="3974819" y="1051290"/>
            <a:ext cx="6097554" cy="54429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法律與倫理問題</a:t>
            </a:r>
            <a:endParaRPr b="1" i="0" sz="20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開放資料(open data)具有自由獲取的特性，並且因為資料來源不一致、資料品質不佳、資料更新不及時、資料遭到加工處理等因素，導致AI做出錯誤的決策或應對措施，進而造成損害面臨法律問題，故建議如下:</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i="0" sz="1600" u="none" cap="none" strike="noStrike">
              <a:solidFill>
                <a:schemeClr val="dk1"/>
              </a:solidFill>
              <a:latin typeface="Microsoft JhengHei"/>
              <a:ea typeface="Microsoft JhengHei"/>
              <a:cs typeface="Microsoft JhengHei"/>
              <a:sym typeface="Microsoft JhengHei"/>
            </a:endParaRPr>
          </a:p>
          <a:p>
            <a:pPr indent="-342900" lvl="0" marL="342900" marR="0" rtl="0" algn="l">
              <a:lnSpc>
                <a:spcPct val="150000"/>
              </a:lnSpc>
              <a:spcBef>
                <a:spcPts val="0"/>
              </a:spcBef>
              <a:spcAft>
                <a:spcPts val="0"/>
              </a:spcAft>
              <a:buClr>
                <a:schemeClr val="dk1"/>
              </a:buClr>
              <a:buSzPts val="1800"/>
              <a:buFont typeface="Microsoft JhengHei"/>
              <a:buAutoNum type="arabicPeriod"/>
            </a:pPr>
            <a:r>
              <a:rPr b="1" i="0" lang="zh-TW" sz="1800" u="none" cap="none" strike="noStrike">
                <a:solidFill>
                  <a:schemeClr val="dk1"/>
                </a:solidFill>
                <a:latin typeface="Microsoft JhengHei"/>
                <a:ea typeface="Microsoft JhengHei"/>
                <a:cs typeface="Microsoft JhengHei"/>
                <a:sym typeface="Microsoft JhengHei"/>
              </a:rPr>
              <a:t>建立開放資料管理與監控機制</a:t>
            </a:r>
            <a:endParaRPr b="1" i="0" sz="1800" u="none" cap="none" strike="noStrike">
              <a:solidFill>
                <a:schemeClr val="dk1"/>
              </a:solidFill>
              <a:latin typeface="Microsoft JhengHei"/>
              <a:ea typeface="Microsoft JhengHei"/>
              <a:cs typeface="Microsoft JhengHei"/>
              <a:sym typeface="Microsoft JhengHei"/>
            </a:endParaRPr>
          </a:p>
          <a:p>
            <a:pPr indent="-342900" lvl="0" marL="342900" marR="0" rtl="0" algn="l">
              <a:lnSpc>
                <a:spcPct val="150000"/>
              </a:lnSpc>
              <a:spcBef>
                <a:spcPts val="0"/>
              </a:spcBef>
              <a:spcAft>
                <a:spcPts val="0"/>
              </a:spcAft>
              <a:buClr>
                <a:schemeClr val="dk1"/>
              </a:buClr>
              <a:buSzPts val="1800"/>
              <a:buFont typeface="Microsoft JhengHei"/>
              <a:buAutoNum type="arabicPeriod"/>
            </a:pPr>
            <a:r>
              <a:rPr b="1" i="0" lang="zh-TW" sz="1800" u="none" cap="none" strike="noStrike">
                <a:solidFill>
                  <a:schemeClr val="dk1"/>
                </a:solidFill>
                <a:latin typeface="Microsoft JhengHei"/>
                <a:ea typeface="Microsoft JhengHei"/>
                <a:cs typeface="Microsoft JhengHei"/>
                <a:sym typeface="Microsoft JhengHei"/>
              </a:rPr>
              <a:t>定期對開放資料進行審核和更新</a:t>
            </a:r>
            <a:endParaRPr b="1" i="0" sz="1800" u="none" cap="none" strike="noStrike">
              <a:solidFill>
                <a:schemeClr val="dk1"/>
              </a:solidFill>
              <a:latin typeface="Microsoft JhengHei"/>
              <a:ea typeface="Microsoft JhengHei"/>
              <a:cs typeface="Microsoft JhengHei"/>
              <a:sym typeface="Microsoft JhengHei"/>
            </a:endParaRPr>
          </a:p>
          <a:p>
            <a:pPr indent="-342900" lvl="0" marL="342900" marR="0" rtl="0" algn="l">
              <a:lnSpc>
                <a:spcPct val="150000"/>
              </a:lnSpc>
              <a:spcBef>
                <a:spcPts val="0"/>
              </a:spcBef>
              <a:spcAft>
                <a:spcPts val="0"/>
              </a:spcAft>
              <a:buClr>
                <a:schemeClr val="dk1"/>
              </a:buClr>
              <a:buSzPts val="1800"/>
              <a:buFont typeface="Microsoft JhengHei"/>
              <a:buAutoNum type="arabicPeriod"/>
            </a:pPr>
            <a:r>
              <a:rPr b="1" i="0" lang="zh-TW" sz="1800" u="none" cap="none" strike="noStrike">
                <a:solidFill>
                  <a:schemeClr val="dk1"/>
                </a:solidFill>
                <a:latin typeface="Microsoft JhengHei"/>
                <a:ea typeface="Microsoft JhengHei"/>
                <a:cs typeface="Microsoft JhengHei"/>
                <a:sym typeface="Microsoft JhengHei"/>
              </a:rPr>
              <a:t>建立明確的法律法規</a:t>
            </a:r>
            <a:endParaRPr b="1" i="0" sz="1800" u="none" cap="none" strike="noStrike">
              <a:solidFill>
                <a:schemeClr val="dk1"/>
              </a:solidFill>
              <a:latin typeface="Microsoft JhengHei"/>
              <a:ea typeface="Microsoft JhengHei"/>
              <a:cs typeface="Microsoft JhengHei"/>
              <a:sym typeface="Microsoft JhengHei"/>
            </a:endParaRPr>
          </a:p>
          <a:p>
            <a:pPr indent="-228600" lvl="0" marL="342900" marR="0" rtl="0" algn="l">
              <a:lnSpc>
                <a:spcPct val="150000"/>
              </a:lnSpc>
              <a:spcBef>
                <a:spcPts val="0"/>
              </a:spcBef>
              <a:spcAft>
                <a:spcPts val="0"/>
              </a:spcAft>
              <a:buClr>
                <a:schemeClr val="dk1"/>
              </a:buClr>
              <a:buSzPts val="1800"/>
              <a:buFont typeface="Calibri"/>
              <a:buNone/>
            </a:pPr>
            <a:r>
              <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600"/>
              <a:buFont typeface="Arial"/>
              <a:buNone/>
            </a:pPr>
            <a:r>
              <a:rPr b="1" i="0" lang="zh-TW" sz="1600" u="none" cap="none" strike="noStrike">
                <a:solidFill>
                  <a:schemeClr val="dk1"/>
                </a:solidFill>
                <a:latin typeface="Microsoft JhengHei"/>
                <a:ea typeface="Microsoft JhengHei"/>
                <a:cs typeface="Microsoft JhengHei"/>
                <a:sym typeface="Microsoft JhengHei"/>
              </a:rPr>
              <a:t>(請參照個資法第6條第1項第3款、第9條第2項第2款、第17條、第19條第1項第三款、第51條)</a:t>
            </a:r>
            <a:endParaRPr b="1" i="0" sz="16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Microsoft JhengHei"/>
              <a:ea typeface="Microsoft JhengHei"/>
              <a:cs typeface="Microsoft JhengHei"/>
              <a:sym typeface="Microsoft JhengHei"/>
            </a:endParaRPr>
          </a:p>
        </p:txBody>
      </p:sp>
      <p:pic>
        <p:nvPicPr>
          <p:cNvPr id="146" name="Google Shape;146;p5">
            <a:hlinkClick action="ppaction://hlinksldjump" r:id="rId6"/>
          </p:cNvPr>
          <p:cNvPicPr preferRelativeResize="0"/>
          <p:nvPr/>
        </p:nvPicPr>
        <p:blipFill rotWithShape="1">
          <a:blip r:embed="rId7">
            <a:alphaModFix/>
          </a:blip>
          <a:srcRect b="0" l="0" r="0" t="0"/>
          <a:stretch/>
        </p:blipFill>
        <p:spPr>
          <a:xfrm>
            <a:off x="11363271" y="5392305"/>
            <a:ext cx="616610" cy="61661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id="151" name="Google Shape;151;p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52" name="Google Shape;152;p6"/>
          <p:cNvSpPr txBox="1"/>
          <p:nvPr/>
        </p:nvSpPr>
        <p:spPr>
          <a:xfrm>
            <a:off x="4199023" y="2334678"/>
            <a:ext cx="6097554" cy="2498504"/>
          </a:xfrm>
          <a:prstGeom prst="rect">
            <a:avLst/>
          </a:prstGeom>
          <a:noFill/>
          <a:ln>
            <a:noFill/>
          </a:ln>
        </p:spPr>
        <p:txBody>
          <a:bodyPr anchorCtr="0" anchor="t" bIns="45700" lIns="91425" spcFirstLastPara="1" rIns="91425" wrap="square" tIns="45700">
            <a:spAutoFit/>
          </a:bodyPr>
          <a:lstStyle/>
          <a:p>
            <a:pPr indent="0" lvl="0" marL="0" marR="0" rtl="0" algn="l">
              <a:lnSpc>
                <a:spcPct val="144444"/>
              </a:lnSpc>
              <a:spcBef>
                <a:spcPts val="0"/>
              </a:spcBef>
              <a:spcAft>
                <a:spcPts val="0"/>
              </a:spcAft>
              <a:buClr>
                <a:srgbClr val="000000"/>
              </a:buClr>
              <a:buSzPts val="1800"/>
              <a:buFont typeface="Arial"/>
              <a:buNone/>
            </a:pPr>
            <a:r>
              <a:t/>
            </a:r>
            <a:endParaRPr b="1" i="0" sz="1800" u="none" cap="none" strike="noStrike">
              <a:solidFill>
                <a:srgbClr val="FF0000"/>
              </a:solidFill>
              <a:latin typeface="Microsoft JhengHei"/>
              <a:ea typeface="Microsoft JhengHei"/>
              <a:cs typeface="Microsoft JhengHei"/>
              <a:sym typeface="Microsoft JhengHei"/>
            </a:endParaRPr>
          </a:p>
          <a:p>
            <a:pPr indent="0" lvl="0" marL="0" marR="0" rtl="0" algn="just">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預測干擾因素:</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是否預想會影響AI模型可靠性的因素？</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50000"/>
              </a:lnSpc>
              <a:spcBef>
                <a:spcPts val="0"/>
              </a:spcBef>
              <a:spcAft>
                <a:spcPts val="0"/>
              </a:spcAft>
              <a:buClr>
                <a:srgbClr val="000000"/>
              </a:buClr>
              <a:buSzPts val="1800"/>
              <a:buFont typeface="Arial"/>
              <a:buNone/>
            </a:pPr>
            <a:r>
              <a:rPr b="0" i="0" lang="zh-TW" sz="1800" u="none" cap="none" strike="noStrike">
                <a:solidFill>
                  <a:srgbClr val="713613"/>
                </a:solidFill>
                <a:latin typeface="Microsoft JhengHei"/>
                <a:ea typeface="Microsoft JhengHei"/>
                <a:cs typeface="Microsoft JhengHei"/>
                <a:sym typeface="Microsoft JhengHei"/>
              </a:rPr>
              <a:t>（例如:AI模型會對於一些非預期的干擾因素過度敏感，像是寒冷的天氣、噪音等等，使得微小的干擾就使其無法正常運作）</a:t>
            </a:r>
            <a:endParaRPr b="1" i="0" sz="2000" u="none" cap="none" strike="noStrike">
              <a:solidFill>
                <a:srgbClr val="713613"/>
              </a:solidFill>
              <a:latin typeface="Microsoft JhengHei"/>
              <a:ea typeface="Microsoft JhengHei"/>
              <a:cs typeface="Microsoft JhengHei"/>
              <a:sym typeface="Microsoft JhengHei"/>
            </a:endParaRPr>
          </a:p>
        </p:txBody>
      </p:sp>
      <p:pic>
        <p:nvPicPr>
          <p:cNvPr id="153" name="Google Shape;153;p6">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154" name="Google Shape;154;p6"/>
          <p:cNvGrpSpPr/>
          <p:nvPr/>
        </p:nvGrpSpPr>
        <p:grpSpPr>
          <a:xfrm>
            <a:off x="1673194" y="2839701"/>
            <a:ext cx="2674353" cy="1347631"/>
            <a:chOff x="1469994" y="3081001"/>
            <a:chExt cx="2674353" cy="1347631"/>
          </a:xfrm>
        </p:grpSpPr>
        <p:sp>
          <p:nvSpPr>
            <p:cNvPr id="155" name="Google Shape;155;p6"/>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可靠性</a:t>
              </a:r>
              <a:endParaRPr b="0" i="0" sz="1400" u="none" cap="none" strike="noStrike">
                <a:solidFill>
                  <a:srgbClr val="000000"/>
                </a:solidFill>
                <a:latin typeface="Arial"/>
                <a:ea typeface="Arial"/>
                <a:cs typeface="Arial"/>
                <a:sym typeface="Arial"/>
              </a:endParaRPr>
            </a:p>
          </p:txBody>
        </p:sp>
        <p:sp>
          <p:nvSpPr>
            <p:cNvPr id="156" name="Google Shape;156;p6"/>
            <p:cNvSpPr txBox="1"/>
            <p:nvPr/>
          </p:nvSpPr>
          <p:spPr>
            <a:xfrm>
              <a:off x="1469995" y="3081001"/>
              <a:ext cx="2490538"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AA8862"/>
                  </a:solidFill>
                  <a:latin typeface="Arial"/>
                  <a:ea typeface="Arial"/>
                  <a:cs typeface="Arial"/>
                  <a:sym typeface="Arial"/>
                </a:rPr>
                <a:t>R</a:t>
              </a:r>
              <a:r>
                <a:rPr b="0" i="0" lang="zh-TW" sz="2800" u="sng" cap="none" strike="noStrike">
                  <a:solidFill>
                    <a:srgbClr val="000000"/>
                  </a:solidFill>
                  <a:latin typeface="Arial"/>
                  <a:ea typeface="Arial"/>
                  <a:cs typeface="Arial"/>
                  <a:sym typeface="Arial"/>
                </a:rPr>
                <a:t>eliability</a:t>
              </a:r>
              <a:endParaRPr b="0" i="0" sz="2800" u="sng" cap="none" strike="noStrike">
                <a:solidFill>
                  <a:schemeClr val="dk1"/>
                </a:solidFill>
                <a:latin typeface="Arial"/>
                <a:ea typeface="Arial"/>
                <a:cs typeface="Arial"/>
                <a:sym typeface="Arial"/>
              </a:endParaRPr>
            </a:p>
          </p:txBody>
        </p:sp>
      </p:grpSp>
      <p:grpSp>
        <p:nvGrpSpPr>
          <p:cNvPr id="157" name="Google Shape;157;p6"/>
          <p:cNvGrpSpPr/>
          <p:nvPr/>
        </p:nvGrpSpPr>
        <p:grpSpPr>
          <a:xfrm>
            <a:off x="1950098" y="682731"/>
            <a:ext cx="1453063" cy="737119"/>
            <a:chOff x="2080727" y="858416"/>
            <a:chExt cx="1453063" cy="737119"/>
          </a:xfrm>
        </p:grpSpPr>
        <p:sp>
          <p:nvSpPr>
            <p:cNvPr id="158" name="Google Shape;158;p6"/>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建模前</a:t>
              </a:r>
              <a:endParaRPr b="0" i="0" sz="2400" u="none" cap="none" strike="noStrike">
                <a:solidFill>
                  <a:schemeClr val="dk1"/>
                </a:solidFill>
                <a:latin typeface="Calibri"/>
                <a:ea typeface="Calibri"/>
                <a:cs typeface="Calibri"/>
                <a:sym typeface="Calibri"/>
              </a:endParaRPr>
            </a:p>
          </p:txBody>
        </p:sp>
        <p:sp>
          <p:nvSpPr>
            <p:cNvPr id="159" name="Google Shape;159;p6"/>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7"/>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165" name="Google Shape;165;p7"/>
          <p:cNvGrpSpPr/>
          <p:nvPr/>
        </p:nvGrpSpPr>
        <p:grpSpPr>
          <a:xfrm>
            <a:off x="4058816" y="1527561"/>
            <a:ext cx="6207190" cy="4001095"/>
            <a:chOff x="4058816" y="1400561"/>
            <a:chExt cx="6207190" cy="4001095"/>
          </a:xfrm>
        </p:grpSpPr>
        <p:sp>
          <p:nvSpPr>
            <p:cNvPr id="166" name="Google Shape;166;p7"/>
            <p:cNvSpPr txBox="1"/>
            <p:nvPr/>
          </p:nvSpPr>
          <p:spPr>
            <a:xfrm>
              <a:off x="4058816" y="1400561"/>
              <a:ext cx="6207190" cy="40010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評估安全性風險:</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即將發展的AI模型，依照其建模目的與未來可能的應用場域，是否評估可能會帶來的負面影響</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1800"/>
                <a:buFont typeface="Arial"/>
                <a:buNone/>
              </a:pPr>
              <a:r>
                <a:rPr b="0" i="0" lang="zh-TW" sz="1800" u="none" cap="none" strike="noStrike">
                  <a:solidFill>
                    <a:srgbClr val="713613"/>
                  </a:solidFill>
                  <a:latin typeface="Microsoft JhengHei"/>
                  <a:ea typeface="Microsoft JhengHei"/>
                  <a:cs typeface="Microsoft JhengHei"/>
                  <a:sym typeface="Microsoft JhengHei"/>
                </a:rPr>
                <a:t>（例如:設置於高速鐵路或核能電廠的AI模型若出錯可能會產生生命安全的危害）</a:t>
              </a:r>
              <a:endParaRPr b="0" i="0" sz="1800" u="none" cap="none" strike="noStrike">
                <a:solidFill>
                  <a:srgbClr val="713613"/>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建立風險評估機制:</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是否建立風險評估機制？</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1800"/>
                <a:buFont typeface="Arial"/>
                <a:buNone/>
              </a:pPr>
              <a:r>
                <a:rPr b="0" i="0" lang="zh-TW" sz="1800" u="none" cap="none" strike="noStrike">
                  <a:solidFill>
                    <a:srgbClr val="713613"/>
                  </a:solidFill>
                  <a:latin typeface="Microsoft JhengHei"/>
                  <a:ea typeface="Microsoft JhengHei"/>
                  <a:cs typeface="Microsoft JhengHei"/>
                  <a:sym typeface="Microsoft JhengHei"/>
                </a:rPr>
                <a:t>（例如:風險定義、風險指標、風險等級、風險評估與持續量測流程等）</a:t>
              </a:r>
              <a:endParaRPr b="0" i="0" sz="1800" u="none" cap="none" strike="noStrike">
                <a:solidFill>
                  <a:srgbClr val="713613"/>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建立監控機制:</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是否建立監控機制，做為未來持續監控本模型決策可能產生的負面影響？</a:t>
              </a:r>
              <a:endParaRPr b="0" i="0" sz="1400" u="none" cap="none" strike="noStrike">
                <a:solidFill>
                  <a:srgbClr val="000000"/>
                </a:solidFill>
                <a:latin typeface="Arial"/>
                <a:ea typeface="Arial"/>
                <a:cs typeface="Arial"/>
                <a:sym typeface="Arial"/>
              </a:endParaRPr>
            </a:p>
          </p:txBody>
        </p:sp>
        <p:cxnSp>
          <p:nvCxnSpPr>
            <p:cNvPr id="167" name="Google Shape;167;p7"/>
            <p:cNvCxnSpPr/>
            <p:nvPr/>
          </p:nvCxnSpPr>
          <p:spPr>
            <a:xfrm>
              <a:off x="4058816" y="2970508"/>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168" name="Google Shape;168;p7"/>
            <p:cNvCxnSpPr/>
            <p:nvPr/>
          </p:nvCxnSpPr>
          <p:spPr>
            <a:xfrm>
              <a:off x="4058816" y="4328673"/>
              <a:ext cx="6207190" cy="0"/>
            </a:xfrm>
            <a:prstGeom prst="straightConnector1">
              <a:avLst/>
            </a:prstGeom>
            <a:noFill/>
            <a:ln cap="flat" cmpd="sng" w="9525">
              <a:solidFill>
                <a:schemeClr val="dk1"/>
              </a:solidFill>
              <a:prstDash val="solid"/>
              <a:miter lim="800000"/>
              <a:headEnd len="sm" w="sm" type="none"/>
              <a:tailEnd len="sm" w="sm" type="none"/>
            </a:ln>
          </p:spPr>
        </p:cxnSp>
      </p:grpSp>
      <p:pic>
        <p:nvPicPr>
          <p:cNvPr id="169" name="Google Shape;169;p7">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170" name="Google Shape;170;p7"/>
          <p:cNvGrpSpPr/>
          <p:nvPr/>
        </p:nvGrpSpPr>
        <p:grpSpPr>
          <a:xfrm>
            <a:off x="1533494" y="2829945"/>
            <a:ext cx="2674353" cy="1357387"/>
            <a:chOff x="1469994" y="3071245"/>
            <a:chExt cx="2674353" cy="1357387"/>
          </a:xfrm>
        </p:grpSpPr>
        <p:sp>
          <p:nvSpPr>
            <p:cNvPr id="171" name="Google Shape;171;p7"/>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安全性</a:t>
              </a:r>
              <a:endParaRPr b="0" i="0" sz="1400" u="none" cap="none" strike="noStrike">
                <a:solidFill>
                  <a:srgbClr val="000000"/>
                </a:solidFill>
                <a:latin typeface="Arial"/>
                <a:ea typeface="Arial"/>
                <a:cs typeface="Arial"/>
                <a:sym typeface="Arial"/>
              </a:endParaRPr>
            </a:p>
          </p:txBody>
        </p:sp>
        <p:sp>
          <p:nvSpPr>
            <p:cNvPr id="172" name="Google Shape;172;p7"/>
            <p:cNvSpPr txBox="1"/>
            <p:nvPr/>
          </p:nvSpPr>
          <p:spPr>
            <a:xfrm>
              <a:off x="1686924" y="3071245"/>
              <a:ext cx="2047614"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944C41"/>
                  </a:solidFill>
                  <a:latin typeface="Arial"/>
                  <a:ea typeface="Arial"/>
                  <a:cs typeface="Arial"/>
                  <a:sym typeface="Arial"/>
                </a:rPr>
                <a:t>S</a:t>
              </a:r>
              <a:r>
                <a:rPr b="0" i="0" lang="zh-TW" sz="2800" u="sng" cap="none" strike="noStrike">
                  <a:solidFill>
                    <a:srgbClr val="000000"/>
                  </a:solidFill>
                  <a:latin typeface="Arial"/>
                  <a:ea typeface="Arial"/>
                  <a:cs typeface="Arial"/>
                  <a:sym typeface="Arial"/>
                </a:rPr>
                <a:t>afety</a:t>
              </a:r>
              <a:endParaRPr b="0" i="0" sz="2800" u="sng" cap="none" strike="noStrike">
                <a:solidFill>
                  <a:schemeClr val="dk1"/>
                </a:solidFill>
                <a:latin typeface="Arial"/>
                <a:ea typeface="Arial"/>
                <a:cs typeface="Arial"/>
                <a:sym typeface="Arial"/>
              </a:endParaRPr>
            </a:p>
          </p:txBody>
        </p:sp>
      </p:grpSp>
      <p:grpSp>
        <p:nvGrpSpPr>
          <p:cNvPr id="173" name="Google Shape;173;p7"/>
          <p:cNvGrpSpPr/>
          <p:nvPr/>
        </p:nvGrpSpPr>
        <p:grpSpPr>
          <a:xfrm>
            <a:off x="1950098" y="682731"/>
            <a:ext cx="1453063" cy="737119"/>
            <a:chOff x="2080727" y="858416"/>
            <a:chExt cx="1453063" cy="737119"/>
          </a:xfrm>
        </p:grpSpPr>
        <p:sp>
          <p:nvSpPr>
            <p:cNvPr id="174" name="Google Shape;174;p7"/>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建模前</a:t>
              </a:r>
              <a:endParaRPr b="0" i="0" sz="2400" u="none" cap="none" strike="noStrike">
                <a:solidFill>
                  <a:schemeClr val="dk1"/>
                </a:solidFill>
                <a:latin typeface="Calibri"/>
                <a:ea typeface="Calibri"/>
                <a:cs typeface="Calibri"/>
                <a:sym typeface="Calibri"/>
              </a:endParaRPr>
            </a:p>
          </p:txBody>
        </p:sp>
        <p:sp>
          <p:nvSpPr>
            <p:cNvPr id="175" name="Google Shape;175;p7"/>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id="180" name="Google Shape;180;p8"/>
          <p:cNvPicPr preferRelativeResize="0"/>
          <p:nvPr/>
        </p:nvPicPr>
        <p:blipFill rotWithShape="1">
          <a:blip r:embed="rId3">
            <a:alphaModFix/>
          </a:blip>
          <a:srcRect b="0" l="0" r="0" t="0"/>
          <a:stretch/>
        </p:blipFill>
        <p:spPr>
          <a:xfrm>
            <a:off x="0" y="50800"/>
            <a:ext cx="12192000" cy="6858000"/>
          </a:xfrm>
          <a:prstGeom prst="rect">
            <a:avLst/>
          </a:prstGeom>
          <a:noFill/>
          <a:ln>
            <a:noFill/>
          </a:ln>
        </p:spPr>
      </p:pic>
      <p:sp>
        <p:nvSpPr>
          <p:cNvPr id="181" name="Google Shape;181;p8"/>
          <p:cNvSpPr txBox="1"/>
          <p:nvPr/>
        </p:nvSpPr>
        <p:spPr>
          <a:xfrm>
            <a:off x="4245947" y="2480582"/>
            <a:ext cx="5868437" cy="216508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多元應用性: </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是否規劃讓即將發展的AI模型具有靈活調整與擴展性，可應用於不同的環境、需求、或條件？</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50000"/>
              </a:lnSpc>
              <a:spcBef>
                <a:spcPts val="0"/>
              </a:spcBef>
              <a:spcAft>
                <a:spcPts val="0"/>
              </a:spcAft>
              <a:buClr>
                <a:srgbClr val="000000"/>
              </a:buClr>
              <a:buSzPts val="1800"/>
              <a:buFont typeface="Arial"/>
              <a:buNone/>
            </a:pPr>
            <a:r>
              <a:rPr b="0" i="0" lang="zh-TW" sz="1800" u="none" cap="none" strike="noStrike">
                <a:solidFill>
                  <a:srgbClr val="713613"/>
                </a:solidFill>
                <a:latin typeface="Microsoft JhengHei"/>
                <a:ea typeface="Microsoft JhengHei"/>
                <a:cs typeface="Microsoft JhengHei"/>
                <a:sym typeface="Microsoft JhengHei"/>
              </a:rPr>
              <a:t>（例如:量測新的汙染物，適應不同的地形、或在夜間光線不足時進行監控）</a:t>
            </a:r>
            <a:endParaRPr b="0" i="0" sz="1800" u="none" cap="none" strike="noStrike">
              <a:solidFill>
                <a:srgbClr val="713613"/>
              </a:solidFill>
              <a:latin typeface="Microsoft JhengHei"/>
              <a:ea typeface="Microsoft JhengHei"/>
              <a:cs typeface="Microsoft JhengHei"/>
              <a:sym typeface="Microsoft JhengHei"/>
            </a:endParaRPr>
          </a:p>
        </p:txBody>
      </p:sp>
      <p:pic>
        <p:nvPicPr>
          <p:cNvPr id="182" name="Google Shape;182;p8">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183" name="Google Shape;183;p8"/>
          <p:cNvGrpSpPr/>
          <p:nvPr/>
        </p:nvGrpSpPr>
        <p:grpSpPr>
          <a:xfrm>
            <a:off x="1567543" y="2801601"/>
            <a:ext cx="2780004" cy="1347631"/>
            <a:chOff x="1364343" y="3081001"/>
            <a:chExt cx="2780004" cy="1347631"/>
          </a:xfrm>
        </p:grpSpPr>
        <p:sp>
          <p:nvSpPr>
            <p:cNvPr id="184" name="Google Shape;184;p8"/>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韌性</a:t>
              </a:r>
              <a:endParaRPr b="0" i="0" sz="1400" u="none" cap="none" strike="noStrike">
                <a:solidFill>
                  <a:srgbClr val="000000"/>
                </a:solidFill>
                <a:latin typeface="Arial"/>
                <a:ea typeface="Arial"/>
                <a:cs typeface="Arial"/>
                <a:sym typeface="Arial"/>
              </a:endParaRPr>
            </a:p>
          </p:txBody>
        </p:sp>
        <p:sp>
          <p:nvSpPr>
            <p:cNvPr id="185" name="Google Shape;185;p8"/>
            <p:cNvSpPr txBox="1"/>
            <p:nvPr/>
          </p:nvSpPr>
          <p:spPr>
            <a:xfrm>
              <a:off x="1364343" y="3081001"/>
              <a:ext cx="2596189"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952A2A"/>
                  </a:solidFill>
                  <a:latin typeface="Arial"/>
                  <a:ea typeface="Arial"/>
                  <a:cs typeface="Arial"/>
                  <a:sym typeface="Arial"/>
                </a:rPr>
                <a:t>R</a:t>
              </a:r>
              <a:r>
                <a:rPr b="0" i="0" lang="zh-TW" sz="2800" u="sng" cap="none" strike="noStrike">
                  <a:solidFill>
                    <a:srgbClr val="000000"/>
                  </a:solidFill>
                  <a:latin typeface="Arial"/>
                  <a:ea typeface="Arial"/>
                  <a:cs typeface="Arial"/>
                  <a:sym typeface="Arial"/>
                </a:rPr>
                <a:t>esilience</a:t>
              </a:r>
              <a:endParaRPr b="0" i="0" sz="2800" u="sng" cap="none" strike="noStrike">
                <a:solidFill>
                  <a:schemeClr val="dk1"/>
                </a:solidFill>
                <a:latin typeface="Arial"/>
                <a:ea typeface="Arial"/>
                <a:cs typeface="Arial"/>
                <a:sym typeface="Arial"/>
              </a:endParaRPr>
            </a:p>
          </p:txBody>
        </p:sp>
      </p:grpSp>
      <p:grpSp>
        <p:nvGrpSpPr>
          <p:cNvPr id="186" name="Google Shape;186;p8"/>
          <p:cNvGrpSpPr/>
          <p:nvPr/>
        </p:nvGrpSpPr>
        <p:grpSpPr>
          <a:xfrm>
            <a:off x="1950098" y="726405"/>
            <a:ext cx="1453063" cy="737119"/>
            <a:chOff x="2080727" y="858416"/>
            <a:chExt cx="1453063" cy="737119"/>
          </a:xfrm>
        </p:grpSpPr>
        <p:sp>
          <p:nvSpPr>
            <p:cNvPr id="187" name="Google Shape;187;p8"/>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建模前</a:t>
              </a:r>
              <a:endParaRPr b="0" i="0" sz="2400" u="none" cap="none" strike="noStrike">
                <a:solidFill>
                  <a:schemeClr val="dk1"/>
                </a:solidFill>
                <a:latin typeface="Calibri"/>
                <a:ea typeface="Calibri"/>
                <a:cs typeface="Calibri"/>
                <a:sym typeface="Calibri"/>
              </a:endParaRPr>
            </a:p>
          </p:txBody>
        </p:sp>
        <p:sp>
          <p:nvSpPr>
            <p:cNvPr id="188" name="Google Shape;188;p8"/>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id="193" name="Google Shape;193;p9"/>
          <p:cNvPicPr preferRelativeResize="0"/>
          <p:nvPr/>
        </p:nvPicPr>
        <p:blipFill rotWithShape="1">
          <a:blip r:embed="rId3">
            <a:alphaModFix/>
          </a:blip>
          <a:srcRect b="0" l="0" r="0" t="0"/>
          <a:stretch/>
        </p:blipFill>
        <p:spPr>
          <a:xfrm>
            <a:off x="-565150" y="-317897"/>
            <a:ext cx="13322300" cy="7493794"/>
          </a:xfrm>
          <a:prstGeom prst="rect">
            <a:avLst/>
          </a:prstGeom>
          <a:noFill/>
          <a:ln>
            <a:noFill/>
          </a:ln>
        </p:spPr>
      </p:pic>
      <p:sp>
        <p:nvSpPr>
          <p:cNvPr id="194" name="Google Shape;194;p9"/>
          <p:cNvSpPr txBox="1"/>
          <p:nvPr/>
        </p:nvSpPr>
        <p:spPr>
          <a:xfrm>
            <a:off x="4522187" y="2901395"/>
            <a:ext cx="6097554" cy="133408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建立日誌紀錄:</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為了AI模型未來實際落地應用時能有效追溯錯誤來源，是否規劃如何記錄 AI 決策使用之資料、演算法或規則？</a:t>
            </a:r>
            <a:endParaRPr b="0" i="0" sz="1400" u="none" cap="none" strike="noStrike">
              <a:solidFill>
                <a:srgbClr val="000000"/>
              </a:solidFill>
              <a:latin typeface="Arial"/>
              <a:ea typeface="Arial"/>
              <a:cs typeface="Arial"/>
              <a:sym typeface="Arial"/>
            </a:endParaRPr>
          </a:p>
        </p:txBody>
      </p:sp>
      <p:pic>
        <p:nvPicPr>
          <p:cNvPr id="195" name="Google Shape;195;p9">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196" name="Google Shape;196;p9"/>
          <p:cNvGrpSpPr/>
          <p:nvPr/>
        </p:nvGrpSpPr>
        <p:grpSpPr>
          <a:xfrm>
            <a:off x="818840" y="2898176"/>
            <a:ext cx="3965606" cy="1322026"/>
            <a:chOff x="933140" y="3106606"/>
            <a:chExt cx="3965606" cy="1322026"/>
          </a:xfrm>
        </p:grpSpPr>
        <p:sp>
          <p:nvSpPr>
            <p:cNvPr id="197" name="Google Shape;197;p9"/>
            <p:cNvSpPr txBox="1"/>
            <p:nvPr/>
          </p:nvSpPr>
          <p:spPr>
            <a:xfrm>
              <a:off x="1578767"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透明性</a:t>
              </a:r>
              <a:endParaRPr b="0" i="0" sz="1400" u="none" cap="none" strike="noStrike">
                <a:solidFill>
                  <a:srgbClr val="000000"/>
                </a:solidFill>
                <a:latin typeface="Arial"/>
                <a:ea typeface="Arial"/>
                <a:cs typeface="Arial"/>
                <a:sym typeface="Arial"/>
              </a:endParaRPr>
            </a:p>
          </p:txBody>
        </p:sp>
        <p:sp>
          <p:nvSpPr>
            <p:cNvPr id="198" name="Google Shape;198;p9"/>
            <p:cNvSpPr txBox="1"/>
            <p:nvPr/>
          </p:nvSpPr>
          <p:spPr>
            <a:xfrm>
              <a:off x="933140" y="3106606"/>
              <a:ext cx="3965606"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713613"/>
                  </a:solidFill>
                  <a:latin typeface="Arial"/>
                  <a:ea typeface="Arial"/>
                  <a:cs typeface="Arial"/>
                  <a:sym typeface="Arial"/>
                </a:rPr>
                <a:t>T</a:t>
              </a:r>
              <a:r>
                <a:rPr b="0" i="0" lang="zh-TW" sz="2800" u="sng" cap="none" strike="noStrike">
                  <a:solidFill>
                    <a:srgbClr val="000000"/>
                  </a:solidFill>
                  <a:latin typeface="Arial"/>
                  <a:ea typeface="Arial"/>
                  <a:cs typeface="Arial"/>
                  <a:sym typeface="Arial"/>
                </a:rPr>
                <a:t>ransparency</a:t>
              </a:r>
              <a:endParaRPr b="0" i="0" sz="2800" u="sng" cap="none" strike="noStrike">
                <a:solidFill>
                  <a:schemeClr val="dk1"/>
                </a:solidFill>
                <a:latin typeface="Arial"/>
                <a:ea typeface="Arial"/>
                <a:cs typeface="Arial"/>
                <a:sym typeface="Arial"/>
              </a:endParaRPr>
            </a:p>
          </p:txBody>
        </p:sp>
      </p:grpSp>
      <p:grpSp>
        <p:nvGrpSpPr>
          <p:cNvPr id="199" name="Google Shape;199;p9"/>
          <p:cNvGrpSpPr/>
          <p:nvPr/>
        </p:nvGrpSpPr>
        <p:grpSpPr>
          <a:xfrm>
            <a:off x="2052739" y="440129"/>
            <a:ext cx="1453063" cy="737119"/>
            <a:chOff x="2080727" y="858416"/>
            <a:chExt cx="1453063" cy="737119"/>
          </a:xfrm>
        </p:grpSpPr>
        <p:sp>
          <p:nvSpPr>
            <p:cNvPr id="200" name="Google Shape;200;p9"/>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建模前</a:t>
              </a:r>
              <a:endParaRPr b="0" i="0" sz="2400" u="none" cap="none" strike="noStrike">
                <a:solidFill>
                  <a:schemeClr val="dk1"/>
                </a:solidFill>
                <a:latin typeface="Calibri"/>
                <a:ea typeface="Calibri"/>
                <a:cs typeface="Calibri"/>
                <a:sym typeface="Calibri"/>
              </a:endParaRPr>
            </a:p>
          </p:txBody>
        </p:sp>
        <p:sp>
          <p:nvSpPr>
            <p:cNvPr id="201" name="Google Shape;201;p9"/>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p10"/>
          <p:cNvPicPr preferRelativeResize="0"/>
          <p:nvPr/>
        </p:nvPicPr>
        <p:blipFill rotWithShape="1">
          <a:blip r:embed="rId3">
            <a:alphaModFix/>
          </a:blip>
          <a:srcRect b="0" l="0" r="0" t="0"/>
          <a:stretch/>
        </p:blipFill>
        <p:spPr>
          <a:xfrm>
            <a:off x="-812800" y="-457200"/>
            <a:ext cx="13817600" cy="7772400"/>
          </a:xfrm>
          <a:prstGeom prst="rect">
            <a:avLst/>
          </a:prstGeom>
          <a:noFill/>
          <a:ln>
            <a:noFill/>
          </a:ln>
        </p:spPr>
      </p:pic>
      <p:grpSp>
        <p:nvGrpSpPr>
          <p:cNvPr id="207" name="Google Shape;207;p10"/>
          <p:cNvGrpSpPr/>
          <p:nvPr/>
        </p:nvGrpSpPr>
        <p:grpSpPr>
          <a:xfrm>
            <a:off x="4490037" y="1672136"/>
            <a:ext cx="6272505" cy="3457741"/>
            <a:chOff x="4002832" y="2085918"/>
            <a:chExt cx="6272505" cy="3457741"/>
          </a:xfrm>
        </p:grpSpPr>
        <p:sp>
          <p:nvSpPr>
            <p:cNvPr id="208" name="Google Shape;208;p10"/>
            <p:cNvSpPr txBox="1"/>
            <p:nvPr/>
          </p:nvSpPr>
          <p:spPr>
            <a:xfrm>
              <a:off x="4002832" y="2085918"/>
              <a:ext cx="6097554" cy="345774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建立稽核機制:</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是否規劃建立AI模型可被稽核的機制？</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50000"/>
                </a:lnSpc>
                <a:spcBef>
                  <a:spcPts val="0"/>
                </a:spcBef>
                <a:spcAft>
                  <a:spcPts val="0"/>
                </a:spcAft>
                <a:buClr>
                  <a:srgbClr val="000000"/>
                </a:buClr>
                <a:buSzPts val="1800"/>
                <a:buFont typeface="Arial"/>
                <a:buNone/>
              </a:pPr>
              <a:r>
                <a:rPr b="0" i="0" lang="zh-TW" sz="1800" u="none" cap="none" strike="noStrike">
                  <a:solidFill>
                    <a:srgbClr val="713613"/>
                  </a:solidFill>
                  <a:latin typeface="Microsoft JhengHei"/>
                  <a:ea typeface="Microsoft JhengHei"/>
                  <a:cs typeface="Microsoft JhengHei"/>
                  <a:sym typeface="Microsoft JhengHei"/>
                </a:rPr>
                <a:t>（例如:有關AI開發過程的日誌紀錄是否完整、團隊內部人員是否熟悉可信賴AI倫理原則）</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1" i="0" sz="18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初步法規盤點:</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是否針對所欲發展之AI模型用途與相關設備使用所涉及的法律規範？</a:t>
              </a:r>
              <a:endParaRPr b="0" i="0" sz="1400" u="none" cap="none" strike="noStrike">
                <a:solidFill>
                  <a:srgbClr val="000000"/>
                </a:solidFill>
                <a:latin typeface="Arial"/>
                <a:ea typeface="Arial"/>
                <a:cs typeface="Arial"/>
                <a:sym typeface="Arial"/>
              </a:endParaRPr>
            </a:p>
          </p:txBody>
        </p:sp>
        <p:cxnSp>
          <p:nvCxnSpPr>
            <p:cNvPr id="209" name="Google Shape;209;p10"/>
            <p:cNvCxnSpPr/>
            <p:nvPr/>
          </p:nvCxnSpPr>
          <p:spPr>
            <a:xfrm>
              <a:off x="4068147" y="3993499"/>
              <a:ext cx="6207190" cy="0"/>
            </a:xfrm>
            <a:prstGeom prst="straightConnector1">
              <a:avLst/>
            </a:prstGeom>
            <a:noFill/>
            <a:ln cap="flat" cmpd="sng" w="9525">
              <a:solidFill>
                <a:schemeClr val="dk1"/>
              </a:solidFill>
              <a:prstDash val="solid"/>
              <a:miter lim="800000"/>
              <a:headEnd len="sm" w="sm" type="none"/>
              <a:tailEnd len="sm" w="sm" type="none"/>
            </a:ln>
          </p:spPr>
        </p:cxnSp>
      </p:grpSp>
      <p:pic>
        <p:nvPicPr>
          <p:cNvPr id="210" name="Google Shape;210;p10">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211" name="Google Shape;211;p10"/>
          <p:cNvGrpSpPr/>
          <p:nvPr/>
        </p:nvGrpSpPr>
        <p:grpSpPr>
          <a:xfrm>
            <a:off x="1058785" y="2736364"/>
            <a:ext cx="3258137" cy="1341050"/>
            <a:chOff x="1033603" y="3087582"/>
            <a:chExt cx="3258137" cy="1341050"/>
          </a:xfrm>
        </p:grpSpPr>
        <p:sp>
          <p:nvSpPr>
            <p:cNvPr id="212" name="Google Shape;212;p10"/>
            <p:cNvSpPr txBox="1"/>
            <p:nvPr/>
          </p:nvSpPr>
          <p:spPr>
            <a:xfrm>
              <a:off x="1325495"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當責性</a:t>
              </a:r>
              <a:endParaRPr b="0" i="0" sz="1400" u="none" cap="none" strike="noStrike">
                <a:solidFill>
                  <a:srgbClr val="000000"/>
                </a:solidFill>
                <a:latin typeface="Arial"/>
                <a:ea typeface="Arial"/>
                <a:cs typeface="Arial"/>
                <a:sym typeface="Arial"/>
              </a:endParaRPr>
            </a:p>
          </p:txBody>
        </p:sp>
        <p:sp>
          <p:nvSpPr>
            <p:cNvPr id="213" name="Google Shape;213;p10"/>
            <p:cNvSpPr txBox="1"/>
            <p:nvPr/>
          </p:nvSpPr>
          <p:spPr>
            <a:xfrm>
              <a:off x="1033603" y="3087582"/>
              <a:ext cx="3258137"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674310"/>
                  </a:solidFill>
                  <a:latin typeface="Arial"/>
                  <a:ea typeface="Arial"/>
                  <a:cs typeface="Arial"/>
                  <a:sym typeface="Arial"/>
                </a:rPr>
                <a:t>A</a:t>
              </a:r>
              <a:r>
                <a:rPr b="0" i="0" lang="zh-TW" sz="2800" u="sng" cap="none" strike="noStrike">
                  <a:solidFill>
                    <a:srgbClr val="000000"/>
                  </a:solidFill>
                  <a:latin typeface="Arial"/>
                  <a:ea typeface="Arial"/>
                  <a:cs typeface="Arial"/>
                  <a:sym typeface="Arial"/>
                </a:rPr>
                <a:t>ccountability</a:t>
              </a:r>
              <a:endParaRPr b="0" i="0" sz="2800" u="sng" cap="none" strike="noStrike">
                <a:solidFill>
                  <a:schemeClr val="dk1"/>
                </a:solidFill>
                <a:latin typeface="Arial"/>
                <a:ea typeface="Arial"/>
                <a:cs typeface="Arial"/>
                <a:sym typeface="Arial"/>
              </a:endParaRPr>
            </a:p>
          </p:txBody>
        </p:sp>
      </p:grpSp>
      <p:grpSp>
        <p:nvGrpSpPr>
          <p:cNvPr id="214" name="Google Shape;214;p10"/>
          <p:cNvGrpSpPr/>
          <p:nvPr/>
        </p:nvGrpSpPr>
        <p:grpSpPr>
          <a:xfrm>
            <a:off x="1959429" y="318833"/>
            <a:ext cx="1453063" cy="737119"/>
            <a:chOff x="2080727" y="858416"/>
            <a:chExt cx="1453063" cy="737119"/>
          </a:xfrm>
        </p:grpSpPr>
        <p:sp>
          <p:nvSpPr>
            <p:cNvPr id="215" name="Google Shape;215;p10"/>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建模前</a:t>
              </a:r>
              <a:endParaRPr b="0" i="0" sz="2400" u="none" cap="none" strike="noStrike">
                <a:solidFill>
                  <a:schemeClr val="dk1"/>
                </a:solidFill>
                <a:latin typeface="Calibri"/>
                <a:ea typeface="Calibri"/>
                <a:cs typeface="Calibri"/>
                <a:sym typeface="Calibri"/>
              </a:endParaRPr>
            </a:p>
          </p:txBody>
        </p:sp>
        <p:sp>
          <p:nvSpPr>
            <p:cNvPr id="216" name="Google Shape;216;p10"/>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217" name="Google Shape;217;p10">
            <a:hlinkClick action="ppaction://hlinksldjump" r:id="rId6"/>
          </p:cNvPr>
          <p:cNvPicPr preferRelativeResize="0"/>
          <p:nvPr/>
        </p:nvPicPr>
        <p:blipFill rotWithShape="1">
          <a:blip r:embed="rId7">
            <a:alphaModFix/>
          </a:blip>
          <a:srcRect b="0" l="0" r="0" t="0"/>
          <a:stretch/>
        </p:blipFill>
        <p:spPr>
          <a:xfrm>
            <a:off x="11524770" y="2435765"/>
            <a:ext cx="523394" cy="228790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11"/>
          <p:cNvPicPr preferRelativeResize="0"/>
          <p:nvPr/>
        </p:nvPicPr>
        <p:blipFill rotWithShape="1">
          <a:blip r:embed="rId3">
            <a:alphaModFix/>
          </a:blip>
          <a:srcRect b="0" l="0" r="0" t="0"/>
          <a:stretch/>
        </p:blipFill>
        <p:spPr>
          <a:xfrm>
            <a:off x="-812800" y="-457200"/>
            <a:ext cx="13817600" cy="7772400"/>
          </a:xfrm>
          <a:prstGeom prst="rect">
            <a:avLst/>
          </a:prstGeom>
          <a:noFill/>
          <a:ln>
            <a:noFill/>
          </a:ln>
        </p:spPr>
      </p:pic>
      <p:sp>
        <p:nvSpPr>
          <p:cNvPr id="223" name="Google Shape;223;p11"/>
          <p:cNvSpPr txBox="1"/>
          <p:nvPr/>
        </p:nvSpPr>
        <p:spPr>
          <a:xfrm>
            <a:off x="4243859" y="758830"/>
            <a:ext cx="6597464" cy="677198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700"/>
              <a:buFont typeface="Arial"/>
              <a:buNone/>
            </a:pPr>
            <a:r>
              <a:rPr b="1" i="0" lang="zh-TW" sz="1700" u="none" cap="none" strike="noStrike">
                <a:solidFill>
                  <a:srgbClr val="FF0000"/>
                </a:solidFill>
                <a:latin typeface="Microsoft JhengHei"/>
                <a:ea typeface="Microsoft JhengHei"/>
                <a:cs typeface="Microsoft JhengHei"/>
                <a:sym typeface="Microsoft JhengHei"/>
              </a:rPr>
              <a:t>法律與倫理問題</a:t>
            </a:r>
            <a:endParaRPr b="1" i="0" sz="17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700"/>
              <a:buFont typeface="Arial"/>
              <a:buNone/>
            </a:pPr>
            <a:r>
              <a:rPr b="1" i="0" lang="zh-TW" sz="1700" u="none" cap="none" strike="noStrike">
                <a:solidFill>
                  <a:schemeClr val="dk1"/>
                </a:solidFill>
                <a:latin typeface="Microsoft JhengHei"/>
                <a:ea typeface="Microsoft JhengHei"/>
                <a:cs typeface="Microsoft JhengHei"/>
                <a:sym typeface="Microsoft JhengHei"/>
              </a:rPr>
              <a:t>若有使用開放原始碼（Open Source）且與該開放原始碼之研發者簽訂開放原始碼授權契約，被授權者須遵照條約內容，以免有侵害著作權法之疑慮。</a:t>
            </a:r>
            <a:endParaRPr b="1" i="0" sz="1700" u="none" cap="none" strike="noStrike">
              <a:solidFill>
                <a:schemeClr val="dk1"/>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700"/>
              <a:buFont typeface="Arial"/>
              <a:buNone/>
            </a:pPr>
            <a:r>
              <a:rPr b="1" i="0" lang="zh-TW" sz="1700" u="none" cap="none" strike="noStrike">
                <a:solidFill>
                  <a:schemeClr val="dk1"/>
                </a:solidFill>
                <a:latin typeface="Microsoft JhengHei"/>
                <a:ea typeface="Microsoft JhengHei"/>
                <a:cs typeface="Microsoft JhengHei"/>
                <a:sym typeface="Microsoft JhengHei"/>
              </a:rPr>
              <a:t>須制定明確的法律規定，明確界定邊緣AI情境下本地客戶端參與模型訓練或優化時智慧財產權的歸屬和相關責任，尤其是確定專利申請的機制，明確邊緣AI情境下模型訓練或優化所產生的技術是否可申請專利，並明確專利申請流程與條件。</a:t>
            </a:r>
            <a:endParaRPr b="1" i="0" sz="1700" u="none" cap="none" strike="noStrike">
              <a:solidFill>
                <a:schemeClr val="dk1"/>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1700"/>
              <a:buFont typeface="Arial"/>
              <a:buNone/>
            </a:pPr>
            <a:r>
              <a:t/>
            </a:r>
            <a:endParaRPr b="1" i="0" sz="17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700"/>
              <a:buFont typeface="Arial"/>
              <a:buNone/>
            </a:pPr>
            <a:r>
              <a:rPr b="1" i="0" lang="zh-TW" sz="1700" u="none" cap="none" strike="noStrike">
                <a:solidFill>
                  <a:schemeClr val="dk1"/>
                </a:solidFill>
                <a:latin typeface="Microsoft JhengHei"/>
                <a:ea typeface="Microsoft JhengHei"/>
                <a:cs typeface="Microsoft JhengHei"/>
                <a:sym typeface="Microsoft JhengHei"/>
              </a:rPr>
              <a:t>在合作協議中明確納入智慧財產權相關條款，並對各項目進行細分和等級劃分。明確協商哪些條款必須堅持、可調整、可放棄，以確保各方在合作中的權益得到有效保障。</a:t>
            </a:r>
            <a:endParaRPr b="1" i="0" sz="1700" u="none" cap="none" strike="noStrike">
              <a:solidFill>
                <a:schemeClr val="dk1"/>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200"/>
              <a:buFont typeface="Arial"/>
              <a:buNone/>
            </a:pPr>
            <a:r>
              <a:rPr b="1" i="0" lang="zh-TW" sz="1200" u="none" cap="none" strike="noStrike">
                <a:solidFill>
                  <a:schemeClr val="dk1"/>
                </a:solidFill>
                <a:latin typeface="Microsoft JhengHei"/>
                <a:ea typeface="Microsoft JhengHei"/>
                <a:cs typeface="Microsoft JhengHei"/>
                <a:sym typeface="Microsoft JhengHei"/>
              </a:rPr>
              <a:t>(請參照著作權法第22條、第59條、第60條；個資法第6條第1項第3款、第9條第2項第2款、第17條、第19條第1項第3款、第51條)</a:t>
            </a:r>
            <a:endParaRPr b="1" i="0" sz="12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600"/>
              <a:buFont typeface="Arial"/>
              <a:buNone/>
            </a:pPr>
            <a:r>
              <a:t/>
            </a:r>
            <a:endParaRPr b="1" i="0" sz="16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600"/>
              <a:buFont typeface="Arial"/>
              <a:buNone/>
            </a:pPr>
            <a:r>
              <a:t/>
            </a:r>
            <a:endParaRPr b="1" i="0" sz="16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400"/>
              <a:buFont typeface="Arial"/>
              <a:buNone/>
            </a:pPr>
            <a:r>
              <a:t/>
            </a:r>
            <a:endParaRPr b="1" i="0" sz="1400" u="none" cap="none" strike="noStrike">
              <a:solidFill>
                <a:schemeClr val="dk1"/>
              </a:solidFill>
              <a:latin typeface="Microsoft JhengHei"/>
              <a:ea typeface="Microsoft JhengHei"/>
              <a:cs typeface="Microsoft JhengHei"/>
              <a:sym typeface="Microsoft JhengHei"/>
            </a:endParaRPr>
          </a:p>
        </p:txBody>
      </p:sp>
      <p:pic>
        <p:nvPicPr>
          <p:cNvPr id="224" name="Google Shape;224;p11">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225" name="Google Shape;225;p11"/>
          <p:cNvGrpSpPr/>
          <p:nvPr/>
        </p:nvGrpSpPr>
        <p:grpSpPr>
          <a:xfrm>
            <a:off x="1058785" y="2736364"/>
            <a:ext cx="3258137" cy="1341050"/>
            <a:chOff x="1033603" y="3087582"/>
            <a:chExt cx="3258137" cy="1341050"/>
          </a:xfrm>
        </p:grpSpPr>
        <p:sp>
          <p:nvSpPr>
            <p:cNvPr id="226" name="Google Shape;226;p11"/>
            <p:cNvSpPr txBox="1"/>
            <p:nvPr/>
          </p:nvSpPr>
          <p:spPr>
            <a:xfrm>
              <a:off x="1325495"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當責性</a:t>
              </a:r>
              <a:endParaRPr b="0" i="0" sz="1400" u="none" cap="none" strike="noStrike">
                <a:solidFill>
                  <a:srgbClr val="000000"/>
                </a:solidFill>
                <a:latin typeface="Arial"/>
                <a:ea typeface="Arial"/>
                <a:cs typeface="Arial"/>
                <a:sym typeface="Arial"/>
              </a:endParaRPr>
            </a:p>
          </p:txBody>
        </p:sp>
        <p:sp>
          <p:nvSpPr>
            <p:cNvPr id="227" name="Google Shape;227;p11"/>
            <p:cNvSpPr txBox="1"/>
            <p:nvPr/>
          </p:nvSpPr>
          <p:spPr>
            <a:xfrm>
              <a:off x="1033603" y="3087582"/>
              <a:ext cx="3258137"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674310"/>
                  </a:solidFill>
                  <a:latin typeface="Arial"/>
                  <a:ea typeface="Arial"/>
                  <a:cs typeface="Arial"/>
                  <a:sym typeface="Arial"/>
                </a:rPr>
                <a:t>A</a:t>
              </a:r>
              <a:r>
                <a:rPr b="0" i="0" lang="zh-TW" sz="2800" u="sng" cap="none" strike="noStrike">
                  <a:solidFill>
                    <a:srgbClr val="000000"/>
                  </a:solidFill>
                  <a:latin typeface="Arial"/>
                  <a:ea typeface="Arial"/>
                  <a:cs typeface="Arial"/>
                  <a:sym typeface="Arial"/>
                </a:rPr>
                <a:t>ccountability</a:t>
              </a:r>
              <a:endParaRPr b="0" i="0" sz="2800" u="sng" cap="none" strike="noStrike">
                <a:solidFill>
                  <a:schemeClr val="dk1"/>
                </a:solidFill>
                <a:latin typeface="Arial"/>
                <a:ea typeface="Arial"/>
                <a:cs typeface="Arial"/>
                <a:sym typeface="Arial"/>
              </a:endParaRPr>
            </a:p>
          </p:txBody>
        </p:sp>
      </p:grpSp>
      <p:grpSp>
        <p:nvGrpSpPr>
          <p:cNvPr id="228" name="Google Shape;228;p11"/>
          <p:cNvGrpSpPr/>
          <p:nvPr/>
        </p:nvGrpSpPr>
        <p:grpSpPr>
          <a:xfrm>
            <a:off x="1959429" y="318833"/>
            <a:ext cx="1453063" cy="737119"/>
            <a:chOff x="2080727" y="858416"/>
            <a:chExt cx="1453063" cy="737119"/>
          </a:xfrm>
        </p:grpSpPr>
        <p:sp>
          <p:nvSpPr>
            <p:cNvPr id="229" name="Google Shape;229;p11"/>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建模前</a:t>
              </a:r>
              <a:endParaRPr b="0" i="0" sz="2400" u="none" cap="none" strike="noStrike">
                <a:solidFill>
                  <a:schemeClr val="dk1"/>
                </a:solidFill>
                <a:latin typeface="Calibri"/>
                <a:ea typeface="Calibri"/>
                <a:cs typeface="Calibri"/>
                <a:sym typeface="Calibri"/>
              </a:endParaRPr>
            </a:p>
          </p:txBody>
        </p:sp>
        <p:sp>
          <p:nvSpPr>
            <p:cNvPr id="230" name="Google Shape;230;p11"/>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231" name="Google Shape;231;p11">
            <a:hlinkClick action="ppaction://hlinksldjump" r:id="rId6"/>
          </p:cNvPr>
          <p:cNvPicPr preferRelativeResize="0"/>
          <p:nvPr/>
        </p:nvPicPr>
        <p:blipFill rotWithShape="1">
          <a:blip r:embed="rId7">
            <a:alphaModFix/>
          </a:blip>
          <a:srcRect b="0" l="0" r="0" t="0"/>
          <a:stretch/>
        </p:blipFill>
        <p:spPr>
          <a:xfrm>
            <a:off x="11386484" y="5498036"/>
            <a:ext cx="612902" cy="61290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id="236" name="Google Shape;236;p12"/>
          <p:cNvPicPr preferRelativeResize="0"/>
          <p:nvPr/>
        </p:nvPicPr>
        <p:blipFill rotWithShape="1">
          <a:blip r:embed="rId3">
            <a:alphaModFix/>
          </a:blip>
          <a:srcRect b="0" l="0" r="0" t="0"/>
          <a:stretch/>
        </p:blipFill>
        <p:spPr>
          <a:xfrm>
            <a:off x="-819150" y="-460772"/>
            <a:ext cx="13830300" cy="7779544"/>
          </a:xfrm>
          <a:prstGeom prst="rect">
            <a:avLst/>
          </a:prstGeom>
          <a:noFill/>
          <a:ln>
            <a:noFill/>
          </a:ln>
        </p:spPr>
      </p:pic>
      <p:grpSp>
        <p:nvGrpSpPr>
          <p:cNvPr id="237" name="Google Shape;237;p12"/>
          <p:cNvGrpSpPr/>
          <p:nvPr/>
        </p:nvGrpSpPr>
        <p:grpSpPr>
          <a:xfrm>
            <a:off x="4358432" y="2051566"/>
            <a:ext cx="6272505" cy="3457741"/>
            <a:chOff x="4002832" y="2165866"/>
            <a:chExt cx="6272505" cy="3457741"/>
          </a:xfrm>
        </p:grpSpPr>
        <p:sp>
          <p:nvSpPr>
            <p:cNvPr id="238" name="Google Shape;238;p12"/>
            <p:cNvSpPr txBox="1"/>
            <p:nvPr/>
          </p:nvSpPr>
          <p:spPr>
            <a:xfrm>
              <a:off x="4002832" y="2165866"/>
              <a:ext cx="6097554" cy="345774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決策結果:</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針對未來將使用何種方式向使用者解釋AI模型的決策結果，是否規劃建立解釋機制？</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t/>
              </a:r>
              <a:endParaRPr b="1" i="0" sz="18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決策邏輯:</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針對未來將使用何種方式向使用者解釋AI模型的決策邏輯（即資料輸入與決策結果的因果關係），是否規劃建立解釋機制？</a:t>
              </a:r>
              <a:endParaRPr b="0" i="0" sz="1400" u="none" cap="none" strike="noStrike">
                <a:solidFill>
                  <a:srgbClr val="000000"/>
                </a:solidFill>
                <a:latin typeface="Arial"/>
                <a:ea typeface="Arial"/>
                <a:cs typeface="Arial"/>
                <a:sym typeface="Arial"/>
              </a:endParaRPr>
            </a:p>
          </p:txBody>
        </p:sp>
        <p:cxnSp>
          <p:nvCxnSpPr>
            <p:cNvPr id="239" name="Google Shape;239;p12"/>
            <p:cNvCxnSpPr/>
            <p:nvPr/>
          </p:nvCxnSpPr>
          <p:spPr>
            <a:xfrm>
              <a:off x="4068147" y="3741574"/>
              <a:ext cx="6207190" cy="0"/>
            </a:xfrm>
            <a:prstGeom prst="straightConnector1">
              <a:avLst/>
            </a:prstGeom>
            <a:noFill/>
            <a:ln cap="flat" cmpd="sng" w="9525">
              <a:solidFill>
                <a:schemeClr val="dk1"/>
              </a:solidFill>
              <a:prstDash val="solid"/>
              <a:miter lim="800000"/>
              <a:headEnd len="sm" w="sm" type="none"/>
              <a:tailEnd len="sm" w="sm" type="none"/>
            </a:ln>
          </p:spPr>
        </p:cxnSp>
      </p:grpSp>
      <p:pic>
        <p:nvPicPr>
          <p:cNvPr id="240" name="Google Shape;240;p12">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241" name="Google Shape;241;p12"/>
          <p:cNvGrpSpPr/>
          <p:nvPr/>
        </p:nvGrpSpPr>
        <p:grpSpPr>
          <a:xfrm>
            <a:off x="1111817" y="2805984"/>
            <a:ext cx="3071664" cy="1347631"/>
            <a:chOff x="980776" y="3081001"/>
            <a:chExt cx="3071664" cy="1347631"/>
          </a:xfrm>
        </p:grpSpPr>
        <p:sp>
          <p:nvSpPr>
            <p:cNvPr id="242" name="Google Shape;242;p12"/>
            <p:cNvSpPr txBox="1"/>
            <p:nvPr/>
          </p:nvSpPr>
          <p:spPr>
            <a:xfrm>
              <a:off x="1179432"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可解釋性</a:t>
              </a:r>
              <a:endParaRPr b="0" i="0" sz="1400" u="none" cap="none" strike="noStrike">
                <a:solidFill>
                  <a:srgbClr val="000000"/>
                </a:solidFill>
                <a:latin typeface="Arial"/>
                <a:ea typeface="Arial"/>
                <a:cs typeface="Arial"/>
                <a:sym typeface="Arial"/>
              </a:endParaRPr>
            </a:p>
          </p:txBody>
        </p:sp>
        <p:sp>
          <p:nvSpPr>
            <p:cNvPr id="243" name="Google Shape;243;p12"/>
            <p:cNvSpPr txBox="1"/>
            <p:nvPr/>
          </p:nvSpPr>
          <p:spPr>
            <a:xfrm>
              <a:off x="980776" y="3081001"/>
              <a:ext cx="3071664"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B6925F"/>
                  </a:solidFill>
                  <a:latin typeface="Arial"/>
                  <a:ea typeface="Arial"/>
                  <a:cs typeface="Arial"/>
                  <a:sym typeface="Arial"/>
                </a:rPr>
                <a:t>E</a:t>
              </a:r>
              <a:r>
                <a:rPr b="0" i="0" lang="zh-TW" sz="2800" u="sng" cap="none" strike="noStrike">
                  <a:solidFill>
                    <a:schemeClr val="dk1"/>
                  </a:solidFill>
                  <a:latin typeface="Arial"/>
                  <a:ea typeface="Arial"/>
                  <a:cs typeface="Arial"/>
                  <a:sym typeface="Arial"/>
                </a:rPr>
                <a:t>xplainability</a:t>
              </a:r>
              <a:endParaRPr b="0" i="0" sz="2800" u="sng" cap="none" strike="noStrike">
                <a:solidFill>
                  <a:schemeClr val="dk1"/>
                </a:solidFill>
                <a:latin typeface="Arial"/>
                <a:ea typeface="Arial"/>
                <a:cs typeface="Arial"/>
                <a:sym typeface="Arial"/>
              </a:endParaRPr>
            </a:p>
          </p:txBody>
        </p:sp>
      </p:grpSp>
      <p:grpSp>
        <p:nvGrpSpPr>
          <p:cNvPr id="244" name="Google Shape;244;p12"/>
          <p:cNvGrpSpPr/>
          <p:nvPr/>
        </p:nvGrpSpPr>
        <p:grpSpPr>
          <a:xfrm>
            <a:off x="1921117" y="318837"/>
            <a:ext cx="1453063" cy="737119"/>
            <a:chOff x="2080727" y="858416"/>
            <a:chExt cx="1453063" cy="737119"/>
          </a:xfrm>
        </p:grpSpPr>
        <p:sp>
          <p:nvSpPr>
            <p:cNvPr id="245" name="Google Shape;245;p12"/>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建模前</a:t>
              </a:r>
              <a:endParaRPr b="0" i="0" sz="2400" u="none" cap="none" strike="noStrike">
                <a:solidFill>
                  <a:schemeClr val="dk1"/>
                </a:solidFill>
                <a:latin typeface="Calibri"/>
                <a:ea typeface="Calibri"/>
                <a:cs typeface="Calibri"/>
                <a:sym typeface="Calibri"/>
              </a:endParaRPr>
            </a:p>
          </p:txBody>
        </p:sp>
        <p:sp>
          <p:nvSpPr>
            <p:cNvPr id="246" name="Google Shape;246;p12"/>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id="251" name="Google Shape;251;p13"/>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252" name="Google Shape;252;p13"/>
          <p:cNvGrpSpPr/>
          <p:nvPr/>
        </p:nvGrpSpPr>
        <p:grpSpPr>
          <a:xfrm>
            <a:off x="5016471" y="2655776"/>
            <a:ext cx="4923194" cy="1621095"/>
            <a:chOff x="3423661" y="2554114"/>
            <a:chExt cx="7222834" cy="2378314"/>
          </a:xfrm>
        </p:grpSpPr>
        <p:pic>
          <p:nvPicPr>
            <p:cNvPr id="253" name="Google Shape;253;p13"/>
            <p:cNvPicPr preferRelativeResize="0"/>
            <p:nvPr/>
          </p:nvPicPr>
          <p:blipFill rotWithShape="1">
            <a:blip r:embed="rId4">
              <a:alphaModFix/>
            </a:blip>
            <a:srcRect b="0" l="0" r="0" t="0"/>
            <a:stretch/>
          </p:blipFill>
          <p:spPr>
            <a:xfrm>
              <a:off x="3423661" y="2554115"/>
              <a:ext cx="4227442" cy="2378313"/>
            </a:xfrm>
            <a:prstGeom prst="rect">
              <a:avLst/>
            </a:prstGeom>
            <a:noFill/>
            <a:ln>
              <a:noFill/>
            </a:ln>
          </p:spPr>
        </p:pic>
        <p:pic>
          <p:nvPicPr>
            <p:cNvPr id="254" name="Google Shape;254;p13"/>
            <p:cNvPicPr preferRelativeResize="0"/>
            <p:nvPr/>
          </p:nvPicPr>
          <p:blipFill rotWithShape="1">
            <a:blip r:embed="rId5">
              <a:alphaModFix/>
            </a:blip>
            <a:srcRect b="0" l="0" r="0" t="0"/>
            <a:stretch/>
          </p:blipFill>
          <p:spPr>
            <a:xfrm>
              <a:off x="6420258" y="2554114"/>
              <a:ext cx="4226237" cy="2378313"/>
            </a:xfrm>
            <a:prstGeom prst="rect">
              <a:avLst/>
            </a:prstGeom>
            <a:noFill/>
            <a:ln>
              <a:noFill/>
            </a:ln>
          </p:spPr>
        </p:pic>
      </p:grpSp>
      <p:pic>
        <p:nvPicPr>
          <p:cNvPr id="255" name="Google Shape;255;p13">
            <a:hlinkClick action="ppaction://hlinksldjump" r:id="rId6"/>
          </p:cNvPr>
          <p:cNvPicPr preferRelativeResize="0"/>
          <p:nvPr/>
        </p:nvPicPr>
        <p:blipFill rotWithShape="1">
          <a:blip r:embed="rId7">
            <a:alphaModFix/>
          </a:blip>
          <a:srcRect b="0" l="0" r="0" t="0"/>
          <a:stretch/>
        </p:blipFill>
        <p:spPr>
          <a:xfrm>
            <a:off x="11314519" y="6048961"/>
            <a:ext cx="756832" cy="715314"/>
          </a:xfrm>
          <a:prstGeom prst="rect">
            <a:avLst/>
          </a:prstGeom>
          <a:noFill/>
          <a:ln>
            <a:noFill/>
          </a:ln>
        </p:spPr>
      </p:pic>
      <p:grpSp>
        <p:nvGrpSpPr>
          <p:cNvPr id="256" name="Google Shape;256;p13"/>
          <p:cNvGrpSpPr/>
          <p:nvPr/>
        </p:nvGrpSpPr>
        <p:grpSpPr>
          <a:xfrm>
            <a:off x="2342119" y="2819248"/>
            <a:ext cx="2674353" cy="1347631"/>
            <a:chOff x="1469994" y="3081001"/>
            <a:chExt cx="2674353" cy="1347631"/>
          </a:xfrm>
        </p:grpSpPr>
        <p:sp>
          <p:nvSpPr>
            <p:cNvPr id="257" name="Google Shape;257;p13"/>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自主性</a:t>
              </a:r>
              <a:endParaRPr b="0" i="0" sz="1400" u="none" cap="none" strike="noStrike">
                <a:solidFill>
                  <a:srgbClr val="000000"/>
                </a:solidFill>
                <a:latin typeface="Arial"/>
                <a:ea typeface="Arial"/>
                <a:cs typeface="Arial"/>
                <a:sym typeface="Arial"/>
              </a:endParaRPr>
            </a:p>
          </p:txBody>
        </p:sp>
        <p:sp>
          <p:nvSpPr>
            <p:cNvPr id="258" name="Google Shape;258;p13"/>
            <p:cNvSpPr txBox="1"/>
            <p:nvPr/>
          </p:nvSpPr>
          <p:spPr>
            <a:xfrm>
              <a:off x="1606534" y="3081001"/>
              <a:ext cx="2401272"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6B5943"/>
                  </a:solidFill>
                  <a:latin typeface="Arial"/>
                  <a:ea typeface="Arial"/>
                  <a:cs typeface="Arial"/>
                  <a:sym typeface="Arial"/>
                </a:rPr>
                <a:t>A</a:t>
              </a:r>
              <a:r>
                <a:rPr b="0" i="0" lang="zh-TW" sz="2800" u="sng" cap="none" strike="noStrike">
                  <a:solidFill>
                    <a:schemeClr val="dk1"/>
                  </a:solidFill>
                  <a:latin typeface="Arial"/>
                  <a:ea typeface="Arial"/>
                  <a:cs typeface="Arial"/>
                  <a:sym typeface="Arial"/>
                </a:rPr>
                <a:t>utonomy</a:t>
              </a:r>
              <a:endParaRPr b="0" i="0" sz="2800" u="sng" cap="none" strike="noStrike">
                <a:solidFill>
                  <a:schemeClr val="dk1"/>
                </a:solidFill>
                <a:latin typeface="Arial"/>
                <a:ea typeface="Arial"/>
                <a:cs typeface="Arial"/>
                <a:sym typeface="Arial"/>
              </a:endParaRPr>
            </a:p>
          </p:txBody>
        </p:sp>
      </p:grpSp>
      <p:sp>
        <p:nvSpPr>
          <p:cNvPr id="259" name="Google Shape;259;p13">
            <a:hlinkClick action="ppaction://hlinksldjump" r:id="rId8"/>
          </p:cNvPr>
          <p:cNvSpPr/>
          <p:nvPr/>
        </p:nvSpPr>
        <p:spPr>
          <a:xfrm>
            <a:off x="5753100" y="2844024"/>
            <a:ext cx="1409700" cy="1295400"/>
          </a:xfrm>
          <a:prstGeom prst="roundRect">
            <a:avLst>
              <a:gd fmla="val 16667" name="adj"/>
            </a:avLst>
          </a:prstGeom>
          <a:solidFill>
            <a:srgbClr val="E6E6E6">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0" name="Google Shape;260;p13">
            <a:hlinkClick action="ppaction://hlinksldjump" r:id="rId9"/>
          </p:cNvPr>
          <p:cNvSpPr/>
          <p:nvPr/>
        </p:nvSpPr>
        <p:spPr>
          <a:xfrm>
            <a:off x="7827347" y="2818623"/>
            <a:ext cx="1409700" cy="1295400"/>
          </a:xfrm>
          <a:prstGeom prst="roundRect">
            <a:avLst>
              <a:gd fmla="val 16667" name="adj"/>
            </a:avLst>
          </a:prstGeom>
          <a:solidFill>
            <a:srgbClr val="E6E6E6">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261" name="Google Shape;261;p13"/>
          <p:cNvGrpSpPr/>
          <p:nvPr/>
        </p:nvGrpSpPr>
        <p:grpSpPr>
          <a:xfrm>
            <a:off x="1950098" y="682731"/>
            <a:ext cx="1453063" cy="737119"/>
            <a:chOff x="2080727" y="858416"/>
            <a:chExt cx="1453063" cy="737119"/>
          </a:xfrm>
        </p:grpSpPr>
        <p:sp>
          <p:nvSpPr>
            <p:cNvPr id="262" name="Google Shape;262;p13"/>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建模前</a:t>
              </a:r>
              <a:endParaRPr b="0" i="0" sz="2400" u="none" cap="none" strike="noStrike">
                <a:solidFill>
                  <a:schemeClr val="dk1"/>
                </a:solidFill>
                <a:latin typeface="Calibri"/>
                <a:ea typeface="Calibri"/>
                <a:cs typeface="Calibri"/>
                <a:sym typeface="Calibri"/>
              </a:endParaRPr>
            </a:p>
          </p:txBody>
        </p:sp>
        <p:sp>
          <p:nvSpPr>
            <p:cNvPr id="263" name="Google Shape;263;p13"/>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pic>
        <p:nvPicPr>
          <p:cNvPr id="268" name="Google Shape;268;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69" name="Google Shape;269;p14"/>
          <p:cNvSpPr txBox="1"/>
          <p:nvPr/>
        </p:nvSpPr>
        <p:spPr>
          <a:xfrm>
            <a:off x="4096560" y="1511176"/>
            <a:ext cx="6096000" cy="475040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建立準確性溝通機制:</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rgbClr val="000000"/>
                </a:solidFill>
                <a:latin typeface="Microsoft JhengHei"/>
                <a:ea typeface="Microsoft JhengHei"/>
                <a:cs typeface="Microsoft JhengHei"/>
                <a:sym typeface="Microsoft JhengHei"/>
              </a:rPr>
              <a:t>是否即將訂定程序，用於未來告知使用者AI模型準確性？</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br>
              <a:rPr b="1" i="0" lang="zh-TW" sz="1800" u="none" cap="none" strike="noStrike">
                <a:solidFill>
                  <a:srgbClr val="FF0000"/>
                </a:solidFill>
                <a:latin typeface="Microsoft JhengHei"/>
                <a:ea typeface="Microsoft JhengHei"/>
                <a:cs typeface="Microsoft JhengHei"/>
                <a:sym typeface="Microsoft JhengHei"/>
              </a:rPr>
            </a:br>
            <a:r>
              <a:rPr b="1" i="0" lang="zh-TW" sz="2000" u="none" cap="none" strike="noStrike">
                <a:solidFill>
                  <a:srgbClr val="FF0000"/>
                </a:solidFill>
                <a:latin typeface="Microsoft JhengHei"/>
                <a:ea typeface="Microsoft JhengHei"/>
                <a:cs typeface="Microsoft JhengHei"/>
                <a:sym typeface="Microsoft JhengHei"/>
              </a:rPr>
              <a:t>建立風險溝通機制</a:t>
            </a:r>
            <a:r>
              <a:rPr b="1" i="0" lang="zh-TW" sz="1800" u="none" cap="none" strike="noStrike">
                <a:solidFill>
                  <a:srgbClr val="FF0000"/>
                </a:solidFill>
                <a:latin typeface="Microsoft JhengHei"/>
                <a:ea typeface="Microsoft JhengHei"/>
                <a:cs typeface="Microsoft JhengHei"/>
                <a:sym typeface="Microsoft JhengHei"/>
              </a:rPr>
              <a:t>:</a:t>
            </a:r>
            <a:endParaRPr b="1" i="0" sz="18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rgbClr val="000000"/>
                </a:solidFill>
                <a:latin typeface="Microsoft JhengHei"/>
                <a:ea typeface="Microsoft JhengHei"/>
                <a:cs typeface="Microsoft JhengHei"/>
                <a:sym typeface="Microsoft JhengHei"/>
              </a:rPr>
              <a:t>是否即將訂定程序，用於未來告知使用者AI模型的技術限制和潛在風險？</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br>
              <a:rPr b="1" i="0" lang="zh-TW" sz="1800" u="none" cap="none" strike="noStrike">
                <a:solidFill>
                  <a:schemeClr val="dk1"/>
                </a:solidFill>
                <a:latin typeface="Microsoft JhengHei"/>
                <a:ea typeface="Microsoft JhengHei"/>
                <a:cs typeface="Microsoft JhengHei"/>
                <a:sym typeface="Microsoft JhengHei"/>
              </a:rPr>
            </a:br>
            <a:r>
              <a:rPr b="1" i="0" lang="zh-TW" sz="2000" u="none" cap="none" strike="noStrike">
                <a:solidFill>
                  <a:srgbClr val="FF0000"/>
                </a:solidFill>
                <a:latin typeface="Microsoft JhengHei"/>
                <a:ea typeface="Microsoft JhengHei"/>
                <a:cs typeface="Microsoft JhengHei"/>
                <a:sym typeface="Microsoft JhengHei"/>
              </a:rPr>
              <a:t>導入人為監督機制</a:t>
            </a:r>
            <a:r>
              <a:rPr b="1" i="0" lang="zh-TW" sz="1800" u="none" cap="none" strike="noStrike">
                <a:solidFill>
                  <a:srgbClr val="FF0000"/>
                </a:solidFill>
                <a:latin typeface="Microsoft JhengHei"/>
                <a:ea typeface="Microsoft JhengHei"/>
                <a:cs typeface="Microsoft JhengHei"/>
                <a:sym typeface="Microsoft JhengHei"/>
              </a:rPr>
              <a:t>:</a:t>
            </a:r>
            <a:endParaRPr b="1" i="0" sz="18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rgbClr val="000000"/>
                </a:solidFill>
                <a:latin typeface="Microsoft JhengHei"/>
                <a:ea typeface="Microsoft JhengHei"/>
                <a:cs typeface="Microsoft JhengHei"/>
                <a:sym typeface="Microsoft JhengHei"/>
              </a:rPr>
              <a:t>是否即將導入人為監督機制於AI模型中？</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br>
              <a:rPr b="1" i="0" lang="zh-TW" sz="1800" u="none" cap="none" strike="noStrike">
                <a:solidFill>
                  <a:schemeClr val="dk1"/>
                </a:solidFill>
                <a:latin typeface="Microsoft JhengHei"/>
                <a:ea typeface="Microsoft JhengHei"/>
                <a:cs typeface="Microsoft JhengHei"/>
                <a:sym typeface="Microsoft JhengHei"/>
              </a:rPr>
            </a:br>
            <a:endParaRPr b="1" i="0" sz="1800" u="none" cap="none" strike="noStrike">
              <a:solidFill>
                <a:schemeClr val="dk1"/>
              </a:solidFill>
              <a:latin typeface="Microsoft JhengHei"/>
              <a:ea typeface="Microsoft JhengHei"/>
              <a:cs typeface="Microsoft JhengHei"/>
              <a:sym typeface="Microsoft JhengHei"/>
            </a:endParaRPr>
          </a:p>
        </p:txBody>
      </p:sp>
      <p:cxnSp>
        <p:nvCxnSpPr>
          <p:cNvPr id="270" name="Google Shape;270;p14"/>
          <p:cNvCxnSpPr/>
          <p:nvPr/>
        </p:nvCxnSpPr>
        <p:spPr>
          <a:xfrm>
            <a:off x="4161876" y="2672299"/>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271" name="Google Shape;271;p14"/>
          <p:cNvCxnSpPr/>
          <p:nvPr/>
        </p:nvCxnSpPr>
        <p:spPr>
          <a:xfrm>
            <a:off x="4161876" y="4348697"/>
            <a:ext cx="6207190" cy="0"/>
          </a:xfrm>
          <a:prstGeom prst="straightConnector1">
            <a:avLst/>
          </a:prstGeom>
          <a:noFill/>
          <a:ln cap="flat" cmpd="sng" w="9525">
            <a:solidFill>
              <a:schemeClr val="dk1"/>
            </a:solidFill>
            <a:prstDash val="solid"/>
            <a:miter lim="800000"/>
            <a:headEnd len="sm" w="sm" type="none"/>
            <a:tailEnd len="sm" w="sm" type="none"/>
          </a:ln>
        </p:spPr>
      </p:cxnSp>
      <p:sp>
        <p:nvSpPr>
          <p:cNvPr id="272" name="Google Shape;272;p14">
            <a:hlinkClick action="ppaction://hlinkshowjump?jump=previousslide"/>
          </p:cNvPr>
          <p:cNvSpPr/>
          <p:nvPr/>
        </p:nvSpPr>
        <p:spPr>
          <a:xfrm>
            <a:off x="11026658" y="6276670"/>
            <a:ext cx="423924" cy="423924"/>
          </a:xfrm>
          <a:custGeom>
            <a:rect b="b" l="l" r="r" t="t"/>
            <a:pathLst>
              <a:path extrusionOk="0" h="120000" w="120000">
                <a:moveTo>
                  <a:pt x="0" y="0"/>
                </a:moveTo>
                <a:lnTo>
                  <a:pt x="120000" y="0"/>
                </a:lnTo>
                <a:lnTo>
                  <a:pt x="120000" y="120000"/>
                </a:lnTo>
                <a:lnTo>
                  <a:pt x="0" y="120000"/>
                </a:lnTo>
                <a:close/>
                <a:moveTo>
                  <a:pt x="15000" y="60000"/>
                </a:moveTo>
                <a:lnTo>
                  <a:pt x="105000" y="15000"/>
                </a:lnTo>
                <a:lnTo>
                  <a:pt x="105000" y="105000"/>
                </a:lnTo>
                <a:close/>
              </a:path>
              <a:path extrusionOk="0" fill="darken" h="120000" w="120000">
                <a:moveTo>
                  <a:pt x="15000" y="60000"/>
                </a:moveTo>
                <a:lnTo>
                  <a:pt x="105000" y="15000"/>
                </a:lnTo>
                <a:lnTo>
                  <a:pt x="105000" y="105000"/>
                </a:lnTo>
                <a:close/>
              </a:path>
              <a:path extrusionOk="0" fill="none" h="120000" w="120000">
                <a:moveTo>
                  <a:pt x="15000" y="60000"/>
                </a:moveTo>
                <a:lnTo>
                  <a:pt x="105000" y="15000"/>
                </a:lnTo>
                <a:lnTo>
                  <a:pt x="105000" y="105000"/>
                </a:lnTo>
                <a:close/>
              </a:path>
              <a:path extrusionOk="0" fill="none" h="120000" w="120000">
                <a:moveTo>
                  <a:pt x="0" y="0"/>
                </a:moveTo>
                <a:lnTo>
                  <a:pt x="120000" y="0"/>
                </a:lnTo>
                <a:lnTo>
                  <a:pt x="120000" y="120000"/>
                </a:lnTo>
                <a:lnTo>
                  <a:pt x="0" y="120000"/>
                </a:lnTo>
                <a:close/>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73" name="Google Shape;273;p14">
            <a:hlinkClick action="ppaction://hlinksldjump" r:id="rId4"/>
          </p:cNvPr>
          <p:cNvPicPr preferRelativeResize="0"/>
          <p:nvPr/>
        </p:nvPicPr>
        <p:blipFill rotWithShape="1">
          <a:blip r:embed="rId5">
            <a:alphaModFix/>
          </a:blip>
          <a:srcRect b="0" l="0" r="0" t="0"/>
          <a:stretch/>
        </p:blipFill>
        <p:spPr>
          <a:xfrm>
            <a:off x="11417475" y="6102338"/>
            <a:ext cx="756832" cy="715314"/>
          </a:xfrm>
          <a:prstGeom prst="rect">
            <a:avLst/>
          </a:prstGeom>
          <a:noFill/>
          <a:ln>
            <a:noFill/>
          </a:ln>
        </p:spPr>
      </p:pic>
      <p:grpSp>
        <p:nvGrpSpPr>
          <p:cNvPr id="274" name="Google Shape;274;p14"/>
          <p:cNvGrpSpPr/>
          <p:nvPr/>
        </p:nvGrpSpPr>
        <p:grpSpPr>
          <a:xfrm>
            <a:off x="1529319" y="2870715"/>
            <a:ext cx="2674353" cy="1347631"/>
            <a:chOff x="1469994" y="3081001"/>
            <a:chExt cx="2674353" cy="1347631"/>
          </a:xfrm>
        </p:grpSpPr>
        <p:sp>
          <p:nvSpPr>
            <p:cNvPr id="275" name="Google Shape;275;p14"/>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自主性</a:t>
              </a:r>
              <a:endParaRPr b="0" i="0" sz="1400" u="none" cap="none" strike="noStrike">
                <a:solidFill>
                  <a:srgbClr val="000000"/>
                </a:solidFill>
                <a:latin typeface="Arial"/>
                <a:ea typeface="Arial"/>
                <a:cs typeface="Arial"/>
                <a:sym typeface="Arial"/>
              </a:endParaRPr>
            </a:p>
          </p:txBody>
        </p:sp>
        <p:sp>
          <p:nvSpPr>
            <p:cNvPr id="276" name="Google Shape;276;p14"/>
            <p:cNvSpPr txBox="1"/>
            <p:nvPr/>
          </p:nvSpPr>
          <p:spPr>
            <a:xfrm>
              <a:off x="1606534" y="3081001"/>
              <a:ext cx="2401272"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6B5943"/>
                  </a:solidFill>
                  <a:latin typeface="Arial"/>
                  <a:ea typeface="Arial"/>
                  <a:cs typeface="Arial"/>
                  <a:sym typeface="Arial"/>
                </a:rPr>
                <a:t>A</a:t>
              </a:r>
              <a:r>
                <a:rPr b="0" i="0" lang="zh-TW" sz="2800" u="sng" cap="none" strike="noStrike">
                  <a:solidFill>
                    <a:schemeClr val="dk1"/>
                  </a:solidFill>
                  <a:latin typeface="Arial"/>
                  <a:ea typeface="Arial"/>
                  <a:cs typeface="Arial"/>
                  <a:sym typeface="Arial"/>
                </a:rPr>
                <a:t>utonomy</a:t>
              </a:r>
              <a:endParaRPr b="0" i="0" sz="2800" u="sng" cap="none" strike="noStrike">
                <a:solidFill>
                  <a:schemeClr val="dk1"/>
                </a:solidFill>
                <a:latin typeface="Arial"/>
                <a:ea typeface="Arial"/>
                <a:cs typeface="Arial"/>
                <a:sym typeface="Arial"/>
              </a:endParaRPr>
            </a:p>
          </p:txBody>
        </p:sp>
      </p:grpSp>
      <p:pic>
        <p:nvPicPr>
          <p:cNvPr id="277" name="Google Shape;277;p14">
            <a:hlinkClick action="ppaction://hlinksldjump" r:id="rId6"/>
          </p:cNvPr>
          <p:cNvPicPr preferRelativeResize="0"/>
          <p:nvPr/>
        </p:nvPicPr>
        <p:blipFill rotWithShape="1">
          <a:blip r:embed="rId7">
            <a:alphaModFix/>
          </a:blip>
          <a:srcRect b="0" l="0" r="0" t="0"/>
          <a:stretch/>
        </p:blipFill>
        <p:spPr>
          <a:xfrm>
            <a:off x="9790179" y="5480910"/>
            <a:ext cx="1046060" cy="588502"/>
          </a:xfrm>
          <a:prstGeom prst="rect">
            <a:avLst/>
          </a:prstGeom>
          <a:noFill/>
          <a:ln>
            <a:noFill/>
          </a:ln>
        </p:spPr>
      </p:pic>
      <p:grpSp>
        <p:nvGrpSpPr>
          <p:cNvPr id="278" name="Google Shape;278;p14"/>
          <p:cNvGrpSpPr/>
          <p:nvPr/>
        </p:nvGrpSpPr>
        <p:grpSpPr>
          <a:xfrm>
            <a:off x="1950098" y="682731"/>
            <a:ext cx="1453063" cy="737119"/>
            <a:chOff x="2080727" y="858416"/>
            <a:chExt cx="1453063" cy="737119"/>
          </a:xfrm>
        </p:grpSpPr>
        <p:sp>
          <p:nvSpPr>
            <p:cNvPr id="279" name="Google Shape;279;p14"/>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建模前</a:t>
              </a:r>
              <a:endParaRPr b="0" i="0" sz="2400" u="none" cap="none" strike="noStrike">
                <a:solidFill>
                  <a:schemeClr val="dk1"/>
                </a:solidFill>
                <a:latin typeface="Calibri"/>
                <a:ea typeface="Calibri"/>
                <a:cs typeface="Calibri"/>
                <a:sym typeface="Calibri"/>
              </a:endParaRPr>
            </a:p>
          </p:txBody>
        </p:sp>
        <p:sp>
          <p:nvSpPr>
            <p:cNvPr id="280" name="Google Shape;280;p14"/>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pic>
        <p:nvPicPr>
          <p:cNvPr id="285" name="Google Shape;285;p15"/>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286" name="Google Shape;286;p15"/>
          <p:cNvGrpSpPr/>
          <p:nvPr/>
        </p:nvGrpSpPr>
        <p:grpSpPr>
          <a:xfrm>
            <a:off x="4091883" y="1138647"/>
            <a:ext cx="6207190" cy="4504182"/>
            <a:chOff x="4091883" y="1481547"/>
            <a:chExt cx="6207190" cy="4504182"/>
          </a:xfrm>
        </p:grpSpPr>
        <p:sp>
          <p:nvSpPr>
            <p:cNvPr id="287" name="Google Shape;287;p15"/>
            <p:cNvSpPr txBox="1"/>
            <p:nvPr/>
          </p:nvSpPr>
          <p:spPr>
            <a:xfrm>
              <a:off x="4091883" y="1481547"/>
              <a:ext cx="6096000" cy="450418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互動關係:</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是否預設使用者與AI模型的互動模式？</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0" i="0" lang="zh-TW" sz="1800" u="none" cap="none" strike="noStrike">
                  <a:solidFill>
                    <a:srgbClr val="713613"/>
                  </a:solidFill>
                  <a:latin typeface="Microsoft JhengHei"/>
                  <a:ea typeface="Microsoft JhengHei"/>
                  <a:cs typeface="Microsoft JhengHei"/>
                  <a:sym typeface="Microsoft JhengHei"/>
                </a:rPr>
                <a:t>（例如:增能、監督、取代等等）</a:t>
              </a:r>
              <a:endParaRPr b="0" i="0" sz="1800" u="none" cap="none" strike="noStrike">
                <a:solidFill>
                  <a:srgbClr val="713613"/>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教育訓練:</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是否規劃設計訓練教材，用於未來教導使用者如何監督或阻斷AI模型？</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偵測與回報:</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針對使用者與AI模型互動所帶來的負面影響，是否規劃建立偵測和回報機制？</a:t>
              </a:r>
              <a:endParaRPr b="0" i="0" sz="1400" u="none" cap="none" strike="noStrike">
                <a:solidFill>
                  <a:srgbClr val="000000"/>
                </a:solidFill>
                <a:latin typeface="Arial"/>
                <a:ea typeface="Arial"/>
                <a:cs typeface="Arial"/>
                <a:sym typeface="Arial"/>
              </a:endParaRPr>
            </a:p>
          </p:txBody>
        </p:sp>
        <p:cxnSp>
          <p:nvCxnSpPr>
            <p:cNvPr id="288" name="Google Shape;288;p15"/>
            <p:cNvCxnSpPr/>
            <p:nvPr/>
          </p:nvCxnSpPr>
          <p:spPr>
            <a:xfrm>
              <a:off x="4091883" y="2973356"/>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289" name="Google Shape;289;p15"/>
            <p:cNvCxnSpPr/>
            <p:nvPr/>
          </p:nvCxnSpPr>
          <p:spPr>
            <a:xfrm>
              <a:off x="4091883" y="4514461"/>
              <a:ext cx="6207190" cy="0"/>
            </a:xfrm>
            <a:prstGeom prst="straightConnector1">
              <a:avLst/>
            </a:prstGeom>
            <a:noFill/>
            <a:ln cap="flat" cmpd="sng" w="9525">
              <a:solidFill>
                <a:schemeClr val="dk1"/>
              </a:solidFill>
              <a:prstDash val="solid"/>
              <a:miter lim="800000"/>
              <a:headEnd len="sm" w="sm" type="none"/>
              <a:tailEnd len="sm" w="sm" type="none"/>
            </a:ln>
          </p:spPr>
        </p:cxnSp>
      </p:grpSp>
      <p:sp>
        <p:nvSpPr>
          <p:cNvPr id="290" name="Google Shape;290;p15">
            <a:hlinkClick action="ppaction://hlinksldjump" r:id="rId4"/>
          </p:cNvPr>
          <p:cNvSpPr/>
          <p:nvPr/>
        </p:nvSpPr>
        <p:spPr>
          <a:xfrm>
            <a:off x="11012646" y="6341722"/>
            <a:ext cx="389278" cy="389278"/>
          </a:xfrm>
          <a:custGeom>
            <a:rect b="b" l="l" r="r" t="t"/>
            <a:pathLst>
              <a:path extrusionOk="0" h="120000" w="120000">
                <a:moveTo>
                  <a:pt x="0" y="0"/>
                </a:moveTo>
                <a:lnTo>
                  <a:pt x="120000" y="0"/>
                </a:lnTo>
                <a:lnTo>
                  <a:pt x="120000" y="120000"/>
                </a:lnTo>
                <a:lnTo>
                  <a:pt x="0" y="120000"/>
                </a:lnTo>
                <a:close/>
                <a:moveTo>
                  <a:pt x="15000" y="60000"/>
                </a:moveTo>
                <a:lnTo>
                  <a:pt x="105000" y="15000"/>
                </a:lnTo>
                <a:lnTo>
                  <a:pt x="105000" y="105000"/>
                </a:lnTo>
                <a:close/>
              </a:path>
              <a:path extrusionOk="0" fill="darken" h="120000" w="120000">
                <a:moveTo>
                  <a:pt x="15000" y="60000"/>
                </a:moveTo>
                <a:lnTo>
                  <a:pt x="105000" y="15000"/>
                </a:lnTo>
                <a:lnTo>
                  <a:pt x="105000" y="105000"/>
                </a:lnTo>
                <a:close/>
              </a:path>
              <a:path extrusionOk="0" fill="none" h="120000" w="120000">
                <a:moveTo>
                  <a:pt x="15000" y="60000"/>
                </a:moveTo>
                <a:lnTo>
                  <a:pt x="105000" y="15000"/>
                </a:lnTo>
                <a:lnTo>
                  <a:pt x="105000" y="105000"/>
                </a:lnTo>
                <a:close/>
              </a:path>
              <a:path extrusionOk="0" fill="none" h="120000" w="120000">
                <a:moveTo>
                  <a:pt x="0" y="0"/>
                </a:moveTo>
                <a:lnTo>
                  <a:pt x="120000" y="0"/>
                </a:lnTo>
                <a:lnTo>
                  <a:pt x="120000" y="120000"/>
                </a:lnTo>
                <a:lnTo>
                  <a:pt x="0" y="120000"/>
                </a:lnTo>
                <a:close/>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91" name="Google Shape;291;p15">
            <a:hlinkClick action="ppaction://hlinksldjump" r:id="rId5"/>
          </p:cNvPr>
          <p:cNvPicPr preferRelativeResize="0"/>
          <p:nvPr/>
        </p:nvPicPr>
        <p:blipFill rotWithShape="1">
          <a:blip r:embed="rId6">
            <a:alphaModFix/>
          </a:blip>
          <a:srcRect b="0" l="0" r="0" t="0"/>
          <a:stretch/>
        </p:blipFill>
        <p:spPr>
          <a:xfrm>
            <a:off x="11380777" y="6142686"/>
            <a:ext cx="756832" cy="715314"/>
          </a:xfrm>
          <a:prstGeom prst="rect">
            <a:avLst/>
          </a:prstGeom>
          <a:noFill/>
          <a:ln>
            <a:noFill/>
          </a:ln>
        </p:spPr>
      </p:pic>
      <p:grpSp>
        <p:nvGrpSpPr>
          <p:cNvPr id="292" name="Google Shape;292;p15"/>
          <p:cNvGrpSpPr/>
          <p:nvPr/>
        </p:nvGrpSpPr>
        <p:grpSpPr>
          <a:xfrm>
            <a:off x="1529319" y="2870715"/>
            <a:ext cx="2674353" cy="1347631"/>
            <a:chOff x="1469994" y="3081001"/>
            <a:chExt cx="2674353" cy="1347631"/>
          </a:xfrm>
        </p:grpSpPr>
        <p:sp>
          <p:nvSpPr>
            <p:cNvPr id="293" name="Google Shape;293;p15"/>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自主性</a:t>
              </a:r>
              <a:endParaRPr b="0" i="0" sz="1400" u="none" cap="none" strike="noStrike">
                <a:solidFill>
                  <a:srgbClr val="000000"/>
                </a:solidFill>
                <a:latin typeface="Arial"/>
                <a:ea typeface="Arial"/>
                <a:cs typeface="Arial"/>
                <a:sym typeface="Arial"/>
              </a:endParaRPr>
            </a:p>
          </p:txBody>
        </p:sp>
        <p:sp>
          <p:nvSpPr>
            <p:cNvPr id="294" name="Google Shape;294;p15"/>
            <p:cNvSpPr txBox="1"/>
            <p:nvPr/>
          </p:nvSpPr>
          <p:spPr>
            <a:xfrm>
              <a:off x="1606534" y="3081001"/>
              <a:ext cx="2401272"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6B5943"/>
                  </a:solidFill>
                  <a:latin typeface="Arial"/>
                  <a:ea typeface="Arial"/>
                  <a:cs typeface="Arial"/>
                  <a:sym typeface="Arial"/>
                </a:rPr>
                <a:t>A</a:t>
              </a:r>
              <a:r>
                <a:rPr b="0" i="0" lang="zh-TW" sz="2800" u="sng" cap="none" strike="noStrike">
                  <a:solidFill>
                    <a:schemeClr val="dk1"/>
                  </a:solidFill>
                  <a:latin typeface="Arial"/>
                  <a:ea typeface="Arial"/>
                  <a:cs typeface="Arial"/>
                  <a:sym typeface="Arial"/>
                </a:rPr>
                <a:t>utonomy</a:t>
              </a:r>
              <a:endParaRPr b="0" i="0" sz="2800" u="sng" cap="none" strike="noStrike">
                <a:solidFill>
                  <a:schemeClr val="dk1"/>
                </a:solidFill>
                <a:latin typeface="Arial"/>
                <a:ea typeface="Arial"/>
                <a:cs typeface="Arial"/>
                <a:sym typeface="Arial"/>
              </a:endParaRPr>
            </a:p>
          </p:txBody>
        </p:sp>
      </p:grpSp>
      <p:pic>
        <p:nvPicPr>
          <p:cNvPr id="295" name="Google Shape;295;p15">
            <a:hlinkClick action="ppaction://hlinksldjump" r:id="rId7"/>
          </p:cNvPr>
          <p:cNvPicPr preferRelativeResize="0"/>
          <p:nvPr/>
        </p:nvPicPr>
        <p:blipFill rotWithShape="1">
          <a:blip r:embed="rId8">
            <a:alphaModFix/>
          </a:blip>
          <a:srcRect b="0" l="0" r="0" t="0"/>
          <a:stretch/>
        </p:blipFill>
        <p:spPr>
          <a:xfrm>
            <a:off x="9740900" y="5436528"/>
            <a:ext cx="1138132" cy="640482"/>
          </a:xfrm>
          <a:prstGeom prst="rect">
            <a:avLst/>
          </a:prstGeom>
          <a:noFill/>
          <a:ln>
            <a:noFill/>
          </a:ln>
        </p:spPr>
      </p:pic>
      <p:grpSp>
        <p:nvGrpSpPr>
          <p:cNvPr id="296" name="Google Shape;296;p15"/>
          <p:cNvGrpSpPr/>
          <p:nvPr/>
        </p:nvGrpSpPr>
        <p:grpSpPr>
          <a:xfrm>
            <a:off x="1950098" y="682731"/>
            <a:ext cx="1453063" cy="737119"/>
            <a:chOff x="2080727" y="858416"/>
            <a:chExt cx="1453063" cy="737119"/>
          </a:xfrm>
        </p:grpSpPr>
        <p:sp>
          <p:nvSpPr>
            <p:cNvPr id="297" name="Google Shape;297;p15"/>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建模前</a:t>
              </a:r>
              <a:endParaRPr b="0" i="0" sz="2400" u="none" cap="none" strike="noStrike">
                <a:solidFill>
                  <a:schemeClr val="dk1"/>
                </a:solidFill>
                <a:latin typeface="Calibri"/>
                <a:ea typeface="Calibri"/>
                <a:cs typeface="Calibri"/>
                <a:sym typeface="Calibri"/>
              </a:endParaRPr>
            </a:p>
          </p:txBody>
        </p:sp>
        <p:sp>
          <p:nvSpPr>
            <p:cNvPr id="298" name="Google Shape;298;p15"/>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pic>
        <p:nvPicPr>
          <p:cNvPr id="303" name="Google Shape;303;p16"/>
          <p:cNvPicPr preferRelativeResize="0"/>
          <p:nvPr/>
        </p:nvPicPr>
        <p:blipFill rotWithShape="1">
          <a:blip r:embed="rId3">
            <a:alphaModFix/>
          </a:blip>
          <a:srcRect b="0" l="0" r="0" t="0"/>
          <a:stretch/>
        </p:blipFill>
        <p:spPr>
          <a:xfrm>
            <a:off x="-556388" y="-313384"/>
            <a:ext cx="13304776" cy="7484767"/>
          </a:xfrm>
          <a:prstGeom prst="rect">
            <a:avLst/>
          </a:prstGeom>
          <a:noFill/>
          <a:ln>
            <a:noFill/>
          </a:ln>
        </p:spPr>
      </p:pic>
      <p:sp>
        <p:nvSpPr>
          <p:cNvPr id="304" name="Google Shape;304;p16"/>
          <p:cNvSpPr txBox="1"/>
          <p:nvPr/>
        </p:nvSpPr>
        <p:spPr>
          <a:xfrm>
            <a:off x="4352925" y="562353"/>
            <a:ext cx="3486150"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lt1"/>
                </a:solidFill>
                <a:latin typeface="Microsoft JhengHei"/>
                <a:ea typeface="Microsoft JhengHei"/>
                <a:cs typeface="Microsoft JhengHei"/>
                <a:sym typeface="Microsoft JhengHei"/>
              </a:rPr>
              <a:t>隱私:建模前</a:t>
            </a:r>
            <a:endParaRPr b="0" i="0" sz="1400" u="none" cap="none" strike="noStrike">
              <a:solidFill>
                <a:srgbClr val="000000"/>
              </a:solidFill>
              <a:latin typeface="Arial"/>
              <a:ea typeface="Arial"/>
              <a:cs typeface="Arial"/>
              <a:sym typeface="Arial"/>
            </a:endParaRPr>
          </a:p>
        </p:txBody>
      </p:sp>
      <p:pic>
        <p:nvPicPr>
          <p:cNvPr id="305" name="Google Shape;305;p16">
            <a:hlinkClick action="ppaction://hlinksldjump" r:id="rId4"/>
          </p:cNvPr>
          <p:cNvPicPr preferRelativeResize="0"/>
          <p:nvPr/>
        </p:nvPicPr>
        <p:blipFill rotWithShape="1">
          <a:blip r:embed="rId5">
            <a:alphaModFix/>
          </a:blip>
          <a:srcRect b="0" l="0" r="0" t="0"/>
          <a:stretch/>
        </p:blipFill>
        <p:spPr>
          <a:xfrm>
            <a:off x="3315816" y="4134014"/>
            <a:ext cx="2822795" cy="1589473"/>
          </a:xfrm>
          <a:prstGeom prst="rect">
            <a:avLst/>
          </a:prstGeom>
          <a:noFill/>
          <a:ln>
            <a:noFill/>
          </a:ln>
          <a:effectLst>
            <a:outerShdw blurRad="50800" rotWithShape="0" algn="tl" dir="2700000" dist="38100">
              <a:srgbClr val="000000">
                <a:alpha val="40000"/>
              </a:srgbClr>
            </a:outerShdw>
          </a:effectLst>
        </p:spPr>
      </p:pic>
      <p:pic>
        <p:nvPicPr>
          <p:cNvPr id="306" name="Google Shape;306;p16">
            <a:hlinkClick action="ppaction://hlinksldjump" r:id="rId6"/>
          </p:cNvPr>
          <p:cNvPicPr preferRelativeResize="0"/>
          <p:nvPr/>
        </p:nvPicPr>
        <p:blipFill rotWithShape="1">
          <a:blip r:embed="rId7">
            <a:alphaModFix/>
          </a:blip>
          <a:srcRect b="0" l="0" r="0" t="0"/>
          <a:stretch/>
        </p:blipFill>
        <p:spPr>
          <a:xfrm>
            <a:off x="6138611" y="4104130"/>
            <a:ext cx="2827515" cy="1591200"/>
          </a:xfrm>
          <a:prstGeom prst="rect">
            <a:avLst/>
          </a:prstGeom>
          <a:noFill/>
          <a:ln>
            <a:noFill/>
          </a:ln>
          <a:effectLst>
            <a:outerShdw blurRad="50800" rotWithShape="0" algn="tl" dir="2700000" dist="38100">
              <a:srgbClr val="000000">
                <a:alpha val="40000"/>
              </a:srgbClr>
            </a:outerShdw>
          </a:effectLst>
        </p:spPr>
      </p:pic>
      <p:pic>
        <p:nvPicPr>
          <p:cNvPr id="307" name="Google Shape;307;p16">
            <a:hlinkClick action="ppaction://hlinksldjump" r:id="rId8"/>
          </p:cNvPr>
          <p:cNvPicPr preferRelativeResize="0"/>
          <p:nvPr/>
        </p:nvPicPr>
        <p:blipFill rotWithShape="1">
          <a:blip r:embed="rId9">
            <a:alphaModFix/>
          </a:blip>
          <a:srcRect b="0" l="0" r="0" t="0"/>
          <a:stretch/>
        </p:blipFill>
        <p:spPr>
          <a:xfrm>
            <a:off x="11314519" y="6048961"/>
            <a:ext cx="756832" cy="71531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pic>
        <p:nvPicPr>
          <p:cNvPr id="312" name="Google Shape;312;p17"/>
          <p:cNvPicPr preferRelativeResize="0"/>
          <p:nvPr/>
        </p:nvPicPr>
        <p:blipFill rotWithShape="1">
          <a:blip r:embed="rId3">
            <a:alphaModFix/>
          </a:blip>
          <a:srcRect b="0" l="0" r="0" t="0"/>
          <a:stretch/>
        </p:blipFill>
        <p:spPr>
          <a:xfrm>
            <a:off x="-661851" y="-350772"/>
            <a:ext cx="13538718" cy="7615529"/>
          </a:xfrm>
          <a:prstGeom prst="rect">
            <a:avLst/>
          </a:prstGeom>
          <a:noFill/>
          <a:ln>
            <a:noFill/>
          </a:ln>
        </p:spPr>
      </p:pic>
      <p:grpSp>
        <p:nvGrpSpPr>
          <p:cNvPr id="313" name="Google Shape;313;p17"/>
          <p:cNvGrpSpPr/>
          <p:nvPr/>
        </p:nvGrpSpPr>
        <p:grpSpPr>
          <a:xfrm>
            <a:off x="4040932" y="1061102"/>
            <a:ext cx="6539100" cy="5295000"/>
            <a:chOff x="4002832" y="1416702"/>
            <a:chExt cx="6539100" cy="5295000"/>
          </a:xfrm>
        </p:grpSpPr>
        <p:sp>
          <p:nvSpPr>
            <p:cNvPr id="314" name="Google Shape;314;p17"/>
            <p:cNvSpPr txBox="1"/>
            <p:nvPr/>
          </p:nvSpPr>
          <p:spPr>
            <a:xfrm>
              <a:off x="4002832" y="1416702"/>
              <a:ext cx="6539100" cy="529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建立個資風險評估機制:</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zh-TW" sz="1800" u="none" cap="none" strike="noStrike">
                  <a:solidFill>
                    <a:srgbClr val="000000"/>
                  </a:solidFill>
                  <a:latin typeface="Microsoft JhengHei"/>
                  <a:ea typeface="Microsoft JhengHei"/>
                  <a:cs typeface="Microsoft JhengHei"/>
                  <a:sym typeface="Microsoft JhengHei"/>
                </a:rPr>
                <a:t>是否建立隱私與個人資料風險評估機制？</a:t>
              </a:r>
              <a:endParaRPr b="1" i="0" sz="1800" u="none" cap="none" strike="noStrike">
                <a:solidFill>
                  <a:srgbClr val="000000"/>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1800"/>
                <a:buFont typeface="Arial"/>
                <a:buNone/>
              </a:pPr>
              <a:r>
                <a:rPr b="0" i="0" lang="zh-TW" sz="1800" u="none" cap="none" strike="noStrike">
                  <a:solidFill>
                    <a:srgbClr val="713613"/>
                  </a:solidFill>
                  <a:latin typeface="Microsoft JhengHei"/>
                  <a:ea typeface="Microsoft JhengHei"/>
                  <a:cs typeface="Microsoft JhengHei"/>
                  <a:sym typeface="Microsoft JhengHei"/>
                </a:rPr>
                <a:t>（例如:隱私或個資洩漏之影響評估）</a:t>
              </a:r>
              <a:endParaRPr b="0" i="0" sz="1800" u="none" cap="none" strike="noStrike">
                <a:solidFill>
                  <a:srgbClr val="713613"/>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br>
                <a:rPr b="1" i="0" lang="zh-TW" sz="2000" u="none" cap="none" strike="noStrike">
                  <a:solidFill>
                    <a:schemeClr val="dk1"/>
                  </a:solidFill>
                  <a:latin typeface="Microsoft JhengHei"/>
                  <a:ea typeface="Microsoft JhengHei"/>
                  <a:cs typeface="Microsoft JhengHei"/>
                  <a:sym typeface="Microsoft JhengHei"/>
                </a:rPr>
              </a:br>
              <a:r>
                <a:rPr b="1" i="0" lang="zh-TW" sz="2000" u="none" cap="none" strike="noStrike">
                  <a:solidFill>
                    <a:srgbClr val="FF0000"/>
                  </a:solidFill>
                  <a:latin typeface="Microsoft JhengHei"/>
                  <a:ea typeface="Microsoft JhengHei"/>
                  <a:cs typeface="Microsoft JhengHei"/>
                  <a:sym typeface="Microsoft JhengHei"/>
                </a:rPr>
                <a:t>建立個資管理機制:</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zh-TW" sz="1800" u="none" cap="none" strike="noStrike">
                  <a:solidFill>
                    <a:srgbClr val="000000"/>
                  </a:solidFill>
                  <a:latin typeface="Microsoft JhengHei"/>
                  <a:ea typeface="Microsoft JhengHei"/>
                  <a:cs typeface="Microsoft JhengHei"/>
                  <a:sym typeface="Microsoft JhengHei"/>
                </a:rPr>
                <a:t>是否建立隱私與個人資料管理機制？</a:t>
              </a:r>
              <a:endParaRPr b="1" i="0" sz="1800" u="none" cap="none" strike="noStrike">
                <a:solidFill>
                  <a:srgbClr val="000000"/>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1800"/>
                <a:buFont typeface="Arial"/>
                <a:buNone/>
              </a:pPr>
              <a:r>
                <a:rPr b="0" i="0" lang="zh-TW" sz="1800" u="none" cap="none" strike="noStrike">
                  <a:solidFill>
                    <a:srgbClr val="713613"/>
                  </a:solidFill>
                  <a:latin typeface="Microsoft JhengHei"/>
                  <a:ea typeface="Microsoft JhengHei"/>
                  <a:cs typeface="Microsoft JhengHei"/>
                  <a:sym typeface="Microsoft JhengHei"/>
                </a:rPr>
                <a:t>（例如:個資蒐集、處理、利用之內部管理程序、資料近用與修改權限控管、使用紀錄、軌跡資料、證據保存等等）</a:t>
              </a:r>
              <a:br>
                <a:rPr b="1" i="0" lang="zh-TW" sz="1800" u="none" cap="none" strike="noStrike">
                  <a:solidFill>
                    <a:schemeClr val="dk1"/>
                  </a:solidFill>
                  <a:latin typeface="Microsoft JhengHei"/>
                  <a:ea typeface="Microsoft JhengHei"/>
                  <a:cs typeface="Microsoft JhengHei"/>
                  <a:sym typeface="Microsoft JhengHei"/>
                </a:rPr>
              </a:br>
              <a:r>
                <a:rPr b="1" i="0" lang="zh-TW" sz="2000" u="none" cap="none" strike="noStrike">
                  <a:solidFill>
                    <a:srgbClr val="FF0000"/>
                  </a:solidFill>
                  <a:latin typeface="Microsoft JhengHei"/>
                  <a:ea typeface="Microsoft JhengHei"/>
                  <a:cs typeface="Microsoft JhengHei"/>
                  <a:sym typeface="Microsoft JhengHei"/>
                </a:rPr>
                <a:t>資料當事人的權利:</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zh-TW" sz="1800" u="none" cap="none" strike="noStrike">
                  <a:solidFill>
                    <a:srgbClr val="000000"/>
                  </a:solidFill>
                  <a:latin typeface="Microsoft JhengHei"/>
                  <a:ea typeface="Microsoft JhengHei"/>
                  <a:cs typeface="Microsoft JhengHei"/>
                  <a:sym typeface="Microsoft JhengHei"/>
                </a:rPr>
                <a:t>對於所蒐集到的個人資料，是否建立機制讓資料當事人有撤回同意、選擇退出（opt-out）或資料刪除的機會？</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1800"/>
                <a:buFont typeface="Arial"/>
                <a:buNone/>
              </a:pPr>
              <a:br>
                <a:rPr b="1" i="0" lang="zh-TW" sz="1800" u="none" cap="none" strike="noStrike">
                  <a:solidFill>
                    <a:schemeClr val="dk1"/>
                  </a:solidFill>
                  <a:latin typeface="Microsoft JhengHei"/>
                  <a:ea typeface="Microsoft JhengHei"/>
                  <a:cs typeface="Microsoft JhengHei"/>
                  <a:sym typeface="Microsoft JhengHei"/>
                </a:rPr>
              </a:br>
              <a:r>
                <a:rPr b="1" i="0" lang="zh-TW" sz="2000" u="none" cap="none" strike="noStrike">
                  <a:solidFill>
                    <a:srgbClr val="FF0000"/>
                  </a:solidFill>
                  <a:latin typeface="Microsoft JhengHei"/>
                  <a:ea typeface="Microsoft JhengHei"/>
                  <a:cs typeface="Microsoft JhengHei"/>
                  <a:sym typeface="Microsoft JhengHei"/>
                </a:rPr>
                <a:t>資料極小化:</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zh-TW" sz="1800" u="none" cap="none" strike="noStrike">
                  <a:solidFill>
                    <a:srgbClr val="000000"/>
                  </a:solidFill>
                  <a:latin typeface="Microsoft JhengHei"/>
                  <a:ea typeface="Microsoft JhengHei"/>
                  <a:cs typeface="Microsoft JhengHei"/>
                  <a:sym typeface="Microsoft JhengHei"/>
                </a:rPr>
                <a:t>是否極小化資料的蒐集類別，避免蒐集不必要的資訊？</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br>
                <a:rPr b="1" i="0" lang="zh-TW" sz="2000" u="none" cap="none" strike="noStrike">
                  <a:solidFill>
                    <a:schemeClr val="dk1"/>
                  </a:solidFill>
                  <a:latin typeface="Microsoft JhengHei"/>
                  <a:ea typeface="Microsoft JhengHei"/>
                  <a:cs typeface="Microsoft JhengHei"/>
                  <a:sym typeface="Microsoft JhengHei"/>
                </a:rPr>
              </a:br>
              <a:r>
                <a:rPr b="1" i="0" lang="zh-TW" sz="2000" u="none" cap="none" strike="noStrike">
                  <a:solidFill>
                    <a:srgbClr val="FF0000"/>
                  </a:solidFill>
                  <a:latin typeface="Microsoft JhengHei"/>
                  <a:ea typeface="Microsoft JhengHei"/>
                  <a:cs typeface="Microsoft JhengHei"/>
                  <a:sym typeface="Microsoft JhengHei"/>
                </a:rPr>
                <a:t>建立危機管理機制:</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zh-TW" sz="1800" u="none" cap="none" strike="noStrike">
                  <a:solidFill>
                    <a:srgbClr val="000000"/>
                  </a:solidFill>
                  <a:latin typeface="Microsoft JhengHei"/>
                  <a:ea typeface="Microsoft JhengHei"/>
                  <a:cs typeface="Microsoft JhengHei"/>
                  <a:sym typeface="Microsoft JhengHei"/>
                </a:rPr>
                <a:t>是否建立危機處理機制，解決隱私或個資外洩的問題？</a:t>
              </a:r>
              <a:br>
                <a:rPr b="1" i="0" lang="zh-TW" sz="1800" u="none" cap="none" strike="noStrike">
                  <a:solidFill>
                    <a:schemeClr val="dk1"/>
                  </a:solidFill>
                  <a:latin typeface="Microsoft JhengHei"/>
                  <a:ea typeface="Microsoft JhengHei"/>
                  <a:cs typeface="Microsoft JhengHei"/>
                  <a:sym typeface="Microsoft JhengHei"/>
                </a:rPr>
              </a:br>
              <a:endParaRPr b="1" i="0" sz="1800" u="none" cap="none" strike="noStrike">
                <a:solidFill>
                  <a:schemeClr val="dk1"/>
                </a:solidFill>
                <a:latin typeface="Microsoft JhengHei"/>
                <a:ea typeface="Microsoft JhengHei"/>
                <a:cs typeface="Microsoft JhengHei"/>
                <a:sym typeface="Microsoft JhengHei"/>
              </a:endParaRPr>
            </a:p>
          </p:txBody>
        </p:sp>
        <p:cxnSp>
          <p:nvCxnSpPr>
            <p:cNvPr id="315" name="Google Shape;315;p17"/>
            <p:cNvCxnSpPr/>
            <p:nvPr/>
          </p:nvCxnSpPr>
          <p:spPr>
            <a:xfrm>
              <a:off x="4002832" y="2394860"/>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316" name="Google Shape;316;p17"/>
            <p:cNvCxnSpPr/>
            <p:nvPr/>
          </p:nvCxnSpPr>
          <p:spPr>
            <a:xfrm>
              <a:off x="4058816" y="3733643"/>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317" name="Google Shape;317;p17"/>
            <p:cNvCxnSpPr/>
            <p:nvPr/>
          </p:nvCxnSpPr>
          <p:spPr>
            <a:xfrm>
              <a:off x="4068147" y="4800602"/>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318" name="Google Shape;318;p17"/>
            <p:cNvCxnSpPr/>
            <p:nvPr/>
          </p:nvCxnSpPr>
          <p:spPr>
            <a:xfrm>
              <a:off x="4079033" y="5604590"/>
              <a:ext cx="6207190" cy="0"/>
            </a:xfrm>
            <a:prstGeom prst="straightConnector1">
              <a:avLst/>
            </a:prstGeom>
            <a:noFill/>
            <a:ln cap="flat" cmpd="sng" w="9525">
              <a:solidFill>
                <a:schemeClr val="dk1"/>
              </a:solidFill>
              <a:prstDash val="solid"/>
              <a:miter lim="800000"/>
              <a:headEnd len="sm" w="sm" type="none"/>
              <a:tailEnd len="sm" w="sm" type="none"/>
            </a:ln>
          </p:spPr>
        </p:cxnSp>
      </p:grpSp>
      <p:pic>
        <p:nvPicPr>
          <p:cNvPr id="319" name="Google Shape;319;p17">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320" name="Google Shape;320;p17"/>
          <p:cNvGrpSpPr/>
          <p:nvPr/>
        </p:nvGrpSpPr>
        <p:grpSpPr>
          <a:xfrm>
            <a:off x="1226351" y="2965993"/>
            <a:ext cx="2674353" cy="1338824"/>
            <a:chOff x="1469994" y="3089808"/>
            <a:chExt cx="2674353" cy="1338824"/>
          </a:xfrm>
        </p:grpSpPr>
        <p:sp>
          <p:nvSpPr>
            <p:cNvPr id="321" name="Google Shape;321;p17"/>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隱私</a:t>
              </a:r>
              <a:endParaRPr b="0" i="0" sz="1400" u="none" cap="none" strike="noStrike">
                <a:solidFill>
                  <a:srgbClr val="000000"/>
                </a:solidFill>
                <a:latin typeface="Arial"/>
                <a:ea typeface="Arial"/>
                <a:cs typeface="Arial"/>
                <a:sym typeface="Arial"/>
              </a:endParaRPr>
            </a:p>
          </p:txBody>
        </p:sp>
        <p:sp>
          <p:nvSpPr>
            <p:cNvPr id="322" name="Google Shape;322;p17"/>
            <p:cNvSpPr txBox="1"/>
            <p:nvPr/>
          </p:nvSpPr>
          <p:spPr>
            <a:xfrm>
              <a:off x="1602181" y="3089808"/>
              <a:ext cx="2004010"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CFA779"/>
                  </a:solidFill>
                  <a:latin typeface="Arial"/>
                  <a:ea typeface="Arial"/>
                  <a:cs typeface="Arial"/>
                  <a:sym typeface="Arial"/>
                </a:rPr>
                <a:t>P</a:t>
              </a:r>
              <a:r>
                <a:rPr b="1" i="0" lang="zh-TW" sz="2800" u="sng" cap="none" strike="noStrike">
                  <a:solidFill>
                    <a:schemeClr val="dk1"/>
                  </a:solidFill>
                  <a:latin typeface="Arial"/>
                  <a:ea typeface="Arial"/>
                  <a:cs typeface="Arial"/>
                  <a:sym typeface="Arial"/>
                </a:rPr>
                <a:t>rivacy</a:t>
              </a:r>
              <a:endParaRPr b="0" i="0" sz="2800" u="sng" cap="none" strike="noStrike">
                <a:solidFill>
                  <a:schemeClr val="dk1"/>
                </a:solidFill>
                <a:latin typeface="Arial"/>
                <a:ea typeface="Arial"/>
                <a:cs typeface="Arial"/>
                <a:sym typeface="Arial"/>
              </a:endParaRPr>
            </a:p>
          </p:txBody>
        </p:sp>
      </p:grpSp>
      <p:grpSp>
        <p:nvGrpSpPr>
          <p:cNvPr id="323" name="Google Shape;323;p17"/>
          <p:cNvGrpSpPr/>
          <p:nvPr/>
        </p:nvGrpSpPr>
        <p:grpSpPr>
          <a:xfrm>
            <a:off x="1791224" y="398631"/>
            <a:ext cx="1453063" cy="737119"/>
            <a:chOff x="2080727" y="858416"/>
            <a:chExt cx="1453063" cy="737119"/>
          </a:xfrm>
        </p:grpSpPr>
        <p:sp>
          <p:nvSpPr>
            <p:cNvPr id="324" name="Google Shape;324;p17"/>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建模前</a:t>
              </a:r>
              <a:endParaRPr b="0" i="0" sz="2400" u="none" cap="none" strike="noStrike">
                <a:solidFill>
                  <a:schemeClr val="dk1"/>
                </a:solidFill>
                <a:latin typeface="Calibri"/>
                <a:ea typeface="Calibri"/>
                <a:cs typeface="Calibri"/>
                <a:sym typeface="Calibri"/>
              </a:endParaRPr>
            </a:p>
          </p:txBody>
        </p:sp>
        <p:sp>
          <p:nvSpPr>
            <p:cNvPr id="325" name="Google Shape;325;p17"/>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326" name="Google Shape;326;p17">
            <a:hlinkClick action="ppaction://hlinksldjump" r:id="rId6"/>
          </p:cNvPr>
          <p:cNvPicPr preferRelativeResize="0"/>
          <p:nvPr/>
        </p:nvPicPr>
        <p:blipFill rotWithShape="1">
          <a:blip r:embed="rId7">
            <a:alphaModFix/>
          </a:blip>
          <a:srcRect b="0" l="0" r="0" t="0"/>
          <a:stretch/>
        </p:blipFill>
        <p:spPr>
          <a:xfrm>
            <a:off x="11446621" y="2197352"/>
            <a:ext cx="563518" cy="2463296"/>
          </a:xfrm>
          <a:prstGeom prst="rect">
            <a:avLst/>
          </a:prstGeom>
          <a:noFill/>
          <a:ln>
            <a:noFill/>
          </a:ln>
        </p:spPr>
      </p:pic>
      <p:pic>
        <p:nvPicPr>
          <p:cNvPr id="327" name="Google Shape;327;p17">
            <a:hlinkClick action="ppaction://hlinksldjump" r:id="rId8"/>
          </p:cNvPr>
          <p:cNvPicPr preferRelativeResize="0"/>
          <p:nvPr/>
        </p:nvPicPr>
        <p:blipFill rotWithShape="1">
          <a:blip r:embed="rId9">
            <a:alphaModFix/>
          </a:blip>
          <a:srcRect b="0" l="0" r="0" t="0"/>
          <a:stretch/>
        </p:blipFill>
        <p:spPr>
          <a:xfrm>
            <a:off x="11423194" y="5529817"/>
            <a:ext cx="558541" cy="55854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pic>
        <p:nvPicPr>
          <p:cNvPr id="332" name="Google Shape;332;p1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33" name="Google Shape;333;p18"/>
          <p:cNvSpPr txBox="1"/>
          <p:nvPr/>
        </p:nvSpPr>
        <p:spPr>
          <a:xfrm>
            <a:off x="3976397" y="1419850"/>
            <a:ext cx="6097554" cy="424257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法律與倫理問題</a:t>
            </a:r>
            <a:endParaRPr b="1" i="0" sz="20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為避免違反個人資料保護法第 9 條第 1 項第 4 款之規定，資料蒐集者須將資料模糊化或去識別化。</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依個人資料保護法第 9 條規定，間接蒐集個人資料需要向當事人（個資主體）告知。</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因無去識別化（不清楚是否能還原，因此視為個資），因此未來揭露的時候，應模糊化或去識別化，使其符合揭露方式，無從識別特定當事人之法定要件。</a:t>
            </a:r>
            <a:endParaRPr b="0" i="0" sz="1400" u="none" cap="none" strike="noStrike">
              <a:solidFill>
                <a:srgbClr val="000000"/>
              </a:solidFill>
              <a:latin typeface="Arial"/>
              <a:ea typeface="Arial"/>
              <a:cs typeface="Arial"/>
              <a:sym typeface="Arial"/>
            </a:endParaRPr>
          </a:p>
        </p:txBody>
      </p:sp>
      <p:pic>
        <p:nvPicPr>
          <p:cNvPr id="334" name="Google Shape;334;p18">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335" name="Google Shape;335;p18"/>
          <p:cNvGrpSpPr/>
          <p:nvPr/>
        </p:nvGrpSpPr>
        <p:grpSpPr>
          <a:xfrm>
            <a:off x="1581951" y="2759588"/>
            <a:ext cx="2674353" cy="1338824"/>
            <a:chOff x="1469994" y="3089808"/>
            <a:chExt cx="2674353" cy="1338824"/>
          </a:xfrm>
        </p:grpSpPr>
        <p:sp>
          <p:nvSpPr>
            <p:cNvPr id="336" name="Google Shape;336;p18"/>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隱私</a:t>
              </a:r>
              <a:endParaRPr b="0" i="0" sz="1400" u="none" cap="none" strike="noStrike">
                <a:solidFill>
                  <a:srgbClr val="000000"/>
                </a:solidFill>
                <a:latin typeface="Arial"/>
                <a:ea typeface="Arial"/>
                <a:cs typeface="Arial"/>
                <a:sym typeface="Arial"/>
              </a:endParaRPr>
            </a:p>
          </p:txBody>
        </p:sp>
        <p:sp>
          <p:nvSpPr>
            <p:cNvPr id="337" name="Google Shape;337;p18"/>
            <p:cNvSpPr txBox="1"/>
            <p:nvPr/>
          </p:nvSpPr>
          <p:spPr>
            <a:xfrm>
              <a:off x="1625403" y="3089808"/>
              <a:ext cx="1980787"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CFA779"/>
                  </a:solidFill>
                  <a:latin typeface="Arial"/>
                  <a:ea typeface="Arial"/>
                  <a:cs typeface="Arial"/>
                  <a:sym typeface="Arial"/>
                </a:rPr>
                <a:t>P</a:t>
              </a:r>
              <a:r>
                <a:rPr b="1" i="0" lang="zh-TW" sz="2800" u="sng" cap="none" strike="noStrike">
                  <a:solidFill>
                    <a:schemeClr val="dk1"/>
                  </a:solidFill>
                  <a:latin typeface="Arial"/>
                  <a:ea typeface="Arial"/>
                  <a:cs typeface="Arial"/>
                  <a:sym typeface="Arial"/>
                </a:rPr>
                <a:t>rivacy</a:t>
              </a:r>
              <a:endParaRPr b="0" i="0" sz="2800" u="sng" cap="none" strike="noStrike">
                <a:solidFill>
                  <a:schemeClr val="dk1"/>
                </a:solidFill>
                <a:latin typeface="Arial"/>
                <a:ea typeface="Arial"/>
                <a:cs typeface="Arial"/>
                <a:sym typeface="Arial"/>
              </a:endParaRPr>
            </a:p>
          </p:txBody>
        </p:sp>
      </p:grpSp>
      <p:grpSp>
        <p:nvGrpSpPr>
          <p:cNvPr id="338" name="Google Shape;338;p18"/>
          <p:cNvGrpSpPr/>
          <p:nvPr/>
        </p:nvGrpSpPr>
        <p:grpSpPr>
          <a:xfrm>
            <a:off x="1950098" y="682731"/>
            <a:ext cx="1453063" cy="737119"/>
            <a:chOff x="2080727" y="858416"/>
            <a:chExt cx="1453063" cy="737119"/>
          </a:xfrm>
        </p:grpSpPr>
        <p:sp>
          <p:nvSpPr>
            <p:cNvPr id="339" name="Google Shape;339;p18"/>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建模前</a:t>
              </a:r>
              <a:endParaRPr b="0" i="0" sz="2400" u="none" cap="none" strike="noStrike">
                <a:solidFill>
                  <a:schemeClr val="dk1"/>
                </a:solidFill>
                <a:latin typeface="Calibri"/>
                <a:ea typeface="Calibri"/>
                <a:cs typeface="Calibri"/>
                <a:sym typeface="Calibri"/>
              </a:endParaRPr>
            </a:p>
          </p:txBody>
        </p:sp>
        <p:sp>
          <p:nvSpPr>
            <p:cNvPr id="340" name="Google Shape;340;p18"/>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cxnSp>
        <p:nvCxnSpPr>
          <p:cNvPr id="341" name="Google Shape;341;p18"/>
          <p:cNvCxnSpPr/>
          <p:nvPr/>
        </p:nvCxnSpPr>
        <p:spPr>
          <a:xfrm>
            <a:off x="3976397" y="2916338"/>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342" name="Google Shape;342;p18"/>
          <p:cNvCxnSpPr/>
          <p:nvPr/>
        </p:nvCxnSpPr>
        <p:spPr>
          <a:xfrm>
            <a:off x="3976397" y="4216403"/>
            <a:ext cx="6207190" cy="0"/>
          </a:xfrm>
          <a:prstGeom prst="straightConnector1">
            <a:avLst/>
          </a:prstGeom>
          <a:noFill/>
          <a:ln cap="flat" cmpd="sng" w="9525">
            <a:solidFill>
              <a:schemeClr val="dk1"/>
            </a:solidFill>
            <a:prstDash val="solid"/>
            <a:miter lim="800000"/>
            <a:headEnd len="sm" w="sm" type="none"/>
            <a:tailEnd len="sm" w="sm" type="none"/>
          </a:ln>
        </p:spPr>
      </p:cxnSp>
      <p:pic>
        <p:nvPicPr>
          <p:cNvPr id="343" name="Google Shape;343;p18">
            <a:hlinkClick action="ppaction://hlinksldjump" r:id="rId6"/>
          </p:cNvPr>
          <p:cNvPicPr preferRelativeResize="0"/>
          <p:nvPr/>
        </p:nvPicPr>
        <p:blipFill rotWithShape="1">
          <a:blip r:embed="rId7">
            <a:alphaModFix/>
          </a:blip>
          <a:srcRect b="0" l="0" r="0" t="0"/>
          <a:stretch/>
        </p:blipFill>
        <p:spPr>
          <a:xfrm>
            <a:off x="11423194" y="5529817"/>
            <a:ext cx="558541" cy="55854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pic>
        <p:nvPicPr>
          <p:cNvPr id="348" name="Google Shape;348;p1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49" name="Google Shape;349;p19"/>
          <p:cNvSpPr txBox="1"/>
          <p:nvPr/>
        </p:nvSpPr>
        <p:spPr>
          <a:xfrm>
            <a:off x="4256304" y="3083498"/>
            <a:ext cx="6097554" cy="91858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資料極小化:</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是否極小化資料的蒐集類別，避免蒐集不必要的資訊？</a:t>
            </a:r>
            <a:endParaRPr b="0" i="0" sz="1800" u="none" cap="none" strike="noStrike">
              <a:solidFill>
                <a:schemeClr val="dk1"/>
              </a:solidFill>
              <a:latin typeface="Microsoft JhengHei"/>
              <a:ea typeface="Microsoft JhengHei"/>
              <a:cs typeface="Microsoft JhengHei"/>
              <a:sym typeface="Microsoft JhengHei"/>
            </a:endParaRPr>
          </a:p>
        </p:txBody>
      </p:sp>
      <p:pic>
        <p:nvPicPr>
          <p:cNvPr id="350" name="Google Shape;350;p19">
            <a:hlinkClick action="ppaction://hlinksldjump" r:id="rId4"/>
          </p:cNvPr>
          <p:cNvPicPr preferRelativeResize="0"/>
          <p:nvPr/>
        </p:nvPicPr>
        <p:blipFill rotWithShape="1">
          <a:blip r:embed="rId5">
            <a:alphaModFix/>
          </a:blip>
          <a:srcRect b="0" l="0" r="0" t="0"/>
          <a:stretch/>
        </p:blipFill>
        <p:spPr>
          <a:xfrm>
            <a:off x="11116699" y="6011639"/>
            <a:ext cx="756832" cy="715314"/>
          </a:xfrm>
          <a:prstGeom prst="rect">
            <a:avLst/>
          </a:prstGeom>
          <a:noFill/>
          <a:ln>
            <a:noFill/>
          </a:ln>
        </p:spPr>
      </p:pic>
      <p:grpSp>
        <p:nvGrpSpPr>
          <p:cNvPr id="351" name="Google Shape;351;p19"/>
          <p:cNvGrpSpPr/>
          <p:nvPr/>
        </p:nvGrpSpPr>
        <p:grpSpPr>
          <a:xfrm>
            <a:off x="1581951" y="2759588"/>
            <a:ext cx="2674353" cy="1338824"/>
            <a:chOff x="1469994" y="3089808"/>
            <a:chExt cx="2674353" cy="1338824"/>
          </a:xfrm>
        </p:grpSpPr>
        <p:sp>
          <p:nvSpPr>
            <p:cNvPr id="352" name="Google Shape;352;p19"/>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隱私</a:t>
              </a:r>
              <a:endParaRPr b="0" i="0" sz="1400" u="none" cap="none" strike="noStrike">
                <a:solidFill>
                  <a:srgbClr val="000000"/>
                </a:solidFill>
                <a:latin typeface="Arial"/>
                <a:ea typeface="Arial"/>
                <a:cs typeface="Arial"/>
                <a:sym typeface="Arial"/>
              </a:endParaRPr>
            </a:p>
          </p:txBody>
        </p:sp>
        <p:sp>
          <p:nvSpPr>
            <p:cNvPr id="353" name="Google Shape;353;p19"/>
            <p:cNvSpPr txBox="1"/>
            <p:nvPr/>
          </p:nvSpPr>
          <p:spPr>
            <a:xfrm>
              <a:off x="1625403" y="3089808"/>
              <a:ext cx="1980787"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CFA779"/>
                  </a:solidFill>
                  <a:latin typeface="Arial"/>
                  <a:ea typeface="Arial"/>
                  <a:cs typeface="Arial"/>
                  <a:sym typeface="Arial"/>
                </a:rPr>
                <a:t>P</a:t>
              </a:r>
              <a:r>
                <a:rPr b="1" i="0" lang="zh-TW" sz="2800" u="sng" cap="none" strike="noStrike">
                  <a:solidFill>
                    <a:schemeClr val="dk1"/>
                  </a:solidFill>
                  <a:latin typeface="Arial"/>
                  <a:ea typeface="Arial"/>
                  <a:cs typeface="Arial"/>
                  <a:sym typeface="Arial"/>
                </a:rPr>
                <a:t>rivacy</a:t>
              </a:r>
              <a:endParaRPr b="0" i="0" sz="2800" u="sng" cap="none" strike="noStrike">
                <a:solidFill>
                  <a:schemeClr val="dk1"/>
                </a:solidFill>
                <a:latin typeface="Arial"/>
                <a:ea typeface="Arial"/>
                <a:cs typeface="Arial"/>
                <a:sym typeface="Arial"/>
              </a:endParaRPr>
            </a:p>
          </p:txBody>
        </p:sp>
      </p:grpSp>
      <p:grpSp>
        <p:nvGrpSpPr>
          <p:cNvPr id="354" name="Google Shape;354;p19"/>
          <p:cNvGrpSpPr/>
          <p:nvPr/>
        </p:nvGrpSpPr>
        <p:grpSpPr>
          <a:xfrm>
            <a:off x="1950098" y="682731"/>
            <a:ext cx="1453063" cy="737119"/>
            <a:chOff x="2080727" y="858416"/>
            <a:chExt cx="1453063" cy="737119"/>
          </a:xfrm>
        </p:grpSpPr>
        <p:sp>
          <p:nvSpPr>
            <p:cNvPr id="355" name="Google Shape;355;p19"/>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建模前</a:t>
              </a:r>
              <a:endParaRPr b="0" i="0" sz="2400" u="none" cap="none" strike="noStrike">
                <a:solidFill>
                  <a:schemeClr val="dk1"/>
                </a:solidFill>
                <a:latin typeface="Calibri"/>
                <a:ea typeface="Calibri"/>
                <a:cs typeface="Calibri"/>
                <a:sym typeface="Calibri"/>
              </a:endParaRPr>
            </a:p>
          </p:txBody>
        </p:sp>
        <p:sp>
          <p:nvSpPr>
            <p:cNvPr id="356" name="Google Shape;356;p19"/>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357" name="Google Shape;357;p19">
            <a:hlinkClick action="ppaction://hlinksldjump" r:id="rId6"/>
          </p:cNvPr>
          <p:cNvPicPr preferRelativeResize="0"/>
          <p:nvPr/>
        </p:nvPicPr>
        <p:blipFill rotWithShape="1">
          <a:blip r:embed="rId7">
            <a:alphaModFix/>
          </a:blip>
          <a:srcRect b="0" l="0" r="0" t="0"/>
          <a:stretch/>
        </p:blipFill>
        <p:spPr>
          <a:xfrm>
            <a:off x="11213356" y="2234676"/>
            <a:ext cx="563518" cy="2463296"/>
          </a:xfrm>
          <a:prstGeom prst="rect">
            <a:avLst/>
          </a:prstGeom>
          <a:noFill/>
          <a:ln>
            <a:noFill/>
          </a:ln>
        </p:spPr>
      </p:pic>
      <p:pic>
        <p:nvPicPr>
          <p:cNvPr id="358" name="Google Shape;358;p19">
            <a:hlinkClick action="ppaction://hlinksldjump" r:id="rId8"/>
          </p:cNvPr>
          <p:cNvPicPr preferRelativeResize="0"/>
          <p:nvPr/>
        </p:nvPicPr>
        <p:blipFill rotWithShape="1">
          <a:blip r:embed="rId9">
            <a:alphaModFix/>
          </a:blip>
          <a:srcRect b="0" l="0" r="0" t="0"/>
          <a:stretch/>
        </p:blipFill>
        <p:spPr>
          <a:xfrm>
            <a:off x="11217922" y="5529817"/>
            <a:ext cx="558541" cy="55854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pic>
        <p:nvPicPr>
          <p:cNvPr id="363" name="Google Shape;363;p20"/>
          <p:cNvPicPr preferRelativeResize="0"/>
          <p:nvPr/>
        </p:nvPicPr>
        <p:blipFill rotWithShape="1">
          <a:blip r:embed="rId3">
            <a:alphaModFix/>
          </a:blip>
          <a:srcRect b="0" l="0" r="0" t="0"/>
          <a:stretch/>
        </p:blipFill>
        <p:spPr>
          <a:xfrm>
            <a:off x="-214604" y="-120715"/>
            <a:ext cx="12621208" cy="7099430"/>
          </a:xfrm>
          <a:prstGeom prst="rect">
            <a:avLst/>
          </a:prstGeom>
          <a:noFill/>
          <a:ln>
            <a:noFill/>
          </a:ln>
        </p:spPr>
      </p:pic>
      <p:grpSp>
        <p:nvGrpSpPr>
          <p:cNvPr id="364" name="Google Shape;364;p20"/>
          <p:cNvGrpSpPr/>
          <p:nvPr/>
        </p:nvGrpSpPr>
        <p:grpSpPr>
          <a:xfrm>
            <a:off x="3981384" y="1171259"/>
            <a:ext cx="6577800" cy="4742400"/>
            <a:chOff x="3972502" y="1412559"/>
            <a:chExt cx="6577800" cy="4742400"/>
          </a:xfrm>
        </p:grpSpPr>
        <p:sp>
          <p:nvSpPr>
            <p:cNvPr id="365" name="Google Shape;365;p20"/>
            <p:cNvSpPr txBox="1"/>
            <p:nvPr/>
          </p:nvSpPr>
          <p:spPr>
            <a:xfrm>
              <a:off x="3972502" y="1412559"/>
              <a:ext cx="6577800" cy="4742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資料代表性:</a:t>
              </a:r>
              <a:endParaRPr b="0" i="0" sz="1400" u="none" cap="none" strike="noStrike">
                <a:solidFill>
                  <a:srgbClr val="000000"/>
                </a:solidFill>
                <a:latin typeface="Arial"/>
                <a:ea typeface="Arial"/>
                <a:cs typeface="Arial"/>
                <a:sym typeface="Arial"/>
              </a:endParaRPr>
            </a:p>
            <a:p>
              <a:pPr indent="0" lvl="0" marL="0" marR="0" rtl="0" algn="l">
                <a:lnSpc>
                  <a:spcPct val="111111"/>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用以訓練AI模型的資料是否具有代表性？</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11111"/>
                </a:lnSpc>
                <a:spcBef>
                  <a:spcPts val="0"/>
                </a:spcBef>
                <a:spcAft>
                  <a:spcPts val="0"/>
                </a:spcAft>
                <a:buClr>
                  <a:srgbClr val="000000"/>
                </a:buClr>
                <a:buSzPts val="1800"/>
                <a:buFont typeface="Arial"/>
                <a:buNone/>
              </a:pPr>
              <a:r>
                <a:rPr b="0" i="0" lang="zh-TW" sz="1800" u="none" cap="none" strike="noStrike">
                  <a:solidFill>
                    <a:srgbClr val="713613"/>
                  </a:solidFill>
                  <a:latin typeface="Microsoft JhengHei"/>
                  <a:ea typeface="Microsoft JhengHei"/>
                  <a:cs typeface="Microsoft JhengHei"/>
                  <a:sym typeface="Microsoft JhengHei"/>
                </a:rPr>
                <a:t>（例如:空拍影像蒐集集中於特定區域）</a:t>
              </a:r>
              <a:endParaRPr b="1" i="0" sz="1800" u="none" cap="none" strike="noStrike">
                <a:solidFill>
                  <a:srgbClr val="FF0000"/>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AI結果偏誤:</a:t>
              </a:r>
              <a:endParaRPr b="0" i="0" sz="1400" u="none" cap="none" strike="noStrike">
                <a:solidFill>
                  <a:srgbClr val="000000"/>
                </a:solidFill>
                <a:latin typeface="Arial"/>
                <a:ea typeface="Arial"/>
                <a:cs typeface="Arial"/>
                <a:sym typeface="Arial"/>
              </a:endParaRPr>
            </a:p>
            <a:p>
              <a:pPr indent="0" lvl="0" marL="0" marR="0" rtl="0" algn="l">
                <a:lnSpc>
                  <a:spcPct val="111111"/>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是否規劃建立機制，以檢視AI輸出結果是否造成群體偏差</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11111"/>
                </a:lnSpc>
                <a:spcBef>
                  <a:spcPts val="0"/>
                </a:spcBef>
                <a:spcAft>
                  <a:spcPts val="0"/>
                </a:spcAft>
                <a:buClr>
                  <a:srgbClr val="000000"/>
                </a:buClr>
                <a:buSzPts val="1800"/>
                <a:buFont typeface="Arial"/>
                <a:buNone/>
              </a:pPr>
              <a:r>
                <a:rPr b="0" i="0" lang="zh-TW" sz="1800" u="none" cap="none" strike="noStrike">
                  <a:solidFill>
                    <a:srgbClr val="713613"/>
                  </a:solidFill>
                  <a:latin typeface="Microsoft JhengHei"/>
                  <a:ea typeface="Microsoft JhengHei"/>
                  <a:cs typeface="Microsoft JhengHei"/>
                  <a:sym typeface="Microsoft JhengHei"/>
                </a:rPr>
                <a:t>（例如:空拍影像集中於特定區域蒐集，導致其他區域的空拍影像辨識度較差）</a:t>
              </a:r>
              <a:endParaRPr b="0" i="0" sz="1400" u="none" cap="none" strike="noStrike">
                <a:solidFill>
                  <a:srgbClr val="000000"/>
                </a:solidFill>
                <a:latin typeface="Arial"/>
                <a:ea typeface="Arial"/>
                <a:cs typeface="Arial"/>
                <a:sym typeface="Arial"/>
              </a:endParaRPr>
            </a:p>
            <a:p>
              <a:pPr indent="0" lvl="0" marL="0" marR="0" rtl="0" algn="l">
                <a:lnSpc>
                  <a:spcPct val="111111"/>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a:p>
              <a:pPr indent="0" lvl="0" marL="0" marR="0" rtl="0" algn="l">
                <a:lnSpc>
                  <a:spcPct val="95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教育AI設計者與開發者:</a:t>
              </a:r>
              <a:endParaRPr b="0" i="0" sz="1400" u="none" cap="none" strike="noStrike">
                <a:solidFill>
                  <a:srgbClr val="000000"/>
                </a:solidFill>
                <a:latin typeface="Arial"/>
                <a:ea typeface="Arial"/>
                <a:cs typeface="Arial"/>
                <a:sym typeface="Arial"/>
              </a:endParaRPr>
            </a:p>
            <a:p>
              <a:pPr indent="0" lvl="0" marL="0" marR="0" rtl="0" algn="l">
                <a:lnSpc>
                  <a:spcPct val="105555"/>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是否建立教育訓練計畫，幫助AI設計者和開發者意識到可能的偏誤？</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95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應用場域:</a:t>
              </a:r>
              <a:endParaRPr b="0" i="0" sz="1400" u="none" cap="none" strike="noStrike">
                <a:solidFill>
                  <a:srgbClr val="000000"/>
                </a:solidFill>
                <a:latin typeface="Arial"/>
                <a:ea typeface="Arial"/>
                <a:cs typeface="Arial"/>
                <a:sym typeface="Arial"/>
              </a:endParaRPr>
            </a:p>
            <a:p>
              <a:pPr indent="0" lvl="0" marL="0" marR="0" rtl="0" algn="l">
                <a:lnSpc>
                  <a:spcPct val="105555"/>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是否預設即將發展的AI模型的應用場域？</a:t>
              </a:r>
              <a:endParaRPr b="0" i="0" sz="1400" u="none" cap="none" strike="noStrike">
                <a:solidFill>
                  <a:srgbClr val="000000"/>
                </a:solidFill>
                <a:latin typeface="Arial"/>
                <a:ea typeface="Arial"/>
                <a:cs typeface="Arial"/>
                <a:sym typeface="Arial"/>
              </a:endParaRPr>
            </a:p>
            <a:p>
              <a:pPr indent="0" lvl="0" marL="0" marR="0" rtl="0" algn="l">
                <a:lnSpc>
                  <a:spcPct val="95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95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利害關係者:</a:t>
              </a:r>
              <a:endParaRPr b="0" i="0" sz="1400" u="none" cap="none" strike="noStrike">
                <a:solidFill>
                  <a:srgbClr val="000000"/>
                </a:solidFill>
                <a:latin typeface="Arial"/>
                <a:ea typeface="Arial"/>
                <a:cs typeface="Arial"/>
                <a:sym typeface="Arial"/>
              </a:endParaRPr>
            </a:p>
            <a:p>
              <a:pPr indent="0" lvl="0" marL="0" marR="0" rtl="0" algn="l">
                <a:lnSpc>
                  <a:spcPct val="105555"/>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是否建立機制以蒐集潛在使用者的意見？</a:t>
              </a:r>
              <a:endParaRPr b="0" i="0" sz="1400" u="none" cap="none" strike="noStrike">
                <a:solidFill>
                  <a:srgbClr val="000000"/>
                </a:solidFill>
                <a:latin typeface="Arial"/>
                <a:ea typeface="Arial"/>
                <a:cs typeface="Arial"/>
                <a:sym typeface="Arial"/>
              </a:endParaRPr>
            </a:p>
          </p:txBody>
        </p:sp>
        <p:cxnSp>
          <p:nvCxnSpPr>
            <p:cNvPr id="366" name="Google Shape;366;p20"/>
            <p:cNvCxnSpPr/>
            <p:nvPr/>
          </p:nvCxnSpPr>
          <p:spPr>
            <a:xfrm>
              <a:off x="4068147" y="2383973"/>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367" name="Google Shape;367;p20"/>
            <p:cNvCxnSpPr/>
            <p:nvPr/>
          </p:nvCxnSpPr>
          <p:spPr>
            <a:xfrm>
              <a:off x="4068147" y="3648275"/>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368" name="Google Shape;368;p20"/>
            <p:cNvCxnSpPr/>
            <p:nvPr/>
          </p:nvCxnSpPr>
          <p:spPr>
            <a:xfrm>
              <a:off x="4068147" y="4604315"/>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369" name="Google Shape;369;p20"/>
            <p:cNvCxnSpPr/>
            <p:nvPr/>
          </p:nvCxnSpPr>
          <p:spPr>
            <a:xfrm>
              <a:off x="4068147" y="5325883"/>
              <a:ext cx="6207190" cy="0"/>
            </a:xfrm>
            <a:prstGeom prst="straightConnector1">
              <a:avLst/>
            </a:prstGeom>
            <a:noFill/>
            <a:ln cap="flat" cmpd="sng" w="9525">
              <a:solidFill>
                <a:schemeClr val="dk1"/>
              </a:solidFill>
              <a:prstDash val="solid"/>
              <a:miter lim="800000"/>
              <a:headEnd len="sm" w="sm" type="none"/>
              <a:tailEnd len="sm" w="sm" type="none"/>
            </a:ln>
          </p:spPr>
        </p:cxnSp>
      </p:grpSp>
      <p:pic>
        <p:nvPicPr>
          <p:cNvPr id="370" name="Google Shape;370;p20">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371" name="Google Shape;371;p20"/>
          <p:cNvGrpSpPr/>
          <p:nvPr/>
        </p:nvGrpSpPr>
        <p:grpSpPr>
          <a:xfrm>
            <a:off x="1373477" y="2758321"/>
            <a:ext cx="2674353" cy="1341358"/>
            <a:chOff x="1469994" y="3087274"/>
            <a:chExt cx="2674353" cy="1341358"/>
          </a:xfrm>
        </p:grpSpPr>
        <p:sp>
          <p:nvSpPr>
            <p:cNvPr id="372" name="Google Shape;372;p20"/>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公平性</a:t>
              </a:r>
              <a:endParaRPr b="0" i="0" sz="1400" u="none" cap="none" strike="noStrike">
                <a:solidFill>
                  <a:srgbClr val="000000"/>
                </a:solidFill>
                <a:latin typeface="Arial"/>
                <a:ea typeface="Arial"/>
                <a:cs typeface="Arial"/>
                <a:sym typeface="Arial"/>
              </a:endParaRPr>
            </a:p>
          </p:txBody>
        </p:sp>
        <p:sp>
          <p:nvSpPr>
            <p:cNvPr id="373" name="Google Shape;373;p20"/>
            <p:cNvSpPr txBox="1"/>
            <p:nvPr/>
          </p:nvSpPr>
          <p:spPr>
            <a:xfrm>
              <a:off x="1611809" y="3087274"/>
              <a:ext cx="2199662"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B46A62"/>
                  </a:solidFill>
                  <a:latin typeface="Arial"/>
                  <a:ea typeface="Arial"/>
                  <a:cs typeface="Arial"/>
                  <a:sym typeface="Arial"/>
                </a:rPr>
                <a:t>F</a:t>
              </a:r>
              <a:r>
                <a:rPr b="1" i="0" lang="zh-TW" sz="2800" u="sng" cap="none" strike="noStrike">
                  <a:solidFill>
                    <a:schemeClr val="dk1"/>
                  </a:solidFill>
                  <a:latin typeface="Arial"/>
                  <a:ea typeface="Arial"/>
                  <a:cs typeface="Arial"/>
                  <a:sym typeface="Arial"/>
                </a:rPr>
                <a:t>airness</a:t>
              </a:r>
              <a:endParaRPr b="0" i="0" sz="2800" u="sng" cap="none" strike="noStrike">
                <a:solidFill>
                  <a:schemeClr val="dk1"/>
                </a:solidFill>
                <a:latin typeface="Arial"/>
                <a:ea typeface="Arial"/>
                <a:cs typeface="Arial"/>
                <a:sym typeface="Arial"/>
              </a:endParaRPr>
            </a:p>
          </p:txBody>
        </p:sp>
      </p:grpSp>
      <p:grpSp>
        <p:nvGrpSpPr>
          <p:cNvPr id="374" name="Google Shape;374;p20"/>
          <p:cNvGrpSpPr/>
          <p:nvPr/>
        </p:nvGrpSpPr>
        <p:grpSpPr>
          <a:xfrm>
            <a:off x="1959429" y="598752"/>
            <a:ext cx="1453063" cy="737119"/>
            <a:chOff x="2080727" y="858416"/>
            <a:chExt cx="1453063" cy="737119"/>
          </a:xfrm>
        </p:grpSpPr>
        <p:sp>
          <p:nvSpPr>
            <p:cNvPr id="375" name="Google Shape;375;p20"/>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建模前</a:t>
              </a:r>
              <a:endParaRPr b="0" i="0" sz="2400" u="none" cap="none" strike="noStrike">
                <a:solidFill>
                  <a:schemeClr val="dk1"/>
                </a:solidFill>
                <a:latin typeface="Calibri"/>
                <a:ea typeface="Calibri"/>
                <a:cs typeface="Calibri"/>
                <a:sym typeface="Calibri"/>
              </a:endParaRPr>
            </a:p>
          </p:txBody>
        </p:sp>
        <p:sp>
          <p:nvSpPr>
            <p:cNvPr id="376" name="Google Shape;376;p20"/>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pic>
        <p:nvPicPr>
          <p:cNvPr id="381" name="Google Shape;381;p21"/>
          <p:cNvPicPr preferRelativeResize="0"/>
          <p:nvPr/>
        </p:nvPicPr>
        <p:blipFill rotWithShape="1">
          <a:blip r:embed="rId3">
            <a:alphaModFix/>
          </a:blip>
          <a:srcRect b="0" l="0" r="0" t="0"/>
          <a:stretch/>
        </p:blipFill>
        <p:spPr>
          <a:xfrm>
            <a:off x="-704850" y="-396478"/>
            <a:ext cx="13601700" cy="7650956"/>
          </a:xfrm>
          <a:prstGeom prst="rect">
            <a:avLst/>
          </a:prstGeom>
          <a:noFill/>
          <a:ln>
            <a:noFill/>
          </a:ln>
        </p:spPr>
      </p:pic>
      <p:grpSp>
        <p:nvGrpSpPr>
          <p:cNvPr id="382" name="Google Shape;382;p21"/>
          <p:cNvGrpSpPr/>
          <p:nvPr/>
        </p:nvGrpSpPr>
        <p:grpSpPr>
          <a:xfrm>
            <a:off x="3926774" y="1895470"/>
            <a:ext cx="6764100" cy="3244506"/>
            <a:chOff x="3926774" y="2047870"/>
            <a:chExt cx="6764100" cy="3244506"/>
          </a:xfrm>
        </p:grpSpPr>
        <p:cxnSp>
          <p:nvCxnSpPr>
            <p:cNvPr id="383" name="Google Shape;383;p21"/>
            <p:cNvCxnSpPr/>
            <p:nvPr/>
          </p:nvCxnSpPr>
          <p:spPr>
            <a:xfrm>
              <a:off x="4068147" y="3163073"/>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384" name="Google Shape;384;p21"/>
            <p:cNvCxnSpPr/>
            <p:nvPr/>
          </p:nvCxnSpPr>
          <p:spPr>
            <a:xfrm>
              <a:off x="4068147" y="4170780"/>
              <a:ext cx="6207190" cy="0"/>
            </a:xfrm>
            <a:prstGeom prst="straightConnector1">
              <a:avLst/>
            </a:prstGeom>
            <a:noFill/>
            <a:ln cap="flat" cmpd="sng" w="9525">
              <a:solidFill>
                <a:schemeClr val="dk1"/>
              </a:solidFill>
              <a:prstDash val="solid"/>
              <a:miter lim="800000"/>
              <a:headEnd len="sm" w="sm" type="none"/>
              <a:tailEnd len="sm" w="sm" type="none"/>
            </a:ln>
          </p:spPr>
        </p:cxnSp>
        <p:grpSp>
          <p:nvGrpSpPr>
            <p:cNvPr id="385" name="Google Shape;385;p21"/>
            <p:cNvGrpSpPr/>
            <p:nvPr/>
          </p:nvGrpSpPr>
          <p:grpSpPr>
            <a:xfrm>
              <a:off x="3926774" y="2047870"/>
              <a:ext cx="6764100" cy="3244506"/>
              <a:chOff x="3926774" y="2047870"/>
              <a:chExt cx="6764100" cy="3244506"/>
            </a:xfrm>
          </p:grpSpPr>
          <p:sp>
            <p:nvSpPr>
              <p:cNvPr id="386" name="Google Shape;386;p21"/>
              <p:cNvSpPr txBox="1"/>
              <p:nvPr/>
            </p:nvSpPr>
            <p:spPr>
              <a:xfrm>
                <a:off x="3926774" y="2047870"/>
                <a:ext cx="6764100" cy="1107965"/>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FF0000"/>
                  </a:buClr>
                  <a:buSzPts val="2000"/>
                  <a:buFont typeface="Microsoft JhengHei"/>
                  <a:buNone/>
                </a:pPr>
                <a:r>
                  <a:rPr b="1" i="0" lang="zh-TW" sz="2000" u="none" cap="none" strike="noStrike">
                    <a:solidFill>
                      <a:srgbClr val="FF0000"/>
                    </a:solidFill>
                    <a:latin typeface="Microsoft JhengHei"/>
                    <a:ea typeface="Microsoft JhengHei"/>
                    <a:cs typeface="Microsoft JhengHei"/>
                    <a:sym typeface="Microsoft JhengHei"/>
                  </a:rPr>
                  <a:t>評估資料安全</a:t>
                </a:r>
                <a:r>
                  <a:rPr b="1" i="0" lang="zh-TW" sz="2000" u="none" cap="none" strike="noStrike">
                    <a:solidFill>
                      <a:schemeClr val="dk1"/>
                    </a:solidFill>
                    <a:latin typeface="Microsoft JhengHei"/>
                    <a:ea typeface="Microsoft JhengHei"/>
                    <a:cs typeface="Microsoft JhengHei"/>
                    <a:sym typeface="Microsoft JhengHei"/>
                  </a:rPr>
                  <a:t>:</a:t>
                </a:r>
                <a:endParaRPr b="1" i="0" sz="20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chemeClr val="dk1"/>
                  </a:buClr>
                  <a:buSzPts val="2000"/>
                  <a:buFont typeface="Microsoft JhengHei"/>
                  <a:buNone/>
                </a:pPr>
                <a:r>
                  <a:rPr b="1" i="0" lang="zh-TW" sz="2000" u="none" cap="none" strike="noStrike">
                    <a:solidFill>
                      <a:schemeClr val="dk1"/>
                    </a:solidFill>
                    <a:latin typeface="Microsoft JhengHei"/>
                    <a:ea typeface="Microsoft JhengHei"/>
                    <a:cs typeface="Microsoft JhengHei"/>
                    <a:sym typeface="Microsoft JhengHei"/>
                  </a:rPr>
                  <a:t>確認AI模型的訓練與測試資料是否乾淨安全？</a:t>
                </a:r>
                <a:endParaRPr b="1" i="0" sz="2000" u="none" cap="none" strike="noStrike">
                  <a:solidFill>
                    <a:schemeClr val="dk1"/>
                  </a:solidFill>
                  <a:latin typeface="Microsoft JhengHei"/>
                  <a:ea typeface="Microsoft JhengHei"/>
                  <a:cs typeface="Microsoft JhengHei"/>
                  <a:sym typeface="Microsoft JhengHei"/>
                </a:endParaRPr>
              </a:p>
            </p:txBody>
          </p:sp>
          <p:sp>
            <p:nvSpPr>
              <p:cNvPr id="387" name="Google Shape;387;p21"/>
              <p:cNvSpPr txBox="1"/>
              <p:nvPr/>
            </p:nvSpPr>
            <p:spPr>
              <a:xfrm>
                <a:off x="3926774" y="3076446"/>
                <a:ext cx="6764100" cy="11079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FF0000"/>
                  </a:buClr>
                  <a:buSzPts val="2000"/>
                  <a:buFont typeface="Microsoft JhengHei"/>
                  <a:buNone/>
                </a:pPr>
                <a:r>
                  <a:rPr b="1" i="0" lang="zh-TW" sz="2000" u="none" cap="none" strike="noStrike">
                    <a:solidFill>
                      <a:srgbClr val="FF0000"/>
                    </a:solidFill>
                    <a:latin typeface="Microsoft JhengHei"/>
                    <a:ea typeface="Microsoft JhengHei"/>
                    <a:cs typeface="Microsoft JhengHei"/>
                    <a:sym typeface="Microsoft JhengHei"/>
                  </a:rPr>
                  <a:t>建立資安機制</a:t>
                </a:r>
                <a:r>
                  <a:rPr b="1" i="0" lang="zh-TW" sz="2000" u="none" cap="none" strike="noStrike">
                    <a:solidFill>
                      <a:schemeClr val="dk1"/>
                    </a:solidFill>
                    <a:latin typeface="Microsoft JhengHei"/>
                    <a:ea typeface="Microsoft JhengHei"/>
                    <a:cs typeface="Microsoft JhengHei"/>
                    <a:sym typeface="Microsoft JhengHei"/>
                  </a:rPr>
                  <a:t>:</a:t>
                </a:r>
                <a:endParaRPr b="1" i="0" sz="20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chemeClr val="dk1"/>
                  </a:buClr>
                  <a:buSzPts val="2000"/>
                  <a:buFont typeface="Microsoft JhengHei"/>
                  <a:buNone/>
                </a:pPr>
                <a:r>
                  <a:rPr b="1" i="0" lang="zh-TW" sz="2000" u="none" cap="none" strike="noStrike">
                    <a:solidFill>
                      <a:schemeClr val="dk1"/>
                    </a:solidFill>
                    <a:latin typeface="Microsoft JhengHei"/>
                    <a:ea typeface="Microsoft JhengHei"/>
                    <a:cs typeface="Microsoft JhengHei"/>
                    <a:sym typeface="Microsoft JhengHei"/>
                  </a:rPr>
                  <a:t>針對AI模型是否建立資安管理程序？</a:t>
                </a:r>
                <a:endParaRPr b="1" i="0" sz="2000" u="none" cap="none" strike="noStrike">
                  <a:solidFill>
                    <a:schemeClr val="dk1"/>
                  </a:solidFill>
                  <a:latin typeface="Microsoft JhengHei"/>
                  <a:ea typeface="Microsoft JhengHei"/>
                  <a:cs typeface="Microsoft JhengHei"/>
                  <a:sym typeface="Microsoft JhengHei"/>
                </a:endParaRPr>
              </a:p>
            </p:txBody>
          </p:sp>
          <p:sp>
            <p:nvSpPr>
              <p:cNvPr id="388" name="Google Shape;388;p21"/>
              <p:cNvSpPr txBox="1"/>
              <p:nvPr/>
            </p:nvSpPr>
            <p:spPr>
              <a:xfrm>
                <a:off x="3936191" y="4184411"/>
                <a:ext cx="6339145" cy="1107965"/>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FF0000"/>
                  </a:buClr>
                  <a:buSzPts val="2000"/>
                  <a:buFont typeface="Microsoft JhengHei"/>
                  <a:buNone/>
                </a:pPr>
                <a:r>
                  <a:rPr b="1" i="0" lang="zh-TW" sz="2000" u="none" cap="none" strike="noStrike">
                    <a:solidFill>
                      <a:srgbClr val="FF0000"/>
                    </a:solidFill>
                    <a:latin typeface="Microsoft JhengHei"/>
                    <a:ea typeface="Microsoft JhengHei"/>
                    <a:cs typeface="Microsoft JhengHei"/>
                    <a:sym typeface="Microsoft JhengHei"/>
                  </a:rPr>
                  <a:t>評估外來攻擊</a:t>
                </a:r>
                <a:r>
                  <a:rPr b="1" i="0" lang="zh-TW" sz="2000" u="none" cap="none" strike="noStrike">
                    <a:solidFill>
                      <a:schemeClr val="dk1"/>
                    </a:solidFill>
                    <a:latin typeface="Microsoft JhengHei"/>
                    <a:ea typeface="Microsoft JhengHei"/>
                    <a:cs typeface="Microsoft JhengHei"/>
                    <a:sym typeface="Microsoft JhengHei"/>
                  </a:rPr>
                  <a:t>:</a:t>
                </a:r>
                <a:endParaRPr b="1" i="0" sz="20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chemeClr val="dk1"/>
                  </a:buClr>
                  <a:buSzPts val="2000"/>
                  <a:buFont typeface="Microsoft JhengHei"/>
                  <a:buNone/>
                </a:pPr>
                <a:r>
                  <a:rPr b="1" i="0" lang="zh-TW" sz="2000" u="none" cap="none" strike="noStrike">
                    <a:solidFill>
                      <a:schemeClr val="dk1"/>
                    </a:solidFill>
                    <a:latin typeface="Microsoft JhengHei"/>
                    <a:ea typeface="Microsoft JhengHei"/>
                    <a:cs typeface="Microsoft JhengHei"/>
                    <a:sym typeface="Microsoft JhengHei"/>
                  </a:rPr>
                  <a:t>是否預測即將發展的AI模型可能會受到哪些外來的攻擊？</a:t>
                </a:r>
                <a:endParaRPr b="1" i="0" sz="2000" u="none" cap="none" strike="noStrike">
                  <a:solidFill>
                    <a:schemeClr val="dk1"/>
                  </a:solidFill>
                  <a:latin typeface="Microsoft JhengHei"/>
                  <a:ea typeface="Microsoft JhengHei"/>
                  <a:cs typeface="Microsoft JhengHei"/>
                  <a:sym typeface="Microsoft JhengHei"/>
                </a:endParaRPr>
              </a:p>
            </p:txBody>
          </p:sp>
        </p:grpSp>
      </p:grpSp>
      <p:pic>
        <p:nvPicPr>
          <p:cNvPr id="389" name="Google Shape;389;p21">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390" name="Google Shape;390;p21"/>
          <p:cNvGrpSpPr/>
          <p:nvPr/>
        </p:nvGrpSpPr>
        <p:grpSpPr>
          <a:xfrm>
            <a:off x="1181734" y="2758321"/>
            <a:ext cx="2674353" cy="1341358"/>
            <a:chOff x="1469994" y="3087274"/>
            <a:chExt cx="2674353" cy="1341358"/>
          </a:xfrm>
        </p:grpSpPr>
        <p:sp>
          <p:nvSpPr>
            <p:cNvPr id="391" name="Google Shape;391;p21"/>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資訊安全</a:t>
              </a:r>
              <a:endParaRPr b="0" i="0" sz="1400" u="none" cap="none" strike="noStrike">
                <a:solidFill>
                  <a:srgbClr val="000000"/>
                </a:solidFill>
                <a:latin typeface="Arial"/>
                <a:ea typeface="Arial"/>
                <a:cs typeface="Arial"/>
                <a:sym typeface="Arial"/>
              </a:endParaRPr>
            </a:p>
          </p:txBody>
        </p:sp>
        <p:sp>
          <p:nvSpPr>
            <p:cNvPr id="392" name="Google Shape;392;p21"/>
            <p:cNvSpPr txBox="1"/>
            <p:nvPr/>
          </p:nvSpPr>
          <p:spPr>
            <a:xfrm>
              <a:off x="1729279" y="3087274"/>
              <a:ext cx="2082191"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CEA488"/>
                  </a:solidFill>
                  <a:latin typeface="Arial"/>
                  <a:ea typeface="Arial"/>
                  <a:cs typeface="Arial"/>
                  <a:sym typeface="Arial"/>
                </a:rPr>
                <a:t>S</a:t>
              </a:r>
              <a:r>
                <a:rPr b="0" i="0" lang="zh-TW" sz="2800" u="sng" cap="none" strike="noStrike">
                  <a:solidFill>
                    <a:schemeClr val="dk1"/>
                  </a:solidFill>
                  <a:latin typeface="Arial"/>
                  <a:ea typeface="Arial"/>
                  <a:cs typeface="Arial"/>
                  <a:sym typeface="Arial"/>
                </a:rPr>
                <a:t>ecurity</a:t>
              </a:r>
              <a:endParaRPr b="0" i="0" sz="2800" u="sng" cap="none" strike="noStrike">
                <a:solidFill>
                  <a:schemeClr val="dk1"/>
                </a:solidFill>
                <a:latin typeface="Arial"/>
                <a:ea typeface="Arial"/>
                <a:cs typeface="Arial"/>
                <a:sym typeface="Arial"/>
              </a:endParaRPr>
            </a:p>
          </p:txBody>
        </p:sp>
      </p:grpSp>
      <p:grpSp>
        <p:nvGrpSpPr>
          <p:cNvPr id="393" name="Google Shape;393;p21"/>
          <p:cNvGrpSpPr/>
          <p:nvPr/>
        </p:nvGrpSpPr>
        <p:grpSpPr>
          <a:xfrm>
            <a:off x="1755582" y="369731"/>
            <a:ext cx="1453063" cy="737119"/>
            <a:chOff x="2080727" y="858416"/>
            <a:chExt cx="1453063" cy="737119"/>
          </a:xfrm>
        </p:grpSpPr>
        <p:sp>
          <p:nvSpPr>
            <p:cNvPr id="394" name="Google Shape;394;p21"/>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建模前</a:t>
              </a:r>
              <a:endParaRPr b="0" i="0" sz="2400" u="none" cap="none" strike="noStrike">
                <a:solidFill>
                  <a:schemeClr val="dk1"/>
                </a:solidFill>
                <a:latin typeface="Calibri"/>
                <a:ea typeface="Calibri"/>
                <a:cs typeface="Calibri"/>
                <a:sym typeface="Calibri"/>
              </a:endParaRPr>
            </a:p>
          </p:txBody>
        </p:sp>
        <p:sp>
          <p:nvSpPr>
            <p:cNvPr id="395" name="Google Shape;395;p21"/>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pic>
        <p:nvPicPr>
          <p:cNvPr id="400" name="Google Shape;400;p22"/>
          <p:cNvPicPr preferRelativeResize="0"/>
          <p:nvPr/>
        </p:nvPicPr>
        <p:blipFill rotWithShape="1">
          <a:blip r:embed="rId3">
            <a:alphaModFix/>
          </a:blip>
          <a:srcRect b="0" l="0" r="0" t="0"/>
          <a:stretch/>
        </p:blipFill>
        <p:spPr>
          <a:xfrm>
            <a:off x="0" y="214"/>
            <a:ext cx="12192000" cy="6857571"/>
          </a:xfrm>
          <a:prstGeom prst="rect">
            <a:avLst/>
          </a:prstGeom>
          <a:noFill/>
          <a:ln>
            <a:noFill/>
          </a:ln>
        </p:spPr>
      </p:pic>
      <p:sp>
        <p:nvSpPr>
          <p:cNvPr id="401" name="Google Shape;401;p22"/>
          <p:cNvSpPr txBox="1"/>
          <p:nvPr/>
        </p:nvSpPr>
        <p:spPr>
          <a:xfrm>
            <a:off x="4120028" y="839899"/>
            <a:ext cx="3951944"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zh-TW" sz="3200" u="none" cap="none" strike="noStrike">
                <a:solidFill>
                  <a:schemeClr val="lt1"/>
                </a:solidFill>
                <a:latin typeface="Microsoft JhengHei"/>
                <a:ea typeface="Microsoft JhengHei"/>
                <a:cs typeface="Microsoft JhengHei"/>
                <a:sym typeface="Microsoft JhengHei"/>
              </a:rPr>
              <a:t>TAI指標:建模中</a:t>
            </a:r>
            <a:endParaRPr b="0" i="0" sz="1400" u="none" cap="none" strike="noStrike">
              <a:solidFill>
                <a:srgbClr val="000000"/>
              </a:solidFill>
              <a:latin typeface="Arial"/>
              <a:ea typeface="Arial"/>
              <a:cs typeface="Arial"/>
              <a:sym typeface="Arial"/>
            </a:endParaRPr>
          </a:p>
        </p:txBody>
      </p:sp>
      <p:pic>
        <p:nvPicPr>
          <p:cNvPr id="402" name="Google Shape;402;p22">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403" name="Google Shape;403;p22"/>
          <p:cNvGrpSpPr/>
          <p:nvPr/>
        </p:nvGrpSpPr>
        <p:grpSpPr>
          <a:xfrm>
            <a:off x="2108719" y="1942684"/>
            <a:ext cx="8164285" cy="4483137"/>
            <a:chOff x="2108719" y="1942684"/>
            <a:chExt cx="8164285" cy="4483137"/>
          </a:xfrm>
        </p:grpSpPr>
        <p:pic>
          <p:nvPicPr>
            <p:cNvPr id="404" name="Google Shape;404;p22">
              <a:hlinkClick action="ppaction://hlinksldjump" r:id="rId6"/>
            </p:cNvPr>
            <p:cNvPicPr preferRelativeResize="0"/>
            <p:nvPr/>
          </p:nvPicPr>
          <p:blipFill rotWithShape="1">
            <a:blip r:embed="rId7">
              <a:alphaModFix/>
            </a:blip>
            <a:srcRect b="24729" l="19269" r="12523" t="27283"/>
            <a:stretch/>
          </p:blipFill>
          <p:spPr>
            <a:xfrm>
              <a:off x="4874581" y="1946842"/>
              <a:ext cx="2491274" cy="982971"/>
            </a:xfrm>
            <a:prstGeom prst="rect">
              <a:avLst/>
            </a:prstGeom>
            <a:noFill/>
            <a:ln>
              <a:noFill/>
            </a:ln>
          </p:spPr>
        </p:pic>
        <p:pic>
          <p:nvPicPr>
            <p:cNvPr id="405" name="Google Shape;405;p22">
              <a:hlinkClick action="ppaction://hlinksldjump" r:id="rId8"/>
            </p:cNvPr>
            <p:cNvPicPr preferRelativeResize="0"/>
            <p:nvPr/>
          </p:nvPicPr>
          <p:blipFill rotWithShape="1">
            <a:blip r:embed="rId9">
              <a:alphaModFix/>
            </a:blip>
            <a:srcRect b="26542" l="18318" r="9639" t="25469"/>
            <a:stretch/>
          </p:blipFill>
          <p:spPr>
            <a:xfrm>
              <a:off x="7641771" y="1942684"/>
              <a:ext cx="2631233" cy="982972"/>
            </a:xfrm>
            <a:prstGeom prst="rect">
              <a:avLst/>
            </a:prstGeom>
            <a:noFill/>
            <a:ln>
              <a:noFill/>
            </a:ln>
          </p:spPr>
        </p:pic>
        <p:pic>
          <p:nvPicPr>
            <p:cNvPr id="406" name="Google Shape;406;p22">
              <a:hlinkClick action="ppaction://hlinksldjump" r:id="rId10"/>
            </p:cNvPr>
            <p:cNvPicPr preferRelativeResize="0"/>
            <p:nvPr/>
          </p:nvPicPr>
          <p:blipFill rotWithShape="1">
            <a:blip r:embed="rId11">
              <a:alphaModFix/>
            </a:blip>
            <a:srcRect b="25447" l="17947" r="11071" t="26567"/>
            <a:stretch/>
          </p:blipFill>
          <p:spPr>
            <a:xfrm>
              <a:off x="4851921" y="3065833"/>
              <a:ext cx="2592580" cy="982971"/>
            </a:xfrm>
            <a:prstGeom prst="rect">
              <a:avLst/>
            </a:prstGeom>
            <a:noFill/>
            <a:ln>
              <a:noFill/>
            </a:ln>
          </p:spPr>
        </p:pic>
        <p:pic>
          <p:nvPicPr>
            <p:cNvPr id="407" name="Google Shape;407;p22">
              <a:hlinkClick action="ppaction://hlinksldjump" r:id="rId12"/>
            </p:cNvPr>
            <p:cNvPicPr preferRelativeResize="0"/>
            <p:nvPr/>
          </p:nvPicPr>
          <p:blipFill rotWithShape="1">
            <a:blip r:embed="rId13">
              <a:alphaModFix/>
            </a:blip>
            <a:srcRect b="25909" l="17766" r="11672" t="26102"/>
            <a:stretch/>
          </p:blipFill>
          <p:spPr>
            <a:xfrm>
              <a:off x="7668792" y="3065833"/>
              <a:ext cx="2577190" cy="982971"/>
            </a:xfrm>
            <a:prstGeom prst="rect">
              <a:avLst/>
            </a:prstGeom>
            <a:noFill/>
            <a:ln>
              <a:noFill/>
            </a:ln>
          </p:spPr>
        </p:pic>
        <p:pic>
          <p:nvPicPr>
            <p:cNvPr id="408" name="Google Shape;408;p22">
              <a:hlinkClick action="ppaction://hlinksldjump" r:id="rId14"/>
            </p:cNvPr>
            <p:cNvPicPr preferRelativeResize="0"/>
            <p:nvPr/>
          </p:nvPicPr>
          <p:blipFill rotWithShape="1">
            <a:blip r:embed="rId15">
              <a:alphaModFix/>
            </a:blip>
            <a:srcRect b="22633" l="17346" r="11672" t="24780"/>
            <a:stretch/>
          </p:blipFill>
          <p:spPr>
            <a:xfrm>
              <a:off x="4833259" y="4176809"/>
              <a:ext cx="2592581" cy="1077165"/>
            </a:xfrm>
            <a:prstGeom prst="rect">
              <a:avLst/>
            </a:prstGeom>
            <a:noFill/>
            <a:ln>
              <a:noFill/>
            </a:ln>
          </p:spPr>
        </p:pic>
        <p:pic>
          <p:nvPicPr>
            <p:cNvPr id="409" name="Google Shape;409;p22">
              <a:hlinkClick action="ppaction://hlinksldjump" r:id="rId16"/>
            </p:cNvPr>
            <p:cNvPicPr preferRelativeResize="0"/>
            <p:nvPr/>
          </p:nvPicPr>
          <p:blipFill rotWithShape="1">
            <a:blip r:embed="rId17">
              <a:alphaModFix/>
            </a:blip>
            <a:srcRect b="23361" l="17766" r="11672" t="24054"/>
            <a:stretch/>
          </p:blipFill>
          <p:spPr>
            <a:xfrm>
              <a:off x="7668792" y="4176809"/>
              <a:ext cx="2577190" cy="1077165"/>
            </a:xfrm>
            <a:prstGeom prst="rect">
              <a:avLst/>
            </a:prstGeom>
            <a:noFill/>
            <a:ln>
              <a:noFill/>
            </a:ln>
          </p:spPr>
        </p:pic>
        <p:pic>
          <p:nvPicPr>
            <p:cNvPr id="410" name="Google Shape;410;p22">
              <a:hlinkClick action="ppaction://hlinksldjump" r:id="rId18"/>
            </p:cNvPr>
            <p:cNvPicPr preferRelativeResize="0"/>
            <p:nvPr/>
          </p:nvPicPr>
          <p:blipFill rotWithShape="1">
            <a:blip r:embed="rId19">
              <a:alphaModFix/>
            </a:blip>
            <a:srcRect b="25633" l="17984" r="11761" t="27644"/>
            <a:stretch/>
          </p:blipFill>
          <p:spPr>
            <a:xfrm>
              <a:off x="2108719" y="1972749"/>
              <a:ext cx="2565918" cy="957064"/>
            </a:xfrm>
            <a:prstGeom prst="rect">
              <a:avLst/>
            </a:prstGeom>
            <a:noFill/>
            <a:ln>
              <a:noFill/>
            </a:ln>
          </p:spPr>
        </p:pic>
        <p:pic>
          <p:nvPicPr>
            <p:cNvPr id="411" name="Google Shape;411;p22">
              <a:hlinkClick action="ppaction://hlinksldjump" r:id="rId20"/>
            </p:cNvPr>
            <p:cNvPicPr preferRelativeResize="0"/>
            <p:nvPr/>
          </p:nvPicPr>
          <p:blipFill rotWithShape="1">
            <a:blip r:embed="rId21">
              <a:alphaModFix/>
            </a:blip>
            <a:srcRect b="23209" l="17985" r="13164" t="24206"/>
            <a:stretch/>
          </p:blipFill>
          <p:spPr>
            <a:xfrm>
              <a:off x="2134344" y="3018736"/>
              <a:ext cx="2514668" cy="1077165"/>
            </a:xfrm>
            <a:prstGeom prst="rect">
              <a:avLst/>
            </a:prstGeom>
            <a:noFill/>
            <a:ln>
              <a:noFill/>
            </a:ln>
          </p:spPr>
        </p:pic>
        <p:pic>
          <p:nvPicPr>
            <p:cNvPr id="412" name="Google Shape;412;p22">
              <a:hlinkClick action="ppaction://hlinksldjump" r:id="rId22"/>
            </p:cNvPr>
            <p:cNvPicPr preferRelativeResize="0"/>
            <p:nvPr/>
          </p:nvPicPr>
          <p:blipFill rotWithShape="1">
            <a:blip r:embed="rId23">
              <a:alphaModFix/>
            </a:blip>
            <a:srcRect b="23040" l="18412" r="13380" t="24374"/>
            <a:stretch/>
          </p:blipFill>
          <p:spPr>
            <a:xfrm>
              <a:off x="2146041" y="5348655"/>
              <a:ext cx="2491274" cy="1077166"/>
            </a:xfrm>
            <a:prstGeom prst="rect">
              <a:avLst/>
            </a:prstGeom>
            <a:noFill/>
            <a:ln>
              <a:noFill/>
            </a:ln>
          </p:spPr>
        </p:pic>
        <p:pic>
          <p:nvPicPr>
            <p:cNvPr id="413" name="Google Shape;413;p22">
              <a:hlinkClick action="ppaction://hlinksldjump" r:id="rId24"/>
            </p:cNvPr>
            <p:cNvPicPr preferRelativeResize="0"/>
            <p:nvPr/>
          </p:nvPicPr>
          <p:blipFill rotWithShape="1">
            <a:blip r:embed="rId25">
              <a:alphaModFix/>
            </a:blip>
            <a:srcRect b="24584" l="16800" r="11518" t="24381"/>
            <a:stretch/>
          </p:blipFill>
          <p:spPr>
            <a:xfrm>
              <a:off x="4874581" y="5304740"/>
              <a:ext cx="2551259" cy="1018686"/>
            </a:xfrm>
            <a:prstGeom prst="rect">
              <a:avLst/>
            </a:prstGeom>
            <a:noFill/>
            <a:ln>
              <a:noFill/>
            </a:ln>
          </p:spPr>
        </p:pic>
      </p:grpSp>
      <p:pic>
        <p:nvPicPr>
          <p:cNvPr id="414" name="Google Shape;414;p22">
            <a:hlinkClick action="ppaction://hlinksldjump" r:id="rId26"/>
          </p:cNvPr>
          <p:cNvPicPr preferRelativeResize="0"/>
          <p:nvPr/>
        </p:nvPicPr>
        <p:blipFill rotWithShape="1">
          <a:blip r:embed="rId27">
            <a:alphaModFix/>
          </a:blip>
          <a:srcRect b="24199" l="17229" r="13108" t="23041"/>
          <a:stretch/>
        </p:blipFill>
        <p:spPr>
          <a:xfrm>
            <a:off x="2134344" y="4176809"/>
            <a:ext cx="2491274" cy="105812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pic>
        <p:nvPicPr>
          <p:cNvPr id="419" name="Google Shape;419;p23"/>
          <p:cNvPicPr preferRelativeResize="0"/>
          <p:nvPr/>
        </p:nvPicPr>
        <p:blipFill rotWithShape="1">
          <a:blip r:embed="rId3">
            <a:alphaModFix/>
          </a:blip>
          <a:srcRect b="0" l="0" r="0" t="0"/>
          <a:stretch/>
        </p:blipFill>
        <p:spPr>
          <a:xfrm>
            <a:off x="0" y="76200"/>
            <a:ext cx="12192000" cy="6858000"/>
          </a:xfrm>
          <a:prstGeom prst="rect">
            <a:avLst/>
          </a:prstGeom>
          <a:noFill/>
          <a:ln>
            <a:noFill/>
          </a:ln>
        </p:spPr>
      </p:pic>
      <p:grpSp>
        <p:nvGrpSpPr>
          <p:cNvPr id="420" name="Google Shape;420;p23"/>
          <p:cNvGrpSpPr/>
          <p:nvPr/>
        </p:nvGrpSpPr>
        <p:grpSpPr>
          <a:xfrm>
            <a:off x="4053632" y="1497951"/>
            <a:ext cx="6272505" cy="4097400"/>
            <a:chOff x="4002832" y="1612251"/>
            <a:chExt cx="6272505" cy="4097400"/>
          </a:xfrm>
        </p:grpSpPr>
        <p:sp>
          <p:nvSpPr>
            <p:cNvPr id="421" name="Google Shape;421;p23"/>
            <p:cNvSpPr txBox="1"/>
            <p:nvPr/>
          </p:nvSpPr>
          <p:spPr>
            <a:xfrm>
              <a:off x="4002832" y="1612251"/>
              <a:ext cx="6097500" cy="4097400"/>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結果準確性:</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44444"/>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Accuracy:</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44444"/>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Precision:</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44444"/>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Recall:</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44444"/>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F1 measurement:</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30000"/>
                </a:lnSpc>
                <a:spcBef>
                  <a:spcPts val="0"/>
                </a:spcBef>
                <a:spcAft>
                  <a:spcPts val="0"/>
                </a:spcAft>
                <a:buClr>
                  <a:srgbClr val="000000"/>
                </a:buClr>
                <a:buSzPts val="400"/>
                <a:buFont typeface="Arial"/>
                <a:buNone/>
              </a:pPr>
              <a:r>
                <a:t/>
              </a:r>
              <a:endParaRPr b="1" i="0" sz="4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資料準確性監控:</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是否持續監控資料的品質、完整性</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模型準確性監控:</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是否持續監控及記錄AI模型準確性</a:t>
              </a:r>
              <a:endParaRPr b="0" i="0" sz="1400" u="none" cap="none" strike="noStrike">
                <a:solidFill>
                  <a:srgbClr val="000000"/>
                </a:solidFill>
                <a:latin typeface="Arial"/>
                <a:ea typeface="Arial"/>
                <a:cs typeface="Arial"/>
                <a:sym typeface="Arial"/>
              </a:endParaRPr>
            </a:p>
          </p:txBody>
        </p:sp>
        <p:cxnSp>
          <p:nvCxnSpPr>
            <p:cNvPr id="422" name="Google Shape;422;p23"/>
            <p:cNvCxnSpPr/>
            <p:nvPr/>
          </p:nvCxnSpPr>
          <p:spPr>
            <a:xfrm>
              <a:off x="4068147" y="3461657"/>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423" name="Google Shape;423;p23"/>
            <p:cNvCxnSpPr/>
            <p:nvPr/>
          </p:nvCxnSpPr>
          <p:spPr>
            <a:xfrm>
              <a:off x="4058816" y="4710405"/>
              <a:ext cx="62071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424" name="Google Shape;424;p23"/>
          <p:cNvGrpSpPr/>
          <p:nvPr/>
        </p:nvGrpSpPr>
        <p:grpSpPr>
          <a:xfrm>
            <a:off x="1533494" y="2755184"/>
            <a:ext cx="2674353" cy="1347631"/>
            <a:chOff x="1469994" y="3081001"/>
            <a:chExt cx="2674353" cy="1347631"/>
          </a:xfrm>
        </p:grpSpPr>
        <p:sp>
          <p:nvSpPr>
            <p:cNvPr id="425" name="Google Shape;425;p23"/>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準確性</a:t>
              </a:r>
              <a:endParaRPr b="0" i="0" sz="1400" u="none" cap="none" strike="noStrike">
                <a:solidFill>
                  <a:srgbClr val="000000"/>
                </a:solidFill>
                <a:latin typeface="Arial"/>
                <a:ea typeface="Arial"/>
                <a:cs typeface="Arial"/>
                <a:sym typeface="Arial"/>
              </a:endParaRPr>
            </a:p>
          </p:txBody>
        </p:sp>
        <p:sp>
          <p:nvSpPr>
            <p:cNvPr id="426" name="Google Shape;426;p23"/>
            <p:cNvSpPr txBox="1"/>
            <p:nvPr/>
          </p:nvSpPr>
          <p:spPr>
            <a:xfrm>
              <a:off x="1469994" y="3081001"/>
              <a:ext cx="2357887"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A4714B"/>
                  </a:solidFill>
                  <a:latin typeface="Arial"/>
                  <a:ea typeface="Arial"/>
                  <a:cs typeface="Arial"/>
                  <a:sym typeface="Arial"/>
                </a:rPr>
                <a:t>A</a:t>
              </a:r>
              <a:r>
                <a:rPr b="0" i="0" lang="zh-TW" sz="2800" u="sng" cap="none" strike="noStrike">
                  <a:solidFill>
                    <a:srgbClr val="000000"/>
                  </a:solidFill>
                  <a:latin typeface="Arial"/>
                  <a:ea typeface="Arial"/>
                  <a:cs typeface="Arial"/>
                  <a:sym typeface="Arial"/>
                </a:rPr>
                <a:t>ccuracy</a:t>
              </a:r>
              <a:endParaRPr b="0" i="0" sz="2800" u="sng" cap="none" strike="noStrike">
                <a:solidFill>
                  <a:schemeClr val="dk1"/>
                </a:solidFill>
                <a:latin typeface="Arial"/>
                <a:ea typeface="Arial"/>
                <a:cs typeface="Arial"/>
                <a:sym typeface="Arial"/>
              </a:endParaRPr>
            </a:p>
          </p:txBody>
        </p:sp>
      </p:grpSp>
      <p:pic>
        <p:nvPicPr>
          <p:cNvPr id="427" name="Google Shape;427;p23">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428" name="Google Shape;428;p23"/>
          <p:cNvGrpSpPr/>
          <p:nvPr/>
        </p:nvGrpSpPr>
        <p:grpSpPr>
          <a:xfrm>
            <a:off x="2022149" y="765112"/>
            <a:ext cx="1453063" cy="737119"/>
            <a:chOff x="2080727" y="858416"/>
            <a:chExt cx="1453063" cy="737119"/>
          </a:xfrm>
        </p:grpSpPr>
        <p:sp>
          <p:nvSpPr>
            <p:cNvPr id="429" name="Google Shape;429;p23"/>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建模中</a:t>
              </a:r>
              <a:endParaRPr b="0" i="0" sz="2400" u="none" cap="none" strike="noStrike">
                <a:solidFill>
                  <a:schemeClr val="dk1"/>
                </a:solidFill>
                <a:latin typeface="Calibri"/>
                <a:ea typeface="Calibri"/>
                <a:cs typeface="Calibri"/>
                <a:sym typeface="Calibri"/>
              </a:endParaRPr>
            </a:p>
          </p:txBody>
        </p:sp>
        <p:sp>
          <p:nvSpPr>
            <p:cNvPr id="430" name="Google Shape;430;p23"/>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pic>
        <p:nvPicPr>
          <p:cNvPr id="435" name="Google Shape;435;p24"/>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436" name="Google Shape;436;p24"/>
          <p:cNvGrpSpPr/>
          <p:nvPr/>
        </p:nvGrpSpPr>
        <p:grpSpPr>
          <a:xfrm>
            <a:off x="4144347" y="1490007"/>
            <a:ext cx="6263174" cy="3877985"/>
            <a:chOff x="4055707" y="1692009"/>
            <a:chExt cx="6263174" cy="3877985"/>
          </a:xfrm>
        </p:grpSpPr>
        <p:sp>
          <p:nvSpPr>
            <p:cNvPr id="437" name="Google Shape;437;p24"/>
            <p:cNvSpPr txBox="1"/>
            <p:nvPr/>
          </p:nvSpPr>
          <p:spPr>
            <a:xfrm>
              <a:off x="4055707" y="1692009"/>
              <a:ext cx="6097554" cy="387798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just">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決策可靠性：</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just">
                <a:lnSpc>
                  <a:spcPct val="10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AI模型在各種干擾之下，是否表現穩定，不會過度敏感於微小的干擾？</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just">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評估模型不良後果：</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just">
                <a:lnSpc>
                  <a:spcPct val="10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當AI模型因微小的干擾而表現不夠穩定，是否會造成緊急或具破壞性的負面影響？</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0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just">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提升可靠性之機制：</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just">
                <a:lnSpc>
                  <a:spcPct val="10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當AI模型因微小的干擾而表現不夠穩定，是否訂定適當程序加以矯正？</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FF0000"/>
                </a:solidFill>
                <a:latin typeface="Microsoft JhengHei"/>
                <a:ea typeface="Microsoft JhengHei"/>
                <a:cs typeface="Microsoft JhengHei"/>
                <a:sym typeface="Microsoft JhengHei"/>
              </a:endParaRPr>
            </a:p>
          </p:txBody>
        </p:sp>
        <p:cxnSp>
          <p:nvCxnSpPr>
            <p:cNvPr id="438" name="Google Shape;438;p24"/>
            <p:cNvCxnSpPr/>
            <p:nvPr/>
          </p:nvCxnSpPr>
          <p:spPr>
            <a:xfrm>
              <a:off x="4111691" y="3021587"/>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439" name="Google Shape;439;p24"/>
            <p:cNvCxnSpPr/>
            <p:nvPr/>
          </p:nvCxnSpPr>
          <p:spPr>
            <a:xfrm>
              <a:off x="4111691" y="4205019"/>
              <a:ext cx="62071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440" name="Google Shape;440;p24"/>
          <p:cNvGrpSpPr/>
          <p:nvPr/>
        </p:nvGrpSpPr>
        <p:grpSpPr>
          <a:xfrm>
            <a:off x="1571594" y="2857388"/>
            <a:ext cx="2674353" cy="1347631"/>
            <a:chOff x="1469994" y="3081001"/>
            <a:chExt cx="2674353" cy="1347631"/>
          </a:xfrm>
        </p:grpSpPr>
        <p:sp>
          <p:nvSpPr>
            <p:cNvPr id="441" name="Google Shape;441;p24"/>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可靠性</a:t>
              </a:r>
              <a:endParaRPr b="0" i="0" sz="1400" u="none" cap="none" strike="noStrike">
                <a:solidFill>
                  <a:srgbClr val="000000"/>
                </a:solidFill>
                <a:latin typeface="Arial"/>
                <a:ea typeface="Arial"/>
                <a:cs typeface="Arial"/>
                <a:sym typeface="Arial"/>
              </a:endParaRPr>
            </a:p>
          </p:txBody>
        </p:sp>
        <p:sp>
          <p:nvSpPr>
            <p:cNvPr id="442" name="Google Shape;442;p24"/>
            <p:cNvSpPr txBox="1"/>
            <p:nvPr/>
          </p:nvSpPr>
          <p:spPr>
            <a:xfrm>
              <a:off x="1469995" y="3081001"/>
              <a:ext cx="2490538"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AA8862"/>
                  </a:solidFill>
                  <a:latin typeface="Arial"/>
                  <a:ea typeface="Arial"/>
                  <a:cs typeface="Arial"/>
                  <a:sym typeface="Arial"/>
                </a:rPr>
                <a:t>R</a:t>
              </a:r>
              <a:r>
                <a:rPr b="0" i="0" lang="zh-TW" sz="2800" u="sng" cap="none" strike="noStrike">
                  <a:solidFill>
                    <a:srgbClr val="000000"/>
                  </a:solidFill>
                  <a:latin typeface="Arial"/>
                  <a:ea typeface="Arial"/>
                  <a:cs typeface="Arial"/>
                  <a:sym typeface="Arial"/>
                </a:rPr>
                <a:t>eliability</a:t>
              </a:r>
              <a:endParaRPr b="0" i="0" sz="2800" u="sng" cap="none" strike="noStrike">
                <a:solidFill>
                  <a:schemeClr val="dk1"/>
                </a:solidFill>
                <a:latin typeface="Arial"/>
                <a:ea typeface="Arial"/>
                <a:cs typeface="Arial"/>
                <a:sym typeface="Arial"/>
              </a:endParaRPr>
            </a:p>
          </p:txBody>
        </p:sp>
      </p:grpSp>
      <p:pic>
        <p:nvPicPr>
          <p:cNvPr id="443" name="Google Shape;443;p24">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444" name="Google Shape;444;p24"/>
          <p:cNvGrpSpPr/>
          <p:nvPr/>
        </p:nvGrpSpPr>
        <p:grpSpPr>
          <a:xfrm>
            <a:off x="2022149" y="681133"/>
            <a:ext cx="1453063" cy="737119"/>
            <a:chOff x="2080727" y="858416"/>
            <a:chExt cx="1453063" cy="737119"/>
          </a:xfrm>
        </p:grpSpPr>
        <p:sp>
          <p:nvSpPr>
            <p:cNvPr id="445" name="Google Shape;445;p24"/>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建模中</a:t>
              </a:r>
              <a:endParaRPr b="0" i="0" sz="2400" u="none" cap="none" strike="noStrike">
                <a:solidFill>
                  <a:schemeClr val="dk1"/>
                </a:solidFill>
                <a:latin typeface="Calibri"/>
                <a:ea typeface="Calibri"/>
                <a:cs typeface="Calibri"/>
                <a:sym typeface="Calibri"/>
              </a:endParaRPr>
            </a:p>
          </p:txBody>
        </p:sp>
        <p:sp>
          <p:nvSpPr>
            <p:cNvPr id="446" name="Google Shape;446;p24"/>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pic>
        <p:nvPicPr>
          <p:cNvPr id="451" name="Google Shape;451;p25"/>
          <p:cNvPicPr preferRelativeResize="0"/>
          <p:nvPr/>
        </p:nvPicPr>
        <p:blipFill rotWithShape="1">
          <a:blip r:embed="rId3">
            <a:alphaModFix/>
          </a:blip>
          <a:srcRect b="0" l="0" r="0" t="0"/>
          <a:stretch/>
        </p:blipFill>
        <p:spPr>
          <a:xfrm>
            <a:off x="296" y="0"/>
            <a:ext cx="12191407" cy="6858000"/>
          </a:xfrm>
          <a:prstGeom prst="rect">
            <a:avLst/>
          </a:prstGeom>
          <a:noFill/>
          <a:ln>
            <a:noFill/>
          </a:ln>
        </p:spPr>
      </p:pic>
      <p:pic>
        <p:nvPicPr>
          <p:cNvPr id="452" name="Google Shape;452;p25">
            <a:hlinkClick action="ppaction://hlinksldjump" r:id="rId4"/>
          </p:cNvPr>
          <p:cNvPicPr preferRelativeResize="0"/>
          <p:nvPr/>
        </p:nvPicPr>
        <p:blipFill rotWithShape="1">
          <a:blip r:embed="rId5">
            <a:alphaModFix/>
          </a:blip>
          <a:srcRect b="0" l="0" r="0" t="0"/>
          <a:stretch/>
        </p:blipFill>
        <p:spPr>
          <a:xfrm>
            <a:off x="3364553" y="3573494"/>
            <a:ext cx="2825864" cy="1591200"/>
          </a:xfrm>
          <a:prstGeom prst="rect">
            <a:avLst/>
          </a:prstGeom>
          <a:noFill/>
          <a:ln>
            <a:noFill/>
          </a:ln>
          <a:effectLst>
            <a:outerShdw blurRad="50800" rotWithShape="0" algn="tl" dir="2700000" dist="38100">
              <a:srgbClr val="000000">
                <a:alpha val="40000"/>
              </a:srgbClr>
            </a:outerShdw>
          </a:effectLst>
        </p:spPr>
      </p:pic>
      <p:pic>
        <p:nvPicPr>
          <p:cNvPr id="453" name="Google Shape;453;p25">
            <a:hlinkClick action="ppaction://hlinksldjump" r:id="rId6"/>
          </p:cNvPr>
          <p:cNvPicPr preferRelativeResize="0"/>
          <p:nvPr/>
        </p:nvPicPr>
        <p:blipFill rotWithShape="1">
          <a:blip r:embed="rId7">
            <a:alphaModFix/>
          </a:blip>
          <a:srcRect b="0" l="0" r="0" t="0"/>
          <a:stretch/>
        </p:blipFill>
        <p:spPr>
          <a:xfrm>
            <a:off x="6063579" y="3573494"/>
            <a:ext cx="2827515" cy="1591200"/>
          </a:xfrm>
          <a:prstGeom prst="rect">
            <a:avLst/>
          </a:prstGeom>
          <a:noFill/>
          <a:ln>
            <a:noFill/>
          </a:ln>
          <a:effectLst>
            <a:outerShdw blurRad="50800" rotWithShape="0" algn="tl" dir="2700000" dist="38100">
              <a:srgbClr val="000000">
                <a:alpha val="40000"/>
              </a:srgbClr>
            </a:outerShdw>
          </a:effectLst>
        </p:spPr>
      </p:pic>
      <p:sp>
        <p:nvSpPr>
          <p:cNvPr id="454" name="Google Shape;454;p25"/>
          <p:cNvSpPr txBox="1"/>
          <p:nvPr/>
        </p:nvSpPr>
        <p:spPr>
          <a:xfrm>
            <a:off x="4501125" y="718487"/>
            <a:ext cx="3189748"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zh-TW" sz="2800" u="none" cap="none" strike="noStrike">
                <a:solidFill>
                  <a:schemeClr val="lt1"/>
                </a:solidFill>
                <a:latin typeface="Microsoft JhengHei"/>
                <a:ea typeface="Microsoft JhengHei"/>
                <a:cs typeface="Microsoft JhengHei"/>
                <a:sym typeface="Microsoft JhengHei"/>
              </a:rPr>
              <a:t>安全性:建模中</a:t>
            </a:r>
            <a:endParaRPr b="0" i="0" sz="1400" u="none" cap="none" strike="noStrike">
              <a:solidFill>
                <a:srgbClr val="000000"/>
              </a:solidFill>
              <a:latin typeface="Arial"/>
              <a:ea typeface="Arial"/>
              <a:cs typeface="Arial"/>
              <a:sym typeface="Arial"/>
            </a:endParaRPr>
          </a:p>
        </p:txBody>
      </p:sp>
      <p:pic>
        <p:nvPicPr>
          <p:cNvPr id="455" name="Google Shape;455;p25">
            <a:hlinkClick action="ppaction://hlinksldjump" r:id="rId8"/>
          </p:cNvPr>
          <p:cNvPicPr preferRelativeResize="0"/>
          <p:nvPr/>
        </p:nvPicPr>
        <p:blipFill rotWithShape="1">
          <a:blip r:embed="rId9">
            <a:alphaModFix/>
          </a:blip>
          <a:srcRect b="0" l="0" r="0" t="0"/>
          <a:stretch/>
        </p:blipFill>
        <p:spPr>
          <a:xfrm>
            <a:off x="11314519" y="6048961"/>
            <a:ext cx="756832" cy="71531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pic>
        <p:nvPicPr>
          <p:cNvPr id="460" name="Google Shape;460;p26"/>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461" name="Google Shape;461;p26"/>
          <p:cNvGrpSpPr/>
          <p:nvPr/>
        </p:nvGrpSpPr>
        <p:grpSpPr>
          <a:xfrm>
            <a:off x="4073847" y="1630879"/>
            <a:ext cx="6274060" cy="3596241"/>
            <a:chOff x="4023047" y="1832881"/>
            <a:chExt cx="6274060" cy="3596241"/>
          </a:xfrm>
        </p:grpSpPr>
        <p:sp>
          <p:nvSpPr>
            <p:cNvPr id="462" name="Google Shape;462;p26"/>
            <p:cNvSpPr txBox="1"/>
            <p:nvPr/>
          </p:nvSpPr>
          <p:spPr>
            <a:xfrm>
              <a:off x="4023047" y="1832881"/>
              <a:ext cx="6097554" cy="359624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評估安全性風險:</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該決策結果是否會在實際場域運用上產生負面影響？</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風險評估:</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是否持續進行AI模型的風險評估？</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持續監控安全性:</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是否持續監控本模型的決策可能產生的負面影響？</a:t>
              </a:r>
              <a:endParaRPr b="1" i="0" sz="1600" u="none" cap="none" strike="noStrike">
                <a:solidFill>
                  <a:schemeClr val="dk1"/>
                </a:solidFill>
                <a:latin typeface="Microsoft JhengHei"/>
                <a:ea typeface="Microsoft JhengHei"/>
                <a:cs typeface="Microsoft JhengHei"/>
                <a:sym typeface="Microsoft JhengHei"/>
              </a:endParaRPr>
            </a:p>
          </p:txBody>
        </p:sp>
        <p:cxnSp>
          <p:nvCxnSpPr>
            <p:cNvPr id="463" name="Google Shape;463;p26"/>
            <p:cNvCxnSpPr/>
            <p:nvPr/>
          </p:nvCxnSpPr>
          <p:spPr>
            <a:xfrm>
              <a:off x="4089917" y="2982034"/>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464" name="Google Shape;464;p26"/>
            <p:cNvCxnSpPr/>
            <p:nvPr/>
          </p:nvCxnSpPr>
          <p:spPr>
            <a:xfrm>
              <a:off x="4079031" y="4283653"/>
              <a:ext cx="62071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465" name="Google Shape;465;p26"/>
          <p:cNvGrpSpPr/>
          <p:nvPr/>
        </p:nvGrpSpPr>
        <p:grpSpPr>
          <a:xfrm>
            <a:off x="1533494" y="2829945"/>
            <a:ext cx="2674353" cy="1357387"/>
            <a:chOff x="1469994" y="3071245"/>
            <a:chExt cx="2674353" cy="1357387"/>
          </a:xfrm>
        </p:grpSpPr>
        <p:sp>
          <p:nvSpPr>
            <p:cNvPr id="466" name="Google Shape;466;p26"/>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安全性</a:t>
              </a:r>
              <a:endParaRPr b="1" i="0" sz="2000" u="none" cap="none" strike="noStrike">
                <a:solidFill>
                  <a:schemeClr val="dk1"/>
                </a:solidFill>
                <a:latin typeface="Microsoft JhengHei"/>
                <a:ea typeface="Microsoft JhengHei"/>
                <a:cs typeface="Microsoft JhengHei"/>
                <a:sym typeface="Microsoft JhengHei"/>
              </a:endParaRPr>
            </a:p>
          </p:txBody>
        </p:sp>
        <p:sp>
          <p:nvSpPr>
            <p:cNvPr id="467" name="Google Shape;467;p26"/>
            <p:cNvSpPr txBox="1"/>
            <p:nvPr/>
          </p:nvSpPr>
          <p:spPr>
            <a:xfrm>
              <a:off x="1699986" y="3071245"/>
              <a:ext cx="2034551"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944C41"/>
                  </a:solidFill>
                  <a:latin typeface="Arial"/>
                  <a:ea typeface="Arial"/>
                  <a:cs typeface="Arial"/>
                  <a:sym typeface="Arial"/>
                </a:rPr>
                <a:t>S</a:t>
              </a:r>
              <a:r>
                <a:rPr b="0" i="0" lang="zh-TW" sz="2800" u="sng" cap="none" strike="noStrike">
                  <a:solidFill>
                    <a:srgbClr val="000000"/>
                  </a:solidFill>
                  <a:latin typeface="Arial"/>
                  <a:ea typeface="Arial"/>
                  <a:cs typeface="Arial"/>
                  <a:sym typeface="Arial"/>
                </a:rPr>
                <a:t>afety</a:t>
              </a:r>
              <a:endParaRPr b="0" i="0" sz="2800" u="sng" cap="none" strike="noStrike">
                <a:solidFill>
                  <a:schemeClr val="dk1"/>
                </a:solidFill>
                <a:latin typeface="Arial"/>
                <a:ea typeface="Arial"/>
                <a:cs typeface="Arial"/>
                <a:sym typeface="Arial"/>
              </a:endParaRPr>
            </a:p>
          </p:txBody>
        </p:sp>
      </p:grpSp>
      <p:pic>
        <p:nvPicPr>
          <p:cNvPr id="468" name="Google Shape;468;p26">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469" name="Google Shape;469;p26"/>
          <p:cNvGrpSpPr/>
          <p:nvPr/>
        </p:nvGrpSpPr>
        <p:grpSpPr>
          <a:xfrm>
            <a:off x="2022149" y="681133"/>
            <a:ext cx="1453063" cy="737119"/>
            <a:chOff x="2080727" y="858416"/>
            <a:chExt cx="1453063" cy="737119"/>
          </a:xfrm>
        </p:grpSpPr>
        <p:sp>
          <p:nvSpPr>
            <p:cNvPr id="470" name="Google Shape;470;p26"/>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建模中</a:t>
              </a:r>
              <a:endParaRPr b="0" i="0" sz="2400" u="none" cap="none" strike="noStrike">
                <a:solidFill>
                  <a:schemeClr val="dk1"/>
                </a:solidFill>
                <a:latin typeface="Calibri"/>
                <a:ea typeface="Calibri"/>
                <a:cs typeface="Calibri"/>
                <a:sym typeface="Calibri"/>
              </a:endParaRPr>
            </a:p>
          </p:txBody>
        </p:sp>
        <p:sp>
          <p:nvSpPr>
            <p:cNvPr id="471" name="Google Shape;471;p26"/>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472" name="Google Shape;472;p26">
            <a:hlinkClick action="ppaction://hlinksldjump" r:id="rId6"/>
          </p:cNvPr>
          <p:cNvPicPr preferRelativeResize="0"/>
          <p:nvPr/>
        </p:nvPicPr>
        <p:blipFill rotWithShape="1">
          <a:blip r:embed="rId7">
            <a:alphaModFix/>
          </a:blip>
          <a:srcRect b="0" l="0" r="0" t="0"/>
          <a:stretch/>
        </p:blipFill>
        <p:spPr>
          <a:xfrm>
            <a:off x="11356037" y="5441724"/>
            <a:ext cx="715314" cy="71531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pic>
        <p:nvPicPr>
          <p:cNvPr id="477" name="Google Shape;477;p2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78" name="Google Shape;478;p27"/>
          <p:cNvSpPr txBox="1"/>
          <p:nvPr/>
        </p:nvSpPr>
        <p:spPr>
          <a:xfrm>
            <a:off x="4421252" y="2479095"/>
            <a:ext cx="5823760" cy="2540054"/>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多元應用性: </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是否擴展AI模型使其能靈活調整，應用於不同的環境、需求、或條件？</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50000"/>
              </a:lnSpc>
              <a:spcBef>
                <a:spcPts val="0"/>
              </a:spcBef>
              <a:spcAft>
                <a:spcPts val="0"/>
              </a:spcAft>
              <a:buClr>
                <a:srgbClr val="000000"/>
              </a:buClr>
              <a:buSzPts val="1800"/>
              <a:buFont typeface="Arial"/>
              <a:buNone/>
            </a:pPr>
            <a:r>
              <a:rPr b="0" i="0" lang="zh-TW" sz="1800" u="none" cap="none" strike="noStrike">
                <a:solidFill>
                  <a:srgbClr val="713613"/>
                </a:solidFill>
                <a:latin typeface="Microsoft JhengHei"/>
                <a:ea typeface="Microsoft JhengHei"/>
                <a:cs typeface="Microsoft JhengHei"/>
                <a:sym typeface="Microsoft JhengHei"/>
              </a:rPr>
              <a:t> （例如:量測新的汙染物、適應不同的地形、或在夜間光線不足時進行監控）</a:t>
            </a:r>
            <a:endParaRPr b="0" i="0" sz="1800" u="none" cap="none" strike="noStrike">
              <a:solidFill>
                <a:srgbClr val="713613"/>
              </a:solidFill>
              <a:latin typeface="Microsoft JhengHei"/>
              <a:ea typeface="Microsoft JhengHei"/>
              <a:cs typeface="Microsoft JhengHei"/>
              <a:sym typeface="Microsoft JhengHei"/>
            </a:endParaRPr>
          </a:p>
          <a:p>
            <a:pPr indent="0" lvl="0" marL="0" marR="0" rtl="0" algn="just">
              <a:lnSpc>
                <a:spcPct val="150000"/>
              </a:lnSpc>
              <a:spcBef>
                <a:spcPts val="0"/>
              </a:spcBef>
              <a:spcAft>
                <a:spcPts val="0"/>
              </a:spcAft>
              <a:buClr>
                <a:srgbClr val="000000"/>
              </a:buClr>
              <a:buSzPts val="1600"/>
              <a:buFont typeface="Arial"/>
              <a:buNone/>
            </a:pPr>
            <a:r>
              <a:t/>
            </a:r>
            <a:endParaRPr b="0" i="0" sz="1600" u="none" cap="none" strike="noStrike">
              <a:solidFill>
                <a:srgbClr val="A5A5A5"/>
              </a:solidFill>
              <a:latin typeface="Microsoft JhengHei"/>
              <a:ea typeface="Microsoft JhengHei"/>
              <a:cs typeface="Microsoft JhengHei"/>
              <a:sym typeface="Microsoft JhengHei"/>
            </a:endParaRPr>
          </a:p>
        </p:txBody>
      </p:sp>
      <p:grpSp>
        <p:nvGrpSpPr>
          <p:cNvPr id="479" name="Google Shape;479;p27"/>
          <p:cNvGrpSpPr/>
          <p:nvPr/>
        </p:nvGrpSpPr>
        <p:grpSpPr>
          <a:xfrm>
            <a:off x="1599489" y="2801601"/>
            <a:ext cx="2748058" cy="1347631"/>
            <a:chOff x="1396289" y="3081001"/>
            <a:chExt cx="2748058" cy="1347631"/>
          </a:xfrm>
        </p:grpSpPr>
        <p:sp>
          <p:nvSpPr>
            <p:cNvPr id="480" name="Google Shape;480;p27"/>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韌性</a:t>
              </a:r>
              <a:endParaRPr b="0" i="0" sz="1400" u="none" cap="none" strike="noStrike">
                <a:solidFill>
                  <a:srgbClr val="000000"/>
                </a:solidFill>
                <a:latin typeface="Arial"/>
                <a:ea typeface="Arial"/>
                <a:cs typeface="Arial"/>
                <a:sym typeface="Arial"/>
              </a:endParaRPr>
            </a:p>
          </p:txBody>
        </p:sp>
        <p:sp>
          <p:nvSpPr>
            <p:cNvPr id="481" name="Google Shape;481;p27"/>
            <p:cNvSpPr txBox="1"/>
            <p:nvPr/>
          </p:nvSpPr>
          <p:spPr>
            <a:xfrm>
              <a:off x="1396289" y="3081001"/>
              <a:ext cx="2564243"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952A2A"/>
                  </a:solidFill>
                  <a:latin typeface="Arial"/>
                  <a:ea typeface="Arial"/>
                  <a:cs typeface="Arial"/>
                  <a:sym typeface="Arial"/>
                </a:rPr>
                <a:t>R</a:t>
              </a:r>
              <a:r>
                <a:rPr b="0" i="0" lang="zh-TW" sz="2800" u="sng" cap="none" strike="noStrike">
                  <a:solidFill>
                    <a:srgbClr val="000000"/>
                  </a:solidFill>
                  <a:latin typeface="Arial"/>
                  <a:ea typeface="Arial"/>
                  <a:cs typeface="Arial"/>
                  <a:sym typeface="Arial"/>
                </a:rPr>
                <a:t>esilience</a:t>
              </a:r>
              <a:endParaRPr b="0" i="0" sz="2800" u="sng" cap="none" strike="noStrike">
                <a:solidFill>
                  <a:schemeClr val="dk1"/>
                </a:solidFill>
                <a:latin typeface="Arial"/>
                <a:ea typeface="Arial"/>
                <a:cs typeface="Arial"/>
                <a:sym typeface="Arial"/>
              </a:endParaRPr>
            </a:p>
          </p:txBody>
        </p:sp>
      </p:grpSp>
      <p:pic>
        <p:nvPicPr>
          <p:cNvPr id="482" name="Google Shape;482;p27">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483" name="Google Shape;483;p27"/>
          <p:cNvGrpSpPr/>
          <p:nvPr/>
        </p:nvGrpSpPr>
        <p:grpSpPr>
          <a:xfrm>
            <a:off x="2022149" y="681133"/>
            <a:ext cx="1453063" cy="737119"/>
            <a:chOff x="2080727" y="858416"/>
            <a:chExt cx="1453063" cy="737119"/>
          </a:xfrm>
        </p:grpSpPr>
        <p:sp>
          <p:nvSpPr>
            <p:cNvPr id="484" name="Google Shape;484;p27"/>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建模中</a:t>
              </a:r>
              <a:endParaRPr b="0" i="0" sz="2400" u="none" cap="none" strike="noStrike">
                <a:solidFill>
                  <a:schemeClr val="dk1"/>
                </a:solidFill>
                <a:latin typeface="Calibri"/>
                <a:ea typeface="Calibri"/>
                <a:cs typeface="Calibri"/>
                <a:sym typeface="Calibri"/>
              </a:endParaRPr>
            </a:p>
          </p:txBody>
        </p:sp>
        <p:sp>
          <p:nvSpPr>
            <p:cNvPr id="485" name="Google Shape;485;p27"/>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pic>
        <p:nvPicPr>
          <p:cNvPr id="490" name="Google Shape;490;p28"/>
          <p:cNvPicPr preferRelativeResize="0"/>
          <p:nvPr/>
        </p:nvPicPr>
        <p:blipFill rotWithShape="1">
          <a:blip r:embed="rId3">
            <a:alphaModFix/>
          </a:blip>
          <a:srcRect b="0" l="0" r="0" t="0"/>
          <a:stretch/>
        </p:blipFill>
        <p:spPr>
          <a:xfrm>
            <a:off x="-831850" y="-467916"/>
            <a:ext cx="13855700" cy="7793831"/>
          </a:xfrm>
          <a:prstGeom prst="rect">
            <a:avLst/>
          </a:prstGeom>
          <a:noFill/>
          <a:ln>
            <a:noFill/>
          </a:ln>
        </p:spPr>
      </p:pic>
      <p:grpSp>
        <p:nvGrpSpPr>
          <p:cNvPr id="491" name="Google Shape;491;p28"/>
          <p:cNvGrpSpPr/>
          <p:nvPr/>
        </p:nvGrpSpPr>
        <p:grpSpPr>
          <a:xfrm>
            <a:off x="818840" y="2821976"/>
            <a:ext cx="9454164" cy="1387491"/>
            <a:chOff x="818840" y="2898176"/>
            <a:chExt cx="9454164" cy="1387491"/>
          </a:xfrm>
        </p:grpSpPr>
        <p:sp>
          <p:nvSpPr>
            <p:cNvPr id="492" name="Google Shape;492;p28"/>
            <p:cNvSpPr txBox="1"/>
            <p:nvPr/>
          </p:nvSpPr>
          <p:spPr>
            <a:xfrm>
              <a:off x="4447831" y="2951584"/>
              <a:ext cx="5825173" cy="133408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建立日誌紀錄:</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為了AI模型未來實際落地應用時能有效追溯錯誤來源，是否持續記錄 AI 模型訓練所使用之資料、演算法或規則？</a:t>
              </a:r>
              <a:endParaRPr b="0" i="0" sz="1400" u="none" cap="none" strike="noStrike">
                <a:solidFill>
                  <a:srgbClr val="000000"/>
                </a:solidFill>
                <a:latin typeface="Arial"/>
                <a:ea typeface="Arial"/>
                <a:cs typeface="Arial"/>
                <a:sym typeface="Arial"/>
              </a:endParaRPr>
            </a:p>
          </p:txBody>
        </p:sp>
        <p:grpSp>
          <p:nvGrpSpPr>
            <p:cNvPr id="493" name="Google Shape;493;p28"/>
            <p:cNvGrpSpPr/>
            <p:nvPr/>
          </p:nvGrpSpPr>
          <p:grpSpPr>
            <a:xfrm>
              <a:off x="818840" y="2898176"/>
              <a:ext cx="3965606" cy="1322026"/>
              <a:chOff x="933140" y="3106606"/>
              <a:chExt cx="3965606" cy="1322026"/>
            </a:xfrm>
          </p:grpSpPr>
          <p:sp>
            <p:nvSpPr>
              <p:cNvPr id="494" name="Google Shape;494;p28"/>
              <p:cNvSpPr txBox="1"/>
              <p:nvPr/>
            </p:nvSpPr>
            <p:spPr>
              <a:xfrm>
                <a:off x="1578767"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透明性</a:t>
                </a:r>
                <a:endParaRPr b="0" i="0" sz="1400" u="none" cap="none" strike="noStrike">
                  <a:solidFill>
                    <a:srgbClr val="000000"/>
                  </a:solidFill>
                  <a:latin typeface="Arial"/>
                  <a:ea typeface="Arial"/>
                  <a:cs typeface="Arial"/>
                  <a:sym typeface="Arial"/>
                </a:endParaRPr>
              </a:p>
            </p:txBody>
          </p:sp>
          <p:sp>
            <p:nvSpPr>
              <p:cNvPr id="495" name="Google Shape;495;p28"/>
              <p:cNvSpPr txBox="1"/>
              <p:nvPr/>
            </p:nvSpPr>
            <p:spPr>
              <a:xfrm>
                <a:off x="933140" y="3106606"/>
                <a:ext cx="3965606"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713613"/>
                    </a:solidFill>
                    <a:latin typeface="Arial"/>
                    <a:ea typeface="Arial"/>
                    <a:cs typeface="Arial"/>
                    <a:sym typeface="Arial"/>
                  </a:rPr>
                  <a:t>T</a:t>
                </a:r>
                <a:r>
                  <a:rPr b="0" i="0" lang="zh-TW" sz="2800" u="sng" cap="none" strike="noStrike">
                    <a:solidFill>
                      <a:srgbClr val="000000"/>
                    </a:solidFill>
                    <a:latin typeface="Arial"/>
                    <a:ea typeface="Arial"/>
                    <a:cs typeface="Arial"/>
                    <a:sym typeface="Arial"/>
                  </a:rPr>
                  <a:t>ransparency</a:t>
                </a:r>
                <a:endParaRPr b="0" i="0" sz="2800" u="sng" cap="none" strike="noStrike">
                  <a:solidFill>
                    <a:schemeClr val="dk1"/>
                  </a:solidFill>
                  <a:latin typeface="Arial"/>
                  <a:ea typeface="Arial"/>
                  <a:cs typeface="Arial"/>
                  <a:sym typeface="Arial"/>
                </a:endParaRPr>
              </a:p>
            </p:txBody>
          </p:sp>
        </p:grpSp>
      </p:grpSp>
      <p:pic>
        <p:nvPicPr>
          <p:cNvPr id="496" name="Google Shape;496;p28">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497" name="Google Shape;497;p28"/>
          <p:cNvGrpSpPr/>
          <p:nvPr/>
        </p:nvGrpSpPr>
        <p:grpSpPr>
          <a:xfrm>
            <a:off x="2031480" y="317235"/>
            <a:ext cx="1453063" cy="737119"/>
            <a:chOff x="2080727" y="858416"/>
            <a:chExt cx="1453063" cy="737119"/>
          </a:xfrm>
        </p:grpSpPr>
        <p:sp>
          <p:nvSpPr>
            <p:cNvPr id="498" name="Google Shape;498;p28"/>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建模中</a:t>
              </a:r>
              <a:endParaRPr b="0" i="0" sz="2400" u="none" cap="none" strike="noStrike">
                <a:solidFill>
                  <a:schemeClr val="dk1"/>
                </a:solidFill>
                <a:latin typeface="Calibri"/>
                <a:ea typeface="Calibri"/>
                <a:cs typeface="Calibri"/>
                <a:sym typeface="Calibri"/>
              </a:endParaRPr>
            </a:p>
          </p:txBody>
        </p:sp>
        <p:sp>
          <p:nvSpPr>
            <p:cNvPr id="499" name="Google Shape;499;p28"/>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pic>
        <p:nvPicPr>
          <p:cNvPr id="504" name="Google Shape;504;p29"/>
          <p:cNvPicPr preferRelativeResize="0"/>
          <p:nvPr/>
        </p:nvPicPr>
        <p:blipFill rotWithShape="1">
          <a:blip r:embed="rId3">
            <a:alphaModFix/>
          </a:blip>
          <a:srcRect b="0" l="0" r="0" t="0"/>
          <a:stretch/>
        </p:blipFill>
        <p:spPr>
          <a:xfrm>
            <a:off x="-831850" y="-467916"/>
            <a:ext cx="13855700" cy="7793831"/>
          </a:xfrm>
          <a:prstGeom prst="rect">
            <a:avLst/>
          </a:prstGeom>
          <a:noFill/>
          <a:ln>
            <a:noFill/>
          </a:ln>
        </p:spPr>
      </p:pic>
      <p:grpSp>
        <p:nvGrpSpPr>
          <p:cNvPr id="505" name="Google Shape;505;p29"/>
          <p:cNvGrpSpPr/>
          <p:nvPr/>
        </p:nvGrpSpPr>
        <p:grpSpPr>
          <a:xfrm>
            <a:off x="4418522" y="1354883"/>
            <a:ext cx="6422801" cy="4708981"/>
            <a:chOff x="4034344" y="1794650"/>
            <a:chExt cx="6422801" cy="4708981"/>
          </a:xfrm>
        </p:grpSpPr>
        <p:sp>
          <p:nvSpPr>
            <p:cNvPr id="506" name="Google Shape;506;p29"/>
            <p:cNvSpPr txBox="1"/>
            <p:nvPr/>
          </p:nvSpPr>
          <p:spPr>
            <a:xfrm>
              <a:off x="4034344" y="1794650"/>
              <a:ext cx="6422801" cy="470898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稽核機制:</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是否持續進行內部稽核？</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1800"/>
                <a:buFont typeface="Arial"/>
                <a:buNone/>
              </a:pPr>
              <a:r>
                <a:rPr b="0" i="0" lang="zh-TW" sz="1800" u="none" cap="none" strike="noStrike">
                  <a:solidFill>
                    <a:srgbClr val="713613"/>
                  </a:solidFill>
                  <a:latin typeface="Microsoft JhengHei"/>
                  <a:ea typeface="Microsoft JhengHei"/>
                  <a:cs typeface="Microsoft JhengHei"/>
                  <a:sym typeface="Microsoft JhengHei"/>
                </a:rPr>
                <a:t>（例如:有關AI開發過程的日誌紀錄是否完整、團隊內部人員是否熟悉可信賴AI倫理原則？）</a:t>
              </a:r>
              <a:endParaRPr b="0" i="0" sz="1800" u="none" cap="none" strike="noStrike">
                <a:solidFill>
                  <a:srgbClr val="713613"/>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法規盤點:</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是否持續盤點與AI模型相關之法律規範？</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1800"/>
                <a:buFont typeface="Arial"/>
                <a:buNone/>
              </a:pPr>
              <a:r>
                <a:rPr b="0" i="0" lang="zh-TW" sz="1800" u="none" cap="none" strike="noStrike">
                  <a:solidFill>
                    <a:srgbClr val="713613"/>
                  </a:solidFill>
                  <a:latin typeface="Microsoft JhengHei"/>
                  <a:ea typeface="Microsoft JhengHei"/>
                  <a:cs typeface="Microsoft JhengHei"/>
                  <a:sym typeface="Microsoft JhengHei"/>
                </a:rPr>
                <a:t>（例如:隨著AI模型的建構與法規制度的改變，持續進行法規盤點與更新。）</a:t>
              </a:r>
              <a:endParaRPr b="0" i="0" sz="1800" u="none" cap="none" strike="noStrike">
                <a:solidFill>
                  <a:srgbClr val="713613"/>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內部稽核:</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是否持續進行內部稽核？</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1800"/>
                <a:buFont typeface="Arial"/>
                <a:buNone/>
              </a:pPr>
              <a:r>
                <a:rPr b="0" i="0" lang="zh-TW" sz="1800" u="none" cap="none" strike="noStrike">
                  <a:solidFill>
                    <a:srgbClr val="713613"/>
                  </a:solidFill>
                  <a:latin typeface="Microsoft JhengHei"/>
                  <a:ea typeface="Microsoft JhengHei"/>
                  <a:cs typeface="Microsoft JhengHei"/>
                  <a:sym typeface="Microsoft JhengHei"/>
                </a:rPr>
                <a:t>（例如:日誌紀錄是否完備）</a:t>
              </a:r>
              <a:endParaRPr b="0" i="0" sz="1800" u="none" cap="none" strike="noStrike">
                <a:solidFill>
                  <a:srgbClr val="713613"/>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團隊法律意識:</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團隊內部是否保持法規與倫理的敏感度。</a:t>
              </a:r>
              <a:endParaRPr b="0" i="0" sz="1400" u="none" cap="none" strike="noStrike">
                <a:solidFill>
                  <a:srgbClr val="000000"/>
                </a:solidFill>
                <a:latin typeface="Arial"/>
                <a:ea typeface="Arial"/>
                <a:cs typeface="Arial"/>
                <a:sym typeface="Arial"/>
              </a:endParaRPr>
            </a:p>
          </p:txBody>
        </p:sp>
        <p:cxnSp>
          <p:nvCxnSpPr>
            <p:cNvPr id="507" name="Google Shape;507;p29"/>
            <p:cNvCxnSpPr/>
            <p:nvPr/>
          </p:nvCxnSpPr>
          <p:spPr>
            <a:xfrm>
              <a:off x="4090329" y="3113361"/>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508" name="Google Shape;508;p29"/>
            <p:cNvCxnSpPr/>
            <p:nvPr/>
          </p:nvCxnSpPr>
          <p:spPr>
            <a:xfrm>
              <a:off x="4090329" y="4539024"/>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509" name="Google Shape;509;p29"/>
            <p:cNvCxnSpPr/>
            <p:nvPr/>
          </p:nvCxnSpPr>
          <p:spPr>
            <a:xfrm>
              <a:off x="4090329" y="5652479"/>
              <a:ext cx="62071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510" name="Google Shape;510;p29"/>
          <p:cNvGrpSpPr/>
          <p:nvPr/>
        </p:nvGrpSpPr>
        <p:grpSpPr>
          <a:xfrm>
            <a:off x="1058785" y="2736364"/>
            <a:ext cx="3258137" cy="1341050"/>
            <a:chOff x="1033603" y="3087582"/>
            <a:chExt cx="3258137" cy="1341050"/>
          </a:xfrm>
        </p:grpSpPr>
        <p:sp>
          <p:nvSpPr>
            <p:cNvPr id="511" name="Google Shape;511;p29"/>
            <p:cNvSpPr txBox="1"/>
            <p:nvPr/>
          </p:nvSpPr>
          <p:spPr>
            <a:xfrm>
              <a:off x="1325495"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當責性</a:t>
              </a:r>
              <a:endParaRPr b="0" i="0" sz="1400" u="none" cap="none" strike="noStrike">
                <a:solidFill>
                  <a:srgbClr val="000000"/>
                </a:solidFill>
                <a:latin typeface="Arial"/>
                <a:ea typeface="Arial"/>
                <a:cs typeface="Arial"/>
                <a:sym typeface="Arial"/>
              </a:endParaRPr>
            </a:p>
          </p:txBody>
        </p:sp>
        <p:sp>
          <p:nvSpPr>
            <p:cNvPr id="512" name="Google Shape;512;p29"/>
            <p:cNvSpPr txBox="1"/>
            <p:nvPr/>
          </p:nvSpPr>
          <p:spPr>
            <a:xfrm>
              <a:off x="1033603" y="3087582"/>
              <a:ext cx="3258137"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674310"/>
                  </a:solidFill>
                  <a:latin typeface="Arial"/>
                  <a:ea typeface="Arial"/>
                  <a:cs typeface="Arial"/>
                  <a:sym typeface="Arial"/>
                </a:rPr>
                <a:t>A</a:t>
              </a:r>
              <a:r>
                <a:rPr b="0" i="0" lang="zh-TW" sz="2800" u="sng" cap="none" strike="noStrike">
                  <a:solidFill>
                    <a:srgbClr val="000000"/>
                  </a:solidFill>
                  <a:latin typeface="Arial"/>
                  <a:ea typeface="Arial"/>
                  <a:cs typeface="Arial"/>
                  <a:sym typeface="Arial"/>
                </a:rPr>
                <a:t>ccountability</a:t>
              </a:r>
              <a:endParaRPr b="0" i="0" sz="2800" u="sng" cap="none" strike="noStrike">
                <a:solidFill>
                  <a:schemeClr val="dk1"/>
                </a:solidFill>
                <a:latin typeface="Arial"/>
                <a:ea typeface="Arial"/>
                <a:cs typeface="Arial"/>
                <a:sym typeface="Arial"/>
              </a:endParaRPr>
            </a:p>
          </p:txBody>
        </p:sp>
      </p:grpSp>
      <p:pic>
        <p:nvPicPr>
          <p:cNvPr id="513" name="Google Shape;513;p29">
            <a:hlinkClick action="ppaction://hlinksldjump" r:id="rId4"/>
          </p:cNvPr>
          <p:cNvPicPr preferRelativeResize="0"/>
          <p:nvPr/>
        </p:nvPicPr>
        <p:blipFill rotWithShape="1">
          <a:blip r:embed="rId5">
            <a:alphaModFix/>
          </a:blip>
          <a:srcRect b="0" l="0" r="0" t="0"/>
          <a:stretch/>
        </p:blipFill>
        <p:spPr>
          <a:xfrm>
            <a:off x="11361174" y="6048961"/>
            <a:ext cx="756832" cy="715314"/>
          </a:xfrm>
          <a:prstGeom prst="rect">
            <a:avLst/>
          </a:prstGeom>
          <a:noFill/>
          <a:ln>
            <a:noFill/>
          </a:ln>
        </p:spPr>
      </p:pic>
      <p:grpSp>
        <p:nvGrpSpPr>
          <p:cNvPr id="514" name="Google Shape;514;p29"/>
          <p:cNvGrpSpPr/>
          <p:nvPr/>
        </p:nvGrpSpPr>
        <p:grpSpPr>
          <a:xfrm>
            <a:off x="1961321" y="298578"/>
            <a:ext cx="1453063" cy="737119"/>
            <a:chOff x="2080727" y="858416"/>
            <a:chExt cx="1453063" cy="737119"/>
          </a:xfrm>
        </p:grpSpPr>
        <p:sp>
          <p:nvSpPr>
            <p:cNvPr id="515" name="Google Shape;515;p29"/>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建模中</a:t>
              </a:r>
              <a:endParaRPr b="0" i="0" sz="2400" u="none" cap="none" strike="noStrike">
                <a:solidFill>
                  <a:schemeClr val="dk1"/>
                </a:solidFill>
                <a:latin typeface="Calibri"/>
                <a:ea typeface="Calibri"/>
                <a:cs typeface="Calibri"/>
                <a:sym typeface="Calibri"/>
              </a:endParaRPr>
            </a:p>
          </p:txBody>
        </p:sp>
        <p:sp>
          <p:nvSpPr>
            <p:cNvPr id="516" name="Google Shape;516;p29"/>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517" name="Google Shape;517;p29">
            <a:hlinkClick action="ppaction://hlinksldjump" r:id="rId6"/>
          </p:cNvPr>
          <p:cNvPicPr preferRelativeResize="0"/>
          <p:nvPr/>
        </p:nvPicPr>
        <p:blipFill rotWithShape="1">
          <a:blip r:embed="rId7">
            <a:alphaModFix/>
          </a:blip>
          <a:srcRect b="0" l="0" r="0" t="0"/>
          <a:stretch/>
        </p:blipFill>
        <p:spPr>
          <a:xfrm>
            <a:off x="11529164" y="2569466"/>
            <a:ext cx="506871" cy="221567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pic>
        <p:nvPicPr>
          <p:cNvPr id="522" name="Google Shape;522;p30"/>
          <p:cNvPicPr preferRelativeResize="0"/>
          <p:nvPr/>
        </p:nvPicPr>
        <p:blipFill rotWithShape="1">
          <a:blip r:embed="rId3">
            <a:alphaModFix/>
          </a:blip>
          <a:srcRect b="0" l="0" r="0" t="0"/>
          <a:stretch/>
        </p:blipFill>
        <p:spPr>
          <a:xfrm>
            <a:off x="-812800" y="-457200"/>
            <a:ext cx="13817600" cy="7772400"/>
          </a:xfrm>
          <a:prstGeom prst="rect">
            <a:avLst/>
          </a:prstGeom>
          <a:noFill/>
          <a:ln>
            <a:noFill/>
          </a:ln>
        </p:spPr>
      </p:pic>
      <p:sp>
        <p:nvSpPr>
          <p:cNvPr id="523" name="Google Shape;523;p30"/>
          <p:cNvSpPr txBox="1"/>
          <p:nvPr/>
        </p:nvSpPr>
        <p:spPr>
          <a:xfrm>
            <a:off x="4243859" y="1096405"/>
            <a:ext cx="6597464" cy="584660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法律與倫理問題</a:t>
            </a:r>
            <a:endParaRPr b="1" i="0" sz="20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700"/>
              <a:buFont typeface="Arial"/>
              <a:buNone/>
            </a:pPr>
            <a:r>
              <a:t/>
            </a:r>
            <a:endParaRPr b="1" i="0" sz="17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若需進行跨境資料傳輸可能牽涉相關法律問題，建議除了應符合當前法律法規外，更應前瞻性的設計跨境傳輸合法標準，並以國際目前前延規範為標竿（如歐盟的GDPR），因應未來修法後的跨境傳輸規範。並建立跨境資料傳輸的相關機制，確保跨境傳輸符合台灣法律法規和國際標準。</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此外，與境外單位之合作條款需仔細審查，確保其中的資料傳輸符合法律要求。</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400"/>
              <a:buFont typeface="Arial"/>
              <a:buNone/>
            </a:pPr>
            <a:r>
              <a:rPr b="1" i="0" lang="zh-TW" sz="1400" u="none" cap="none" strike="noStrike">
                <a:solidFill>
                  <a:schemeClr val="dk1"/>
                </a:solidFill>
                <a:latin typeface="Microsoft JhengHei"/>
                <a:ea typeface="Microsoft JhengHei"/>
                <a:cs typeface="Microsoft JhengHei"/>
                <a:sym typeface="Microsoft JhengHei"/>
              </a:rPr>
              <a:t>(請參照個資法第21條)</a:t>
            </a:r>
            <a:endParaRPr b="1" i="0" sz="14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600"/>
              <a:buFont typeface="Arial"/>
              <a:buNone/>
            </a:pPr>
            <a:r>
              <a:t/>
            </a:r>
            <a:endParaRPr b="1" i="0" sz="16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600"/>
              <a:buFont typeface="Arial"/>
              <a:buNone/>
            </a:pPr>
            <a:r>
              <a:t/>
            </a:r>
            <a:endParaRPr b="1" i="0" sz="16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400"/>
              <a:buFont typeface="Arial"/>
              <a:buNone/>
            </a:pPr>
            <a:r>
              <a:t/>
            </a:r>
            <a:endParaRPr b="1" i="0" sz="1400" u="none" cap="none" strike="noStrike">
              <a:solidFill>
                <a:schemeClr val="dk1"/>
              </a:solidFill>
              <a:latin typeface="Microsoft JhengHei"/>
              <a:ea typeface="Microsoft JhengHei"/>
              <a:cs typeface="Microsoft JhengHei"/>
              <a:sym typeface="Microsoft JhengHei"/>
            </a:endParaRPr>
          </a:p>
        </p:txBody>
      </p:sp>
      <p:grpSp>
        <p:nvGrpSpPr>
          <p:cNvPr id="524" name="Google Shape;524;p30"/>
          <p:cNvGrpSpPr/>
          <p:nvPr/>
        </p:nvGrpSpPr>
        <p:grpSpPr>
          <a:xfrm>
            <a:off x="1058785" y="2736364"/>
            <a:ext cx="3258137" cy="1341050"/>
            <a:chOff x="1033603" y="3087582"/>
            <a:chExt cx="3258137" cy="1341050"/>
          </a:xfrm>
        </p:grpSpPr>
        <p:sp>
          <p:nvSpPr>
            <p:cNvPr id="525" name="Google Shape;525;p30"/>
            <p:cNvSpPr txBox="1"/>
            <p:nvPr/>
          </p:nvSpPr>
          <p:spPr>
            <a:xfrm>
              <a:off x="1325495"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當責性</a:t>
              </a:r>
              <a:endParaRPr b="0" i="0" sz="1400" u="none" cap="none" strike="noStrike">
                <a:solidFill>
                  <a:srgbClr val="000000"/>
                </a:solidFill>
                <a:latin typeface="Arial"/>
                <a:ea typeface="Arial"/>
                <a:cs typeface="Arial"/>
                <a:sym typeface="Arial"/>
              </a:endParaRPr>
            </a:p>
          </p:txBody>
        </p:sp>
        <p:sp>
          <p:nvSpPr>
            <p:cNvPr id="526" name="Google Shape;526;p30"/>
            <p:cNvSpPr txBox="1"/>
            <p:nvPr/>
          </p:nvSpPr>
          <p:spPr>
            <a:xfrm>
              <a:off x="1033603" y="3087582"/>
              <a:ext cx="3258137"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674310"/>
                  </a:solidFill>
                  <a:latin typeface="Arial"/>
                  <a:ea typeface="Arial"/>
                  <a:cs typeface="Arial"/>
                  <a:sym typeface="Arial"/>
                </a:rPr>
                <a:t>A</a:t>
              </a:r>
              <a:r>
                <a:rPr b="0" i="0" lang="zh-TW" sz="2800" u="sng" cap="none" strike="noStrike">
                  <a:solidFill>
                    <a:srgbClr val="000000"/>
                  </a:solidFill>
                  <a:latin typeface="Arial"/>
                  <a:ea typeface="Arial"/>
                  <a:cs typeface="Arial"/>
                  <a:sym typeface="Arial"/>
                </a:rPr>
                <a:t>ccountability</a:t>
              </a:r>
              <a:endParaRPr b="0" i="0" sz="2800" u="sng" cap="none" strike="noStrike">
                <a:solidFill>
                  <a:schemeClr val="dk1"/>
                </a:solidFill>
                <a:latin typeface="Arial"/>
                <a:ea typeface="Arial"/>
                <a:cs typeface="Arial"/>
                <a:sym typeface="Arial"/>
              </a:endParaRPr>
            </a:p>
          </p:txBody>
        </p:sp>
      </p:grpSp>
      <p:grpSp>
        <p:nvGrpSpPr>
          <p:cNvPr id="527" name="Google Shape;527;p30"/>
          <p:cNvGrpSpPr/>
          <p:nvPr/>
        </p:nvGrpSpPr>
        <p:grpSpPr>
          <a:xfrm>
            <a:off x="1959429" y="318833"/>
            <a:ext cx="1453063" cy="737119"/>
            <a:chOff x="2080727" y="858416"/>
            <a:chExt cx="1453063" cy="737119"/>
          </a:xfrm>
        </p:grpSpPr>
        <p:sp>
          <p:nvSpPr>
            <p:cNvPr id="528" name="Google Shape;528;p30"/>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建模中</a:t>
              </a:r>
              <a:endParaRPr b="0" i="0" sz="2400" u="none" cap="none" strike="noStrike">
                <a:solidFill>
                  <a:schemeClr val="dk1"/>
                </a:solidFill>
                <a:latin typeface="Calibri"/>
                <a:ea typeface="Calibri"/>
                <a:cs typeface="Calibri"/>
                <a:sym typeface="Calibri"/>
              </a:endParaRPr>
            </a:p>
          </p:txBody>
        </p:sp>
        <p:sp>
          <p:nvSpPr>
            <p:cNvPr id="529" name="Google Shape;529;p30"/>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530" name="Google Shape;530;p30">
            <a:hlinkClick action="ppaction://hlinksldjump" r:id="rId4"/>
          </p:cNvPr>
          <p:cNvPicPr preferRelativeResize="0"/>
          <p:nvPr/>
        </p:nvPicPr>
        <p:blipFill rotWithShape="1">
          <a:blip r:embed="rId5">
            <a:alphaModFix/>
          </a:blip>
          <a:srcRect b="0" l="0" r="0" t="0"/>
          <a:stretch/>
        </p:blipFill>
        <p:spPr>
          <a:xfrm>
            <a:off x="11361174" y="6048961"/>
            <a:ext cx="756832" cy="715314"/>
          </a:xfrm>
          <a:prstGeom prst="rect">
            <a:avLst/>
          </a:prstGeom>
          <a:noFill/>
          <a:ln>
            <a:noFill/>
          </a:ln>
        </p:spPr>
      </p:pic>
      <p:pic>
        <p:nvPicPr>
          <p:cNvPr id="531" name="Google Shape;531;p30">
            <a:hlinkClick action="ppaction://hlinksldjump" r:id="rId6"/>
          </p:cNvPr>
          <p:cNvPicPr preferRelativeResize="0"/>
          <p:nvPr/>
        </p:nvPicPr>
        <p:blipFill rotWithShape="1">
          <a:blip r:embed="rId7">
            <a:alphaModFix/>
          </a:blip>
          <a:srcRect b="0" l="0" r="0" t="0"/>
          <a:stretch/>
        </p:blipFill>
        <p:spPr>
          <a:xfrm>
            <a:off x="11402692" y="5311095"/>
            <a:ext cx="715314" cy="71531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pic>
        <p:nvPicPr>
          <p:cNvPr id="536" name="Google Shape;536;p31"/>
          <p:cNvPicPr preferRelativeResize="0"/>
          <p:nvPr/>
        </p:nvPicPr>
        <p:blipFill rotWithShape="1">
          <a:blip r:embed="rId3">
            <a:alphaModFix/>
          </a:blip>
          <a:srcRect b="0" l="0" r="0" t="0"/>
          <a:stretch/>
        </p:blipFill>
        <p:spPr>
          <a:xfrm>
            <a:off x="-768350" y="-432197"/>
            <a:ext cx="13728700" cy="7722394"/>
          </a:xfrm>
          <a:prstGeom prst="rect">
            <a:avLst/>
          </a:prstGeom>
          <a:noFill/>
          <a:ln>
            <a:noFill/>
          </a:ln>
        </p:spPr>
      </p:pic>
      <p:grpSp>
        <p:nvGrpSpPr>
          <p:cNvPr id="537" name="Google Shape;537;p31"/>
          <p:cNvGrpSpPr/>
          <p:nvPr/>
        </p:nvGrpSpPr>
        <p:grpSpPr>
          <a:xfrm>
            <a:off x="4183481" y="2074097"/>
            <a:ext cx="6306717" cy="3503908"/>
            <a:chOff x="4012163" y="2086797"/>
            <a:chExt cx="6306717" cy="3503908"/>
          </a:xfrm>
        </p:grpSpPr>
        <p:sp>
          <p:nvSpPr>
            <p:cNvPr id="538" name="Google Shape;538;p31"/>
            <p:cNvSpPr txBox="1"/>
            <p:nvPr/>
          </p:nvSpPr>
          <p:spPr>
            <a:xfrm>
              <a:off x="4012163" y="2086797"/>
              <a:ext cx="6097554" cy="3503908"/>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決策結果:</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針對未來將使用何種方式向使用者解釋AI模型的決策結果，是否已建立解釋機制？</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決策邏輯:</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針對未來將使用何種方式向使用者解釋AI模型的決策邏輯（即資料輸入與決策結果的因果關係），是否已建立解釋機制？</a:t>
              </a:r>
              <a:endParaRPr b="0" i="0" sz="1400" u="none" cap="none" strike="noStrike">
                <a:solidFill>
                  <a:srgbClr val="000000"/>
                </a:solidFill>
                <a:latin typeface="Arial"/>
                <a:ea typeface="Arial"/>
                <a:cs typeface="Arial"/>
                <a:sym typeface="Arial"/>
              </a:endParaRPr>
            </a:p>
          </p:txBody>
        </p:sp>
        <p:cxnSp>
          <p:nvCxnSpPr>
            <p:cNvPr id="539" name="Google Shape;539;p31"/>
            <p:cNvCxnSpPr/>
            <p:nvPr/>
          </p:nvCxnSpPr>
          <p:spPr>
            <a:xfrm>
              <a:off x="4111690" y="3631002"/>
              <a:ext cx="62071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540" name="Google Shape;540;p31"/>
          <p:cNvGrpSpPr/>
          <p:nvPr/>
        </p:nvGrpSpPr>
        <p:grpSpPr>
          <a:xfrm>
            <a:off x="1111817" y="2755184"/>
            <a:ext cx="3071664" cy="1347631"/>
            <a:chOff x="980776" y="3081001"/>
            <a:chExt cx="3071664" cy="1347631"/>
          </a:xfrm>
        </p:grpSpPr>
        <p:sp>
          <p:nvSpPr>
            <p:cNvPr id="541" name="Google Shape;541;p31"/>
            <p:cNvSpPr txBox="1"/>
            <p:nvPr/>
          </p:nvSpPr>
          <p:spPr>
            <a:xfrm>
              <a:off x="1179432"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可解釋性</a:t>
              </a:r>
              <a:endParaRPr b="0" i="0" sz="1400" u="none" cap="none" strike="noStrike">
                <a:solidFill>
                  <a:srgbClr val="000000"/>
                </a:solidFill>
                <a:latin typeface="Arial"/>
                <a:ea typeface="Arial"/>
                <a:cs typeface="Arial"/>
                <a:sym typeface="Arial"/>
              </a:endParaRPr>
            </a:p>
          </p:txBody>
        </p:sp>
        <p:sp>
          <p:nvSpPr>
            <p:cNvPr id="542" name="Google Shape;542;p31"/>
            <p:cNvSpPr txBox="1"/>
            <p:nvPr/>
          </p:nvSpPr>
          <p:spPr>
            <a:xfrm>
              <a:off x="980776" y="3081001"/>
              <a:ext cx="3071664"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B6925F"/>
                  </a:solidFill>
                  <a:latin typeface="Arial"/>
                  <a:ea typeface="Arial"/>
                  <a:cs typeface="Arial"/>
                  <a:sym typeface="Arial"/>
                </a:rPr>
                <a:t>E</a:t>
              </a:r>
              <a:r>
                <a:rPr b="0" i="0" lang="zh-TW" sz="2800" u="sng" cap="none" strike="noStrike">
                  <a:solidFill>
                    <a:schemeClr val="dk1"/>
                  </a:solidFill>
                  <a:latin typeface="Arial"/>
                  <a:ea typeface="Arial"/>
                  <a:cs typeface="Arial"/>
                  <a:sym typeface="Arial"/>
                </a:rPr>
                <a:t>xplainability</a:t>
              </a:r>
              <a:endParaRPr b="0" i="0" sz="2800" u="sng" cap="none" strike="noStrike">
                <a:solidFill>
                  <a:schemeClr val="dk1"/>
                </a:solidFill>
                <a:latin typeface="Arial"/>
                <a:ea typeface="Arial"/>
                <a:cs typeface="Arial"/>
                <a:sym typeface="Arial"/>
              </a:endParaRPr>
            </a:p>
          </p:txBody>
        </p:sp>
      </p:grpSp>
      <p:pic>
        <p:nvPicPr>
          <p:cNvPr id="543" name="Google Shape;543;p31">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544" name="Google Shape;544;p31"/>
          <p:cNvGrpSpPr/>
          <p:nvPr/>
        </p:nvGrpSpPr>
        <p:grpSpPr>
          <a:xfrm>
            <a:off x="1921117" y="345232"/>
            <a:ext cx="1453063" cy="737119"/>
            <a:chOff x="2080727" y="858416"/>
            <a:chExt cx="1453063" cy="737119"/>
          </a:xfrm>
        </p:grpSpPr>
        <p:sp>
          <p:nvSpPr>
            <p:cNvPr id="545" name="Google Shape;545;p31"/>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建模中</a:t>
              </a:r>
              <a:endParaRPr b="0" i="0" sz="2400" u="none" cap="none" strike="noStrike">
                <a:solidFill>
                  <a:schemeClr val="dk1"/>
                </a:solidFill>
                <a:latin typeface="Calibri"/>
                <a:ea typeface="Calibri"/>
                <a:cs typeface="Calibri"/>
                <a:sym typeface="Calibri"/>
              </a:endParaRPr>
            </a:p>
          </p:txBody>
        </p:sp>
        <p:sp>
          <p:nvSpPr>
            <p:cNvPr id="546" name="Google Shape;546;p31"/>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pic>
        <p:nvPicPr>
          <p:cNvPr id="551" name="Google Shape;551;p32"/>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552" name="Google Shape;552;p32"/>
          <p:cNvGrpSpPr/>
          <p:nvPr/>
        </p:nvGrpSpPr>
        <p:grpSpPr>
          <a:xfrm>
            <a:off x="5016471" y="2767748"/>
            <a:ext cx="4923194" cy="1621095"/>
            <a:chOff x="3423661" y="2554114"/>
            <a:chExt cx="7222834" cy="2378314"/>
          </a:xfrm>
        </p:grpSpPr>
        <p:pic>
          <p:nvPicPr>
            <p:cNvPr id="553" name="Google Shape;553;p32"/>
            <p:cNvPicPr preferRelativeResize="0"/>
            <p:nvPr/>
          </p:nvPicPr>
          <p:blipFill rotWithShape="1">
            <a:blip r:embed="rId4">
              <a:alphaModFix/>
            </a:blip>
            <a:srcRect b="0" l="0" r="0" t="0"/>
            <a:stretch/>
          </p:blipFill>
          <p:spPr>
            <a:xfrm>
              <a:off x="3423661" y="2554115"/>
              <a:ext cx="4227442" cy="2378313"/>
            </a:xfrm>
            <a:prstGeom prst="rect">
              <a:avLst/>
            </a:prstGeom>
            <a:noFill/>
            <a:ln>
              <a:noFill/>
            </a:ln>
          </p:spPr>
        </p:pic>
        <p:pic>
          <p:nvPicPr>
            <p:cNvPr id="554" name="Google Shape;554;p32"/>
            <p:cNvPicPr preferRelativeResize="0"/>
            <p:nvPr/>
          </p:nvPicPr>
          <p:blipFill rotWithShape="1">
            <a:blip r:embed="rId5">
              <a:alphaModFix/>
            </a:blip>
            <a:srcRect b="0" l="0" r="0" t="0"/>
            <a:stretch/>
          </p:blipFill>
          <p:spPr>
            <a:xfrm>
              <a:off x="6420258" y="2554114"/>
              <a:ext cx="4226237" cy="2378313"/>
            </a:xfrm>
            <a:prstGeom prst="rect">
              <a:avLst/>
            </a:prstGeom>
            <a:noFill/>
            <a:ln>
              <a:noFill/>
            </a:ln>
          </p:spPr>
        </p:pic>
      </p:grpSp>
      <p:grpSp>
        <p:nvGrpSpPr>
          <p:cNvPr id="555" name="Google Shape;555;p32"/>
          <p:cNvGrpSpPr/>
          <p:nvPr/>
        </p:nvGrpSpPr>
        <p:grpSpPr>
          <a:xfrm>
            <a:off x="2342119" y="2837910"/>
            <a:ext cx="2674353" cy="1347631"/>
            <a:chOff x="1469994" y="3081001"/>
            <a:chExt cx="2674353" cy="1347631"/>
          </a:xfrm>
        </p:grpSpPr>
        <p:sp>
          <p:nvSpPr>
            <p:cNvPr id="556" name="Google Shape;556;p32"/>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自主性</a:t>
              </a:r>
              <a:endParaRPr b="0" i="0" sz="1400" u="none" cap="none" strike="noStrike">
                <a:solidFill>
                  <a:srgbClr val="000000"/>
                </a:solidFill>
                <a:latin typeface="Arial"/>
                <a:ea typeface="Arial"/>
                <a:cs typeface="Arial"/>
                <a:sym typeface="Arial"/>
              </a:endParaRPr>
            </a:p>
          </p:txBody>
        </p:sp>
        <p:sp>
          <p:nvSpPr>
            <p:cNvPr id="557" name="Google Shape;557;p32"/>
            <p:cNvSpPr txBox="1"/>
            <p:nvPr/>
          </p:nvSpPr>
          <p:spPr>
            <a:xfrm>
              <a:off x="1606534" y="3081001"/>
              <a:ext cx="2401272"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6B5943"/>
                  </a:solidFill>
                  <a:latin typeface="Arial"/>
                  <a:ea typeface="Arial"/>
                  <a:cs typeface="Arial"/>
                  <a:sym typeface="Arial"/>
                </a:rPr>
                <a:t>A</a:t>
              </a:r>
              <a:r>
                <a:rPr b="0" i="0" lang="zh-TW" sz="2800" u="sng" cap="none" strike="noStrike">
                  <a:solidFill>
                    <a:schemeClr val="dk1"/>
                  </a:solidFill>
                  <a:latin typeface="Arial"/>
                  <a:ea typeface="Arial"/>
                  <a:cs typeface="Arial"/>
                  <a:sym typeface="Arial"/>
                </a:rPr>
                <a:t>utonomy</a:t>
              </a:r>
              <a:endParaRPr b="0" i="0" sz="2800" u="sng" cap="none" strike="noStrike">
                <a:solidFill>
                  <a:schemeClr val="dk1"/>
                </a:solidFill>
                <a:latin typeface="Arial"/>
                <a:ea typeface="Arial"/>
                <a:cs typeface="Arial"/>
                <a:sym typeface="Arial"/>
              </a:endParaRPr>
            </a:p>
          </p:txBody>
        </p:sp>
      </p:grpSp>
      <p:sp>
        <p:nvSpPr>
          <p:cNvPr id="558" name="Google Shape;558;p32">
            <a:hlinkClick action="ppaction://hlinksldjump" r:id="rId6"/>
          </p:cNvPr>
          <p:cNvSpPr/>
          <p:nvPr/>
        </p:nvSpPr>
        <p:spPr>
          <a:xfrm>
            <a:off x="5753100" y="2955996"/>
            <a:ext cx="1409700" cy="1295400"/>
          </a:xfrm>
          <a:prstGeom prst="roundRect">
            <a:avLst>
              <a:gd fmla="val 16667" name="adj"/>
            </a:avLst>
          </a:prstGeom>
          <a:solidFill>
            <a:srgbClr val="E6E6E6">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59" name="Google Shape;559;p32">
            <a:hlinkClick action="ppaction://hlinksldjump" r:id="rId7"/>
          </p:cNvPr>
          <p:cNvSpPr/>
          <p:nvPr/>
        </p:nvSpPr>
        <p:spPr>
          <a:xfrm>
            <a:off x="7827347" y="2930595"/>
            <a:ext cx="1409700" cy="1295400"/>
          </a:xfrm>
          <a:prstGeom prst="roundRect">
            <a:avLst>
              <a:gd fmla="val 16667" name="adj"/>
            </a:avLst>
          </a:prstGeom>
          <a:solidFill>
            <a:srgbClr val="E6E6E6">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560" name="Google Shape;560;p32">
            <a:hlinkClick action="ppaction://hlinksldjump" r:id="rId8"/>
          </p:cNvPr>
          <p:cNvPicPr preferRelativeResize="0"/>
          <p:nvPr/>
        </p:nvPicPr>
        <p:blipFill rotWithShape="1">
          <a:blip r:embed="rId9">
            <a:alphaModFix/>
          </a:blip>
          <a:srcRect b="0" l="0" r="0" t="0"/>
          <a:stretch/>
        </p:blipFill>
        <p:spPr>
          <a:xfrm>
            <a:off x="11314519" y="6048961"/>
            <a:ext cx="756832" cy="715314"/>
          </a:xfrm>
          <a:prstGeom prst="rect">
            <a:avLst/>
          </a:prstGeom>
          <a:noFill/>
          <a:ln>
            <a:noFill/>
          </a:ln>
        </p:spPr>
      </p:pic>
      <p:grpSp>
        <p:nvGrpSpPr>
          <p:cNvPr id="561" name="Google Shape;561;p32"/>
          <p:cNvGrpSpPr/>
          <p:nvPr/>
        </p:nvGrpSpPr>
        <p:grpSpPr>
          <a:xfrm>
            <a:off x="2022149" y="681133"/>
            <a:ext cx="1453063" cy="737119"/>
            <a:chOff x="2080727" y="858416"/>
            <a:chExt cx="1453063" cy="737119"/>
          </a:xfrm>
        </p:grpSpPr>
        <p:sp>
          <p:nvSpPr>
            <p:cNvPr id="562" name="Google Shape;562;p32"/>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建模中</a:t>
              </a:r>
              <a:endParaRPr b="0" i="0" sz="2400" u="none" cap="none" strike="noStrike">
                <a:solidFill>
                  <a:schemeClr val="dk1"/>
                </a:solidFill>
                <a:latin typeface="Calibri"/>
                <a:ea typeface="Calibri"/>
                <a:cs typeface="Calibri"/>
                <a:sym typeface="Calibri"/>
              </a:endParaRPr>
            </a:p>
          </p:txBody>
        </p:sp>
        <p:sp>
          <p:nvSpPr>
            <p:cNvPr id="563" name="Google Shape;563;p32"/>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pic>
        <p:nvPicPr>
          <p:cNvPr id="568" name="Google Shape;568;p33"/>
          <p:cNvPicPr preferRelativeResize="0"/>
          <p:nvPr/>
        </p:nvPicPr>
        <p:blipFill rotWithShape="1">
          <a:blip r:embed="rId3">
            <a:alphaModFix/>
          </a:blip>
          <a:srcRect b="0" l="0" r="0" t="0"/>
          <a:stretch/>
        </p:blipFill>
        <p:spPr>
          <a:xfrm>
            <a:off x="-647700" y="-364332"/>
            <a:ext cx="13487400" cy="7586663"/>
          </a:xfrm>
          <a:prstGeom prst="rect">
            <a:avLst/>
          </a:prstGeom>
          <a:noFill/>
          <a:ln>
            <a:noFill/>
          </a:ln>
        </p:spPr>
      </p:pic>
      <p:grpSp>
        <p:nvGrpSpPr>
          <p:cNvPr id="569" name="Google Shape;569;p33"/>
          <p:cNvGrpSpPr/>
          <p:nvPr/>
        </p:nvGrpSpPr>
        <p:grpSpPr>
          <a:xfrm>
            <a:off x="4163107" y="1509537"/>
            <a:ext cx="6272506" cy="5027402"/>
            <a:chOff x="4026567" y="1709592"/>
            <a:chExt cx="6272506" cy="5027402"/>
          </a:xfrm>
        </p:grpSpPr>
        <p:sp>
          <p:nvSpPr>
            <p:cNvPr id="570" name="Google Shape;570;p33"/>
            <p:cNvSpPr txBox="1"/>
            <p:nvPr/>
          </p:nvSpPr>
          <p:spPr>
            <a:xfrm>
              <a:off x="4026567" y="1709592"/>
              <a:ext cx="6096000" cy="502740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建立準確性溝通機制:</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是否已訂定程序，用於未來告知使用者AI模型準確性？</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建立風險溝通機制:</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是否已訂定程序，用於未來告知使用者AI模型的技術限制和潛在風險？</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導入人為監督機制:</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是否已導入人為監督機制於AI模型中？</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br>
                <a:rPr b="1" i="0" lang="zh-TW" sz="1800" u="none" cap="none" strike="noStrike">
                  <a:solidFill>
                    <a:schemeClr val="dk1"/>
                  </a:solidFill>
                  <a:latin typeface="Microsoft JhengHei"/>
                  <a:ea typeface="Microsoft JhengHei"/>
                  <a:cs typeface="Microsoft JhengHei"/>
                  <a:sym typeface="Microsoft JhengHei"/>
                </a:rPr>
              </a:br>
              <a:endParaRPr b="1" i="0" sz="1800" u="none" cap="none" strike="noStrike">
                <a:solidFill>
                  <a:schemeClr val="dk1"/>
                </a:solidFill>
                <a:latin typeface="Microsoft JhengHei"/>
                <a:ea typeface="Microsoft JhengHei"/>
                <a:cs typeface="Microsoft JhengHei"/>
                <a:sym typeface="Microsoft JhengHei"/>
              </a:endParaRPr>
            </a:p>
          </p:txBody>
        </p:sp>
        <p:cxnSp>
          <p:nvCxnSpPr>
            <p:cNvPr id="571" name="Google Shape;571;p33"/>
            <p:cNvCxnSpPr/>
            <p:nvPr/>
          </p:nvCxnSpPr>
          <p:spPr>
            <a:xfrm>
              <a:off x="4091883" y="2870715"/>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572" name="Google Shape;572;p33"/>
            <p:cNvCxnSpPr/>
            <p:nvPr/>
          </p:nvCxnSpPr>
          <p:spPr>
            <a:xfrm>
              <a:off x="4091883" y="4547113"/>
              <a:ext cx="6207190" cy="0"/>
            </a:xfrm>
            <a:prstGeom prst="straightConnector1">
              <a:avLst/>
            </a:prstGeom>
            <a:noFill/>
            <a:ln cap="flat" cmpd="sng" w="9525">
              <a:solidFill>
                <a:schemeClr val="dk1"/>
              </a:solidFill>
              <a:prstDash val="solid"/>
              <a:miter lim="800000"/>
              <a:headEnd len="sm" w="sm" type="none"/>
              <a:tailEnd len="sm" w="sm" type="none"/>
            </a:ln>
          </p:spPr>
        </p:cxnSp>
      </p:grpSp>
      <p:sp>
        <p:nvSpPr>
          <p:cNvPr id="573" name="Google Shape;573;p33">
            <a:hlinkClick action="ppaction://hlinkshowjump?jump=previousslide"/>
          </p:cNvPr>
          <p:cNvSpPr/>
          <p:nvPr/>
        </p:nvSpPr>
        <p:spPr>
          <a:xfrm>
            <a:off x="11610536" y="5613399"/>
            <a:ext cx="444217" cy="444217"/>
          </a:xfrm>
          <a:custGeom>
            <a:rect b="b" l="l" r="r" t="t"/>
            <a:pathLst>
              <a:path extrusionOk="0" h="120000" w="120000">
                <a:moveTo>
                  <a:pt x="0" y="0"/>
                </a:moveTo>
                <a:lnTo>
                  <a:pt x="120000" y="0"/>
                </a:lnTo>
                <a:lnTo>
                  <a:pt x="120000" y="120000"/>
                </a:lnTo>
                <a:lnTo>
                  <a:pt x="0" y="120000"/>
                </a:lnTo>
                <a:close/>
                <a:moveTo>
                  <a:pt x="15000" y="60000"/>
                </a:moveTo>
                <a:lnTo>
                  <a:pt x="105000" y="15000"/>
                </a:lnTo>
                <a:lnTo>
                  <a:pt x="105000" y="105000"/>
                </a:lnTo>
                <a:close/>
              </a:path>
              <a:path extrusionOk="0" fill="darken" h="120000" w="120000">
                <a:moveTo>
                  <a:pt x="15000" y="60000"/>
                </a:moveTo>
                <a:lnTo>
                  <a:pt x="105000" y="15000"/>
                </a:lnTo>
                <a:lnTo>
                  <a:pt x="105000" y="105000"/>
                </a:lnTo>
                <a:close/>
              </a:path>
              <a:path extrusionOk="0" fill="none" h="120000" w="120000">
                <a:moveTo>
                  <a:pt x="15000" y="60000"/>
                </a:moveTo>
                <a:lnTo>
                  <a:pt x="105000" y="15000"/>
                </a:lnTo>
                <a:lnTo>
                  <a:pt x="105000" y="105000"/>
                </a:lnTo>
                <a:close/>
              </a:path>
              <a:path extrusionOk="0" fill="none" h="120000" w="120000">
                <a:moveTo>
                  <a:pt x="0" y="0"/>
                </a:moveTo>
                <a:lnTo>
                  <a:pt x="120000" y="0"/>
                </a:lnTo>
                <a:lnTo>
                  <a:pt x="120000" y="120000"/>
                </a:lnTo>
                <a:lnTo>
                  <a:pt x="0" y="120000"/>
                </a:lnTo>
                <a:close/>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574" name="Google Shape;574;p33"/>
          <p:cNvGrpSpPr/>
          <p:nvPr/>
        </p:nvGrpSpPr>
        <p:grpSpPr>
          <a:xfrm>
            <a:off x="1312248" y="2755183"/>
            <a:ext cx="2674353" cy="1347631"/>
            <a:chOff x="1469994" y="3081001"/>
            <a:chExt cx="2674353" cy="1347631"/>
          </a:xfrm>
        </p:grpSpPr>
        <p:sp>
          <p:nvSpPr>
            <p:cNvPr id="575" name="Google Shape;575;p33"/>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自主性</a:t>
              </a:r>
              <a:endParaRPr b="0" i="0" sz="1400" u="none" cap="none" strike="noStrike">
                <a:solidFill>
                  <a:srgbClr val="000000"/>
                </a:solidFill>
                <a:latin typeface="Arial"/>
                <a:ea typeface="Arial"/>
                <a:cs typeface="Arial"/>
                <a:sym typeface="Arial"/>
              </a:endParaRPr>
            </a:p>
          </p:txBody>
        </p:sp>
        <p:sp>
          <p:nvSpPr>
            <p:cNvPr id="576" name="Google Shape;576;p33"/>
            <p:cNvSpPr txBox="1"/>
            <p:nvPr/>
          </p:nvSpPr>
          <p:spPr>
            <a:xfrm>
              <a:off x="1606534" y="3081001"/>
              <a:ext cx="2401272"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6B5943"/>
                  </a:solidFill>
                  <a:latin typeface="Arial"/>
                  <a:ea typeface="Arial"/>
                  <a:cs typeface="Arial"/>
                  <a:sym typeface="Arial"/>
                </a:rPr>
                <a:t>A</a:t>
              </a:r>
              <a:r>
                <a:rPr b="0" i="0" lang="zh-TW" sz="2800" u="sng" cap="none" strike="noStrike">
                  <a:solidFill>
                    <a:schemeClr val="dk1"/>
                  </a:solidFill>
                  <a:latin typeface="Arial"/>
                  <a:ea typeface="Arial"/>
                  <a:cs typeface="Arial"/>
                  <a:sym typeface="Arial"/>
                </a:rPr>
                <a:t>utonomy</a:t>
              </a:r>
              <a:endParaRPr b="0" i="0" sz="2800" u="sng" cap="none" strike="noStrike">
                <a:solidFill>
                  <a:schemeClr val="dk1"/>
                </a:solidFill>
                <a:latin typeface="Arial"/>
                <a:ea typeface="Arial"/>
                <a:cs typeface="Arial"/>
                <a:sym typeface="Arial"/>
              </a:endParaRPr>
            </a:p>
          </p:txBody>
        </p:sp>
      </p:grpSp>
      <p:pic>
        <p:nvPicPr>
          <p:cNvPr id="577" name="Google Shape;577;p33">
            <a:hlinkClick action="ppaction://hlinksldjump" r:id="rId4"/>
          </p:cNvPr>
          <p:cNvPicPr preferRelativeResize="0"/>
          <p:nvPr/>
        </p:nvPicPr>
        <p:blipFill rotWithShape="1">
          <a:blip r:embed="rId5">
            <a:alphaModFix/>
          </a:blip>
          <a:srcRect b="0" l="0" r="0" t="0"/>
          <a:stretch/>
        </p:blipFill>
        <p:spPr>
          <a:xfrm>
            <a:off x="11434993" y="6057617"/>
            <a:ext cx="756832" cy="715314"/>
          </a:xfrm>
          <a:prstGeom prst="rect">
            <a:avLst/>
          </a:prstGeom>
          <a:noFill/>
          <a:ln>
            <a:noFill/>
          </a:ln>
        </p:spPr>
      </p:pic>
      <p:pic>
        <p:nvPicPr>
          <p:cNvPr id="578" name="Google Shape;578;p33">
            <a:hlinkClick action="ppaction://hlinksldjump" r:id="rId6"/>
          </p:cNvPr>
          <p:cNvPicPr preferRelativeResize="0"/>
          <p:nvPr/>
        </p:nvPicPr>
        <p:blipFill rotWithShape="1">
          <a:blip r:embed="rId7">
            <a:alphaModFix/>
          </a:blip>
          <a:srcRect b="0" l="0" r="0" t="0"/>
          <a:stretch/>
        </p:blipFill>
        <p:spPr>
          <a:xfrm>
            <a:off x="10141870" y="5705653"/>
            <a:ext cx="1046060" cy="588502"/>
          </a:xfrm>
          <a:prstGeom prst="rect">
            <a:avLst/>
          </a:prstGeom>
          <a:noFill/>
          <a:ln>
            <a:noFill/>
          </a:ln>
        </p:spPr>
      </p:pic>
      <p:grpSp>
        <p:nvGrpSpPr>
          <p:cNvPr id="579" name="Google Shape;579;p33"/>
          <p:cNvGrpSpPr/>
          <p:nvPr/>
        </p:nvGrpSpPr>
        <p:grpSpPr>
          <a:xfrm>
            <a:off x="1922892" y="390430"/>
            <a:ext cx="1453063" cy="737119"/>
            <a:chOff x="2080727" y="858416"/>
            <a:chExt cx="1453063" cy="737119"/>
          </a:xfrm>
        </p:grpSpPr>
        <p:sp>
          <p:nvSpPr>
            <p:cNvPr id="580" name="Google Shape;580;p33"/>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建模中</a:t>
              </a:r>
              <a:endParaRPr b="0" i="0" sz="2400" u="none" cap="none" strike="noStrike">
                <a:solidFill>
                  <a:schemeClr val="dk1"/>
                </a:solidFill>
                <a:latin typeface="Calibri"/>
                <a:ea typeface="Calibri"/>
                <a:cs typeface="Calibri"/>
                <a:sym typeface="Calibri"/>
              </a:endParaRPr>
            </a:p>
          </p:txBody>
        </p:sp>
        <p:sp>
          <p:nvSpPr>
            <p:cNvPr id="581" name="Google Shape;581;p33"/>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pic>
        <p:nvPicPr>
          <p:cNvPr id="586" name="Google Shape;586;p34"/>
          <p:cNvPicPr preferRelativeResize="0"/>
          <p:nvPr/>
        </p:nvPicPr>
        <p:blipFill rotWithShape="1">
          <a:blip r:embed="rId3">
            <a:alphaModFix/>
          </a:blip>
          <a:srcRect b="0" l="0" r="0" t="0"/>
          <a:stretch/>
        </p:blipFill>
        <p:spPr>
          <a:xfrm>
            <a:off x="-457200" y="-257175"/>
            <a:ext cx="13106400" cy="7372350"/>
          </a:xfrm>
          <a:prstGeom prst="rect">
            <a:avLst/>
          </a:prstGeom>
          <a:noFill/>
          <a:ln>
            <a:noFill/>
          </a:ln>
        </p:spPr>
      </p:pic>
      <p:grpSp>
        <p:nvGrpSpPr>
          <p:cNvPr id="587" name="Google Shape;587;p34"/>
          <p:cNvGrpSpPr/>
          <p:nvPr/>
        </p:nvGrpSpPr>
        <p:grpSpPr>
          <a:xfrm>
            <a:off x="4123141" y="1394669"/>
            <a:ext cx="6343730" cy="4119461"/>
            <a:chOff x="4091883" y="1691943"/>
            <a:chExt cx="6343730" cy="4119461"/>
          </a:xfrm>
        </p:grpSpPr>
        <p:sp>
          <p:nvSpPr>
            <p:cNvPr id="588" name="Google Shape;588;p34"/>
            <p:cNvSpPr txBox="1"/>
            <p:nvPr/>
          </p:nvSpPr>
          <p:spPr>
            <a:xfrm>
              <a:off x="4091883" y="1691943"/>
              <a:ext cx="6343730" cy="411946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提供互動建議:</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針對使用者與AI模型的互動模式，是否規劃提出建議？</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教育訓練:</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是否已設計訓練教材，用於未來教導使用者如何監督或阻斷AI模型？</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偵測與回報:</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針對使用者與AI模型互動所帶來的負面影響，是否已建立偵測和回報機制？</a:t>
              </a:r>
              <a:endParaRPr b="0" i="0" sz="1400" u="none" cap="none" strike="noStrike">
                <a:solidFill>
                  <a:srgbClr val="000000"/>
                </a:solidFill>
                <a:latin typeface="Arial"/>
                <a:ea typeface="Arial"/>
                <a:cs typeface="Arial"/>
                <a:sym typeface="Arial"/>
              </a:endParaRPr>
            </a:p>
          </p:txBody>
        </p:sp>
        <p:cxnSp>
          <p:nvCxnSpPr>
            <p:cNvPr id="589" name="Google Shape;589;p34"/>
            <p:cNvCxnSpPr/>
            <p:nvPr/>
          </p:nvCxnSpPr>
          <p:spPr>
            <a:xfrm>
              <a:off x="4091883" y="2805399"/>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590" name="Google Shape;590;p34"/>
            <p:cNvCxnSpPr/>
            <p:nvPr/>
          </p:nvCxnSpPr>
          <p:spPr>
            <a:xfrm>
              <a:off x="4091883" y="4383828"/>
              <a:ext cx="6207190" cy="0"/>
            </a:xfrm>
            <a:prstGeom prst="straightConnector1">
              <a:avLst/>
            </a:prstGeom>
            <a:noFill/>
            <a:ln cap="flat" cmpd="sng" w="9525">
              <a:solidFill>
                <a:schemeClr val="dk1"/>
              </a:solidFill>
              <a:prstDash val="solid"/>
              <a:miter lim="800000"/>
              <a:headEnd len="sm" w="sm" type="none"/>
              <a:tailEnd len="sm" w="sm" type="none"/>
            </a:ln>
          </p:spPr>
        </p:cxnSp>
      </p:grpSp>
      <p:sp>
        <p:nvSpPr>
          <p:cNvPr id="591" name="Google Shape;591;p34">
            <a:hlinkClick action="ppaction://hlinksldjump" r:id="rId4"/>
          </p:cNvPr>
          <p:cNvSpPr/>
          <p:nvPr/>
        </p:nvSpPr>
        <p:spPr>
          <a:xfrm>
            <a:off x="11506200" y="5641676"/>
            <a:ext cx="427860" cy="427860"/>
          </a:xfrm>
          <a:custGeom>
            <a:rect b="b" l="l" r="r" t="t"/>
            <a:pathLst>
              <a:path extrusionOk="0" h="120000" w="120000">
                <a:moveTo>
                  <a:pt x="0" y="0"/>
                </a:moveTo>
                <a:lnTo>
                  <a:pt x="120000" y="0"/>
                </a:lnTo>
                <a:lnTo>
                  <a:pt x="120000" y="120000"/>
                </a:lnTo>
                <a:lnTo>
                  <a:pt x="0" y="120000"/>
                </a:lnTo>
                <a:close/>
                <a:moveTo>
                  <a:pt x="15000" y="60000"/>
                </a:moveTo>
                <a:lnTo>
                  <a:pt x="105000" y="15000"/>
                </a:lnTo>
                <a:lnTo>
                  <a:pt x="105000" y="105000"/>
                </a:lnTo>
                <a:close/>
              </a:path>
              <a:path extrusionOk="0" fill="darken" h="120000" w="120000">
                <a:moveTo>
                  <a:pt x="15000" y="60000"/>
                </a:moveTo>
                <a:lnTo>
                  <a:pt x="105000" y="15000"/>
                </a:lnTo>
                <a:lnTo>
                  <a:pt x="105000" y="105000"/>
                </a:lnTo>
                <a:close/>
              </a:path>
              <a:path extrusionOk="0" fill="none" h="120000" w="120000">
                <a:moveTo>
                  <a:pt x="15000" y="60000"/>
                </a:moveTo>
                <a:lnTo>
                  <a:pt x="105000" y="15000"/>
                </a:lnTo>
                <a:lnTo>
                  <a:pt x="105000" y="105000"/>
                </a:lnTo>
                <a:close/>
              </a:path>
              <a:path extrusionOk="0" fill="none" h="120000" w="120000">
                <a:moveTo>
                  <a:pt x="0" y="0"/>
                </a:moveTo>
                <a:lnTo>
                  <a:pt x="120000" y="0"/>
                </a:lnTo>
                <a:lnTo>
                  <a:pt x="120000" y="120000"/>
                </a:lnTo>
                <a:lnTo>
                  <a:pt x="0" y="120000"/>
                </a:lnTo>
                <a:close/>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592" name="Google Shape;592;p34"/>
          <p:cNvGrpSpPr/>
          <p:nvPr/>
        </p:nvGrpSpPr>
        <p:grpSpPr>
          <a:xfrm>
            <a:off x="1312248" y="2755183"/>
            <a:ext cx="2674353" cy="1347631"/>
            <a:chOff x="1469994" y="3081001"/>
            <a:chExt cx="2674353" cy="1347631"/>
          </a:xfrm>
        </p:grpSpPr>
        <p:sp>
          <p:nvSpPr>
            <p:cNvPr id="593" name="Google Shape;593;p34"/>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自主性</a:t>
              </a:r>
              <a:endParaRPr b="0" i="0" sz="1400" u="none" cap="none" strike="noStrike">
                <a:solidFill>
                  <a:srgbClr val="000000"/>
                </a:solidFill>
                <a:latin typeface="Arial"/>
                <a:ea typeface="Arial"/>
                <a:cs typeface="Arial"/>
                <a:sym typeface="Arial"/>
              </a:endParaRPr>
            </a:p>
          </p:txBody>
        </p:sp>
        <p:sp>
          <p:nvSpPr>
            <p:cNvPr id="594" name="Google Shape;594;p34"/>
            <p:cNvSpPr txBox="1"/>
            <p:nvPr/>
          </p:nvSpPr>
          <p:spPr>
            <a:xfrm>
              <a:off x="1606534" y="3081001"/>
              <a:ext cx="2401272"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6B5943"/>
                  </a:solidFill>
                  <a:latin typeface="Arial"/>
                  <a:ea typeface="Arial"/>
                  <a:cs typeface="Arial"/>
                  <a:sym typeface="Arial"/>
                </a:rPr>
                <a:t>A</a:t>
              </a:r>
              <a:r>
                <a:rPr b="0" i="0" lang="zh-TW" sz="2800" u="sng" cap="none" strike="noStrike">
                  <a:solidFill>
                    <a:schemeClr val="dk1"/>
                  </a:solidFill>
                  <a:latin typeface="Arial"/>
                  <a:ea typeface="Arial"/>
                  <a:cs typeface="Arial"/>
                  <a:sym typeface="Arial"/>
                </a:rPr>
                <a:t>utonomy</a:t>
              </a:r>
              <a:endParaRPr b="0" i="0" sz="2800" u="sng" cap="none" strike="noStrike">
                <a:solidFill>
                  <a:schemeClr val="dk1"/>
                </a:solidFill>
                <a:latin typeface="Arial"/>
                <a:ea typeface="Arial"/>
                <a:cs typeface="Arial"/>
                <a:sym typeface="Arial"/>
              </a:endParaRPr>
            </a:p>
          </p:txBody>
        </p:sp>
      </p:grpSp>
      <p:pic>
        <p:nvPicPr>
          <p:cNvPr id="595" name="Google Shape;595;p34">
            <a:hlinkClick action="ppaction://hlinksldjump" r:id="rId5"/>
          </p:cNvPr>
          <p:cNvPicPr preferRelativeResize="0"/>
          <p:nvPr/>
        </p:nvPicPr>
        <p:blipFill rotWithShape="1">
          <a:blip r:embed="rId6">
            <a:alphaModFix/>
          </a:blip>
          <a:srcRect b="0" l="0" r="0" t="0"/>
          <a:stretch/>
        </p:blipFill>
        <p:spPr>
          <a:xfrm>
            <a:off x="11314519" y="6048961"/>
            <a:ext cx="756832" cy="715314"/>
          </a:xfrm>
          <a:prstGeom prst="rect">
            <a:avLst/>
          </a:prstGeom>
          <a:noFill/>
          <a:ln>
            <a:noFill/>
          </a:ln>
        </p:spPr>
      </p:pic>
      <p:pic>
        <p:nvPicPr>
          <p:cNvPr id="596" name="Google Shape;596;p34">
            <a:hlinkClick action="ppaction://hlinksldjump" r:id="rId7"/>
          </p:cNvPr>
          <p:cNvPicPr preferRelativeResize="0"/>
          <p:nvPr/>
        </p:nvPicPr>
        <p:blipFill rotWithShape="1">
          <a:blip r:embed="rId8">
            <a:alphaModFix/>
          </a:blip>
          <a:srcRect b="0" l="0" r="0" t="0"/>
          <a:stretch/>
        </p:blipFill>
        <p:spPr>
          <a:xfrm>
            <a:off x="10030313" y="5641676"/>
            <a:ext cx="1138132" cy="640482"/>
          </a:xfrm>
          <a:prstGeom prst="rect">
            <a:avLst/>
          </a:prstGeom>
          <a:noFill/>
          <a:ln>
            <a:noFill/>
          </a:ln>
        </p:spPr>
      </p:pic>
      <p:grpSp>
        <p:nvGrpSpPr>
          <p:cNvPr id="597" name="Google Shape;597;p34"/>
          <p:cNvGrpSpPr/>
          <p:nvPr/>
        </p:nvGrpSpPr>
        <p:grpSpPr>
          <a:xfrm>
            <a:off x="1947504" y="475854"/>
            <a:ext cx="1453063" cy="737119"/>
            <a:chOff x="2080727" y="858416"/>
            <a:chExt cx="1453063" cy="737119"/>
          </a:xfrm>
        </p:grpSpPr>
        <p:sp>
          <p:nvSpPr>
            <p:cNvPr id="598" name="Google Shape;598;p34"/>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建模中</a:t>
              </a:r>
              <a:endParaRPr b="0" i="0" sz="2400" u="none" cap="none" strike="noStrike">
                <a:solidFill>
                  <a:schemeClr val="dk1"/>
                </a:solidFill>
                <a:latin typeface="Calibri"/>
                <a:ea typeface="Calibri"/>
                <a:cs typeface="Calibri"/>
                <a:sym typeface="Calibri"/>
              </a:endParaRPr>
            </a:p>
          </p:txBody>
        </p:sp>
        <p:sp>
          <p:nvSpPr>
            <p:cNvPr id="599" name="Google Shape;599;p34"/>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pic>
        <p:nvPicPr>
          <p:cNvPr id="604" name="Google Shape;604;p35"/>
          <p:cNvPicPr preferRelativeResize="0"/>
          <p:nvPr/>
        </p:nvPicPr>
        <p:blipFill rotWithShape="1">
          <a:blip r:embed="rId3">
            <a:alphaModFix/>
          </a:blip>
          <a:srcRect b="0" l="0" r="0" t="0"/>
          <a:stretch/>
        </p:blipFill>
        <p:spPr>
          <a:xfrm>
            <a:off x="-556388" y="-313384"/>
            <a:ext cx="13304776" cy="7484767"/>
          </a:xfrm>
          <a:prstGeom prst="rect">
            <a:avLst/>
          </a:prstGeom>
          <a:noFill/>
          <a:ln>
            <a:noFill/>
          </a:ln>
        </p:spPr>
      </p:pic>
      <p:sp>
        <p:nvSpPr>
          <p:cNvPr id="605" name="Google Shape;605;p35"/>
          <p:cNvSpPr txBox="1"/>
          <p:nvPr/>
        </p:nvSpPr>
        <p:spPr>
          <a:xfrm>
            <a:off x="4352925" y="562353"/>
            <a:ext cx="3486150"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lt1"/>
                </a:solidFill>
                <a:latin typeface="Microsoft JhengHei"/>
                <a:ea typeface="Microsoft JhengHei"/>
                <a:cs typeface="Microsoft JhengHei"/>
                <a:sym typeface="Microsoft JhengHei"/>
              </a:rPr>
              <a:t>隱私:建模中</a:t>
            </a:r>
            <a:endParaRPr b="0" i="0" sz="1400" u="none" cap="none" strike="noStrike">
              <a:solidFill>
                <a:srgbClr val="000000"/>
              </a:solidFill>
              <a:latin typeface="Arial"/>
              <a:ea typeface="Arial"/>
              <a:cs typeface="Arial"/>
              <a:sym typeface="Arial"/>
            </a:endParaRPr>
          </a:p>
        </p:txBody>
      </p:sp>
      <p:pic>
        <p:nvPicPr>
          <p:cNvPr id="606" name="Google Shape;606;p35">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pic>
        <p:nvPicPr>
          <p:cNvPr id="607" name="Google Shape;607;p35">
            <a:hlinkClick action="ppaction://hlinksldjump" r:id="rId6"/>
          </p:cNvPr>
          <p:cNvPicPr preferRelativeResize="0"/>
          <p:nvPr/>
        </p:nvPicPr>
        <p:blipFill rotWithShape="1">
          <a:blip r:embed="rId7">
            <a:alphaModFix/>
          </a:blip>
          <a:srcRect b="0" l="0" r="0" t="0"/>
          <a:stretch/>
        </p:blipFill>
        <p:spPr>
          <a:xfrm>
            <a:off x="3270136" y="4065399"/>
            <a:ext cx="2825864" cy="1591200"/>
          </a:xfrm>
          <a:prstGeom prst="rect">
            <a:avLst/>
          </a:prstGeom>
          <a:noFill/>
          <a:ln>
            <a:noFill/>
          </a:ln>
          <a:effectLst>
            <a:outerShdw blurRad="50800" rotWithShape="0" algn="tl" dir="2700000" dist="38100">
              <a:srgbClr val="000000">
                <a:alpha val="40000"/>
              </a:srgbClr>
            </a:outerShdw>
          </a:effectLst>
        </p:spPr>
      </p:pic>
      <p:pic>
        <p:nvPicPr>
          <p:cNvPr id="608" name="Google Shape;608;p35">
            <a:hlinkClick action="ppaction://hlinksldjump" r:id="rId8"/>
          </p:cNvPr>
          <p:cNvPicPr preferRelativeResize="0"/>
          <p:nvPr/>
        </p:nvPicPr>
        <p:blipFill rotWithShape="1">
          <a:blip r:embed="rId9">
            <a:alphaModFix/>
          </a:blip>
          <a:srcRect b="0" l="0" r="0" t="0"/>
          <a:stretch/>
        </p:blipFill>
        <p:spPr>
          <a:xfrm>
            <a:off x="6096000" y="4065399"/>
            <a:ext cx="2827515" cy="1591200"/>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pic>
        <p:nvPicPr>
          <p:cNvPr id="613" name="Google Shape;613;p36"/>
          <p:cNvPicPr preferRelativeResize="0"/>
          <p:nvPr/>
        </p:nvPicPr>
        <p:blipFill rotWithShape="1">
          <a:blip r:embed="rId3">
            <a:alphaModFix/>
          </a:blip>
          <a:srcRect b="0" l="0" r="0" t="0"/>
          <a:stretch/>
        </p:blipFill>
        <p:spPr>
          <a:xfrm>
            <a:off x="-661851" y="-350772"/>
            <a:ext cx="13538718" cy="7615529"/>
          </a:xfrm>
          <a:prstGeom prst="rect">
            <a:avLst/>
          </a:prstGeom>
          <a:noFill/>
          <a:ln>
            <a:noFill/>
          </a:ln>
        </p:spPr>
      </p:pic>
      <p:grpSp>
        <p:nvGrpSpPr>
          <p:cNvPr id="614" name="Google Shape;614;p36"/>
          <p:cNvGrpSpPr/>
          <p:nvPr/>
        </p:nvGrpSpPr>
        <p:grpSpPr>
          <a:xfrm>
            <a:off x="3900703" y="908438"/>
            <a:ext cx="6540251" cy="5878532"/>
            <a:chOff x="3785111" y="1200538"/>
            <a:chExt cx="6540251" cy="5878532"/>
          </a:xfrm>
        </p:grpSpPr>
        <p:sp>
          <p:nvSpPr>
            <p:cNvPr id="615" name="Google Shape;615;p36"/>
            <p:cNvSpPr txBox="1"/>
            <p:nvPr/>
          </p:nvSpPr>
          <p:spPr>
            <a:xfrm>
              <a:off x="3785111" y="1200538"/>
              <a:ext cx="6540251" cy="587853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個資風險評估:</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是否已完成隱私與個人資料風險評估？</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00000"/>
                </a:lnSpc>
                <a:spcBef>
                  <a:spcPts val="0"/>
                </a:spcBef>
                <a:spcAft>
                  <a:spcPts val="0"/>
                </a:spcAft>
                <a:buClr>
                  <a:srgbClr val="000000"/>
                </a:buClr>
                <a:buSzPts val="1800"/>
                <a:buFont typeface="Arial"/>
                <a:buNone/>
              </a:pPr>
              <a:r>
                <a:rPr b="0" i="0" lang="zh-TW" sz="1800" u="none" cap="none" strike="noStrike">
                  <a:solidFill>
                    <a:srgbClr val="713613"/>
                  </a:solidFill>
                  <a:latin typeface="Microsoft JhengHei"/>
                  <a:ea typeface="Microsoft JhengHei"/>
                  <a:cs typeface="Microsoft JhengHei"/>
                  <a:sym typeface="Microsoft JhengHei"/>
                </a:rPr>
                <a:t>（例如:隱私或個資洩漏之影響評估）</a:t>
              </a:r>
              <a:endParaRPr b="0" i="0" sz="1400" u="none" cap="none" strike="noStrike">
                <a:solidFill>
                  <a:srgbClr val="000000"/>
                </a:solidFill>
                <a:latin typeface="Arial"/>
                <a:ea typeface="Arial"/>
                <a:cs typeface="Arial"/>
                <a:sym typeface="Arial"/>
              </a:endParaRPr>
            </a:p>
            <a:p>
              <a:pPr indent="0" lvl="0" marL="0" marR="0" rtl="0" algn="just">
                <a:lnSpc>
                  <a:spcPct val="9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just">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個資管理機制:</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隱私與個人資料管理機制是否已建立完成並開始運作？</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00000"/>
                </a:lnSpc>
                <a:spcBef>
                  <a:spcPts val="0"/>
                </a:spcBef>
                <a:spcAft>
                  <a:spcPts val="0"/>
                </a:spcAft>
                <a:buClr>
                  <a:srgbClr val="000000"/>
                </a:buClr>
                <a:buSzPts val="1800"/>
                <a:buFont typeface="Arial"/>
                <a:buNone/>
              </a:pPr>
              <a:r>
                <a:rPr b="0" i="0" lang="zh-TW" sz="1800" u="none" cap="none" strike="noStrike">
                  <a:solidFill>
                    <a:srgbClr val="713613"/>
                  </a:solidFill>
                  <a:latin typeface="Microsoft JhengHei"/>
                  <a:ea typeface="Microsoft JhengHei"/>
                  <a:cs typeface="Microsoft JhengHei"/>
                  <a:sym typeface="Microsoft JhengHei"/>
                </a:rPr>
                <a:t>（例如:個資蒐集、處理、利用之內部管理程序、資料近用與修改權限控管、使用紀錄、軌跡資料、證據保存等等）</a:t>
              </a:r>
              <a:endParaRPr b="0" i="0" sz="1400" u="none" cap="none" strike="noStrike">
                <a:solidFill>
                  <a:srgbClr val="000000"/>
                </a:solidFill>
                <a:latin typeface="Arial"/>
                <a:ea typeface="Arial"/>
                <a:cs typeface="Arial"/>
                <a:sym typeface="Arial"/>
              </a:endParaRPr>
            </a:p>
            <a:p>
              <a:pPr indent="0" lvl="0" marL="0" marR="0" rtl="0" algn="just">
                <a:lnSpc>
                  <a:spcPct val="9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just">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資料當事人的權利:</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對於所蒐集到的個人資料，是否已建立機制讓資料當事人有撤回同意、選擇退出（opt-out）或資料刪除的機會？</a:t>
              </a:r>
              <a:endParaRPr b="0" i="0" sz="1400" u="none" cap="none" strike="noStrike">
                <a:solidFill>
                  <a:srgbClr val="000000"/>
                </a:solidFill>
                <a:latin typeface="Arial"/>
                <a:ea typeface="Arial"/>
                <a:cs typeface="Arial"/>
                <a:sym typeface="Arial"/>
              </a:endParaRPr>
            </a:p>
            <a:p>
              <a:pPr indent="0" lvl="0" marL="0" marR="0" rtl="0" algn="just">
                <a:lnSpc>
                  <a:spcPct val="9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just">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資料極小化:</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是否極小化資料的蒐集類別，避免蒐集不必要的資訊？</a:t>
              </a:r>
              <a:endParaRPr b="0" i="0" sz="1400" u="none" cap="none" strike="noStrike">
                <a:solidFill>
                  <a:srgbClr val="000000"/>
                </a:solidFill>
                <a:latin typeface="Arial"/>
                <a:ea typeface="Arial"/>
                <a:cs typeface="Arial"/>
                <a:sym typeface="Arial"/>
              </a:endParaRPr>
            </a:p>
            <a:p>
              <a:pPr indent="0" lvl="0" marL="0" marR="0" rtl="0" algn="just">
                <a:lnSpc>
                  <a:spcPct val="9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just">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建立危機管理機制:</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是否維持危機處理機制的運作，以解決隱私或個資不慎外洩的問題？</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00000"/>
                </a:lnSpc>
                <a:spcBef>
                  <a:spcPts val="0"/>
                </a:spcBef>
                <a:spcAft>
                  <a:spcPts val="0"/>
                </a:spcAft>
                <a:buClr>
                  <a:srgbClr val="000000"/>
                </a:buClr>
                <a:buSzPts val="1800"/>
                <a:buFont typeface="Arial"/>
                <a:buNone/>
              </a:pPr>
              <a:br>
                <a:rPr b="1" i="0" lang="zh-TW" sz="1800" u="none" cap="none" strike="noStrike">
                  <a:solidFill>
                    <a:schemeClr val="dk1"/>
                  </a:solidFill>
                  <a:latin typeface="Microsoft JhengHei"/>
                  <a:ea typeface="Microsoft JhengHei"/>
                  <a:cs typeface="Microsoft JhengHei"/>
                  <a:sym typeface="Microsoft JhengHei"/>
                </a:rPr>
              </a:br>
              <a:endParaRPr b="1" i="0" sz="1800" u="none" cap="none" strike="noStrike">
                <a:solidFill>
                  <a:schemeClr val="dk1"/>
                </a:solidFill>
                <a:latin typeface="Microsoft JhengHei"/>
                <a:ea typeface="Microsoft JhengHei"/>
                <a:cs typeface="Microsoft JhengHei"/>
                <a:sym typeface="Microsoft JhengHei"/>
              </a:endParaRPr>
            </a:p>
          </p:txBody>
        </p:sp>
        <p:cxnSp>
          <p:nvCxnSpPr>
            <p:cNvPr id="616" name="Google Shape;616;p36"/>
            <p:cNvCxnSpPr/>
            <p:nvPr/>
          </p:nvCxnSpPr>
          <p:spPr>
            <a:xfrm>
              <a:off x="3785112" y="2217575"/>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617" name="Google Shape;617;p36"/>
            <p:cNvCxnSpPr/>
            <p:nvPr/>
          </p:nvCxnSpPr>
          <p:spPr>
            <a:xfrm>
              <a:off x="3841096" y="3562576"/>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618" name="Google Shape;618;p36"/>
            <p:cNvCxnSpPr/>
            <p:nvPr/>
          </p:nvCxnSpPr>
          <p:spPr>
            <a:xfrm>
              <a:off x="3850427" y="4629533"/>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619" name="Google Shape;619;p36"/>
            <p:cNvCxnSpPr/>
            <p:nvPr/>
          </p:nvCxnSpPr>
          <p:spPr>
            <a:xfrm>
              <a:off x="3861313" y="5444406"/>
              <a:ext cx="62071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620" name="Google Shape;620;p36"/>
          <p:cNvGrpSpPr/>
          <p:nvPr/>
        </p:nvGrpSpPr>
        <p:grpSpPr>
          <a:xfrm>
            <a:off x="1226351" y="2737231"/>
            <a:ext cx="2674353" cy="1338824"/>
            <a:chOff x="1469994" y="3089808"/>
            <a:chExt cx="2674353" cy="1338824"/>
          </a:xfrm>
        </p:grpSpPr>
        <p:sp>
          <p:nvSpPr>
            <p:cNvPr id="621" name="Google Shape;621;p36"/>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隱私</a:t>
              </a:r>
              <a:endParaRPr b="0" i="0" sz="1400" u="none" cap="none" strike="noStrike">
                <a:solidFill>
                  <a:srgbClr val="000000"/>
                </a:solidFill>
                <a:latin typeface="Arial"/>
                <a:ea typeface="Arial"/>
                <a:cs typeface="Arial"/>
                <a:sym typeface="Arial"/>
              </a:endParaRPr>
            </a:p>
          </p:txBody>
        </p:sp>
        <p:sp>
          <p:nvSpPr>
            <p:cNvPr id="622" name="Google Shape;622;p36"/>
            <p:cNvSpPr txBox="1"/>
            <p:nvPr/>
          </p:nvSpPr>
          <p:spPr>
            <a:xfrm>
              <a:off x="1708433" y="3089808"/>
              <a:ext cx="1897757"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CFA779"/>
                  </a:solidFill>
                  <a:latin typeface="Arial"/>
                  <a:ea typeface="Arial"/>
                  <a:cs typeface="Arial"/>
                  <a:sym typeface="Arial"/>
                </a:rPr>
                <a:t>P</a:t>
              </a:r>
              <a:r>
                <a:rPr b="1" i="0" lang="zh-TW" sz="2800" u="sng" cap="none" strike="noStrike">
                  <a:solidFill>
                    <a:schemeClr val="dk1"/>
                  </a:solidFill>
                  <a:latin typeface="Arial"/>
                  <a:ea typeface="Arial"/>
                  <a:cs typeface="Arial"/>
                  <a:sym typeface="Arial"/>
                </a:rPr>
                <a:t>rivacy</a:t>
              </a:r>
              <a:endParaRPr b="0" i="0" sz="2800" u="sng" cap="none" strike="noStrike">
                <a:solidFill>
                  <a:schemeClr val="dk1"/>
                </a:solidFill>
                <a:latin typeface="Arial"/>
                <a:ea typeface="Arial"/>
                <a:cs typeface="Arial"/>
                <a:sym typeface="Arial"/>
              </a:endParaRPr>
            </a:p>
          </p:txBody>
        </p:sp>
      </p:grpSp>
      <p:pic>
        <p:nvPicPr>
          <p:cNvPr id="623" name="Google Shape;623;p36">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624" name="Google Shape;624;p36"/>
          <p:cNvGrpSpPr/>
          <p:nvPr/>
        </p:nvGrpSpPr>
        <p:grpSpPr>
          <a:xfrm>
            <a:off x="1769708" y="401968"/>
            <a:ext cx="1453063" cy="737119"/>
            <a:chOff x="2080727" y="858416"/>
            <a:chExt cx="1453063" cy="737119"/>
          </a:xfrm>
        </p:grpSpPr>
        <p:sp>
          <p:nvSpPr>
            <p:cNvPr id="625" name="Google Shape;625;p36"/>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建模中</a:t>
              </a:r>
              <a:endParaRPr b="0" i="0" sz="2400" u="none" cap="none" strike="noStrike">
                <a:solidFill>
                  <a:schemeClr val="dk1"/>
                </a:solidFill>
                <a:latin typeface="Calibri"/>
                <a:ea typeface="Calibri"/>
                <a:cs typeface="Calibri"/>
                <a:sym typeface="Calibri"/>
              </a:endParaRPr>
            </a:p>
          </p:txBody>
        </p:sp>
        <p:sp>
          <p:nvSpPr>
            <p:cNvPr id="626" name="Google Shape;626;p36"/>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627" name="Google Shape;627;p36">
            <a:hlinkClick action="ppaction://hlinksldjump" r:id="rId6"/>
          </p:cNvPr>
          <p:cNvPicPr preferRelativeResize="0"/>
          <p:nvPr/>
        </p:nvPicPr>
        <p:blipFill rotWithShape="1">
          <a:blip r:embed="rId7">
            <a:alphaModFix/>
          </a:blip>
          <a:srcRect b="0" l="0" r="0" t="0"/>
          <a:stretch/>
        </p:blipFill>
        <p:spPr>
          <a:xfrm>
            <a:off x="11460647" y="2413942"/>
            <a:ext cx="577406" cy="252400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pic>
        <p:nvPicPr>
          <p:cNvPr id="632" name="Google Shape;632;p37"/>
          <p:cNvPicPr preferRelativeResize="0"/>
          <p:nvPr/>
        </p:nvPicPr>
        <p:blipFill rotWithShape="1">
          <a:blip r:embed="rId3">
            <a:alphaModFix/>
          </a:blip>
          <a:srcRect b="0" l="0" r="0" t="0"/>
          <a:stretch/>
        </p:blipFill>
        <p:spPr>
          <a:xfrm>
            <a:off x="-569167" y="-453118"/>
            <a:ext cx="13566710" cy="7631274"/>
          </a:xfrm>
          <a:prstGeom prst="rect">
            <a:avLst/>
          </a:prstGeom>
          <a:noFill/>
          <a:ln>
            <a:noFill/>
          </a:ln>
        </p:spPr>
      </p:pic>
      <p:sp>
        <p:nvSpPr>
          <p:cNvPr id="633" name="Google Shape;633;p37"/>
          <p:cNvSpPr txBox="1"/>
          <p:nvPr/>
        </p:nvSpPr>
        <p:spPr>
          <a:xfrm>
            <a:off x="3724180" y="752700"/>
            <a:ext cx="7117991" cy="612565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rgbClr val="FF0000"/>
                </a:solidFill>
                <a:latin typeface="Microsoft JhengHei"/>
                <a:ea typeface="Microsoft JhengHei"/>
                <a:cs typeface="Microsoft JhengHei"/>
                <a:sym typeface="Microsoft JhengHei"/>
              </a:rPr>
              <a:t>法律與倫理問題</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600"/>
              <a:buFont typeface="Arial"/>
              <a:buNone/>
            </a:pPr>
            <a:r>
              <a:rPr b="1" i="0" lang="zh-TW" sz="1600" u="none" cap="none" strike="noStrike">
                <a:solidFill>
                  <a:schemeClr val="dk1"/>
                </a:solidFill>
                <a:latin typeface="Microsoft JhengHei"/>
                <a:ea typeface="Microsoft JhengHei"/>
                <a:cs typeface="Microsoft JhengHei"/>
                <a:sym typeface="Microsoft JhengHei"/>
              </a:rPr>
              <a:t>依據著作權法第5條第1項第10款之規定，電腦軟體中之開放原始碼（Open Source）屬於著作權保障範圍之一。</a:t>
            </a:r>
            <a:endParaRPr b="1" i="0" sz="16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600"/>
              <a:buFont typeface="Arial"/>
              <a:buNone/>
            </a:pPr>
            <a:r>
              <a:rPr b="1" i="0" lang="zh-TW" sz="1600" u="none" cap="none" strike="noStrike">
                <a:solidFill>
                  <a:schemeClr val="dk1"/>
                </a:solidFill>
                <a:latin typeface="Microsoft JhengHei"/>
                <a:ea typeface="Microsoft JhengHei"/>
                <a:cs typeface="Microsoft JhengHei"/>
                <a:sym typeface="Microsoft JhengHei"/>
              </a:rPr>
              <a:t>又依著作權法第37條第1項前段之規定，開放原始碼之著作人得授權他人利用其研發之開放原始碼，實務上多透過原始碼授權契約要求被授權之人必須遵守原始碼授權契約之條款。</a:t>
            </a:r>
            <a:endParaRPr b="1" i="0" sz="1600" u="none" cap="none" strike="noStrike">
              <a:solidFill>
                <a:schemeClr val="dk1"/>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600"/>
              <a:buFont typeface="Arial"/>
              <a:buNone/>
            </a:pPr>
            <a:r>
              <a:rPr b="1" i="0" lang="zh-TW" sz="1600" u="none" cap="none" strike="noStrike">
                <a:solidFill>
                  <a:schemeClr val="dk1"/>
                </a:solidFill>
                <a:latin typeface="Microsoft JhengHei"/>
                <a:ea typeface="Microsoft JhengHei"/>
                <a:cs typeface="Microsoft JhengHei"/>
                <a:sym typeface="Microsoft JhengHei"/>
              </a:rPr>
              <a:t>若有使用開放原始碼（Open Source）且與該開放原始碼之研發者簽訂開放原始碼授權契約，被授權者須遵照條約內容，以免有侵害著作權法之疑慮。</a:t>
            </a:r>
            <a:endParaRPr b="1" i="0" sz="1600" u="none" cap="none" strike="noStrike">
              <a:solidFill>
                <a:schemeClr val="dk1"/>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600"/>
              <a:buFont typeface="Arial"/>
              <a:buNone/>
            </a:pPr>
            <a:r>
              <a:rPr b="1" i="0" lang="zh-TW" sz="1600" u="none" cap="none" strike="noStrike">
                <a:solidFill>
                  <a:schemeClr val="dk1"/>
                </a:solidFill>
                <a:latin typeface="Microsoft JhengHei"/>
                <a:ea typeface="Microsoft JhengHei"/>
                <a:cs typeface="Microsoft JhengHei"/>
                <a:sym typeface="Microsoft JhengHei"/>
              </a:rPr>
              <a:t>此外、建議本地伺服器 (local server) 或客戶端 (clients) 進行機器學習前，先將個人資料進行去識別化。並同步推動法規的修改，要求聯邦式學習的個人資料去識別化，若沒有則可推定聯邦式中模型的交換及更新為個人資料處理。</a:t>
            </a:r>
            <a:endParaRPr b="1" i="0" sz="16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600"/>
              <a:buFont typeface="Arial"/>
              <a:buNone/>
            </a:pPr>
            <a:r>
              <a:t/>
            </a:r>
            <a:endParaRPr b="1" i="0" sz="16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400"/>
              <a:buFont typeface="Arial"/>
              <a:buNone/>
            </a:pPr>
            <a:r>
              <a:rPr b="1" i="0" lang="zh-TW" sz="1400" u="none" cap="none" strike="noStrike">
                <a:solidFill>
                  <a:schemeClr val="dk1"/>
                </a:solidFill>
                <a:latin typeface="Microsoft JhengHei"/>
                <a:ea typeface="Microsoft JhengHei"/>
                <a:cs typeface="Microsoft JhengHei"/>
                <a:sym typeface="Microsoft JhengHei"/>
              </a:rPr>
              <a:t>(請參照個資法第2條、第3條；著作權法第5條第1項第10款、第37條第1項)</a:t>
            </a:r>
            <a:endParaRPr b="1" i="0" sz="14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600"/>
              <a:buFont typeface="Arial"/>
              <a:buNone/>
            </a:pPr>
            <a:r>
              <a:t/>
            </a:r>
            <a:endParaRPr b="1" i="0" sz="16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600"/>
              <a:buFont typeface="Arial"/>
              <a:buNone/>
            </a:pPr>
            <a:r>
              <a:t/>
            </a:r>
            <a:endParaRPr b="1" i="0" sz="1600" u="none" cap="none" strike="noStrike">
              <a:solidFill>
                <a:schemeClr val="dk1"/>
              </a:solidFill>
              <a:latin typeface="Microsoft JhengHei"/>
              <a:ea typeface="Microsoft JhengHei"/>
              <a:cs typeface="Microsoft JhengHei"/>
              <a:sym typeface="Microsoft JhengHei"/>
            </a:endParaRPr>
          </a:p>
        </p:txBody>
      </p:sp>
      <p:grpSp>
        <p:nvGrpSpPr>
          <p:cNvPr id="634" name="Google Shape;634;p37"/>
          <p:cNvGrpSpPr/>
          <p:nvPr/>
        </p:nvGrpSpPr>
        <p:grpSpPr>
          <a:xfrm>
            <a:off x="1581951" y="2759588"/>
            <a:ext cx="2674353" cy="1338824"/>
            <a:chOff x="1469994" y="3089808"/>
            <a:chExt cx="2674353" cy="1338824"/>
          </a:xfrm>
        </p:grpSpPr>
        <p:sp>
          <p:nvSpPr>
            <p:cNvPr id="635" name="Google Shape;635;p37"/>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隱私</a:t>
              </a:r>
              <a:endParaRPr b="0" i="0" sz="1400" u="none" cap="none" strike="noStrike">
                <a:solidFill>
                  <a:srgbClr val="000000"/>
                </a:solidFill>
                <a:latin typeface="Arial"/>
                <a:ea typeface="Arial"/>
                <a:cs typeface="Arial"/>
                <a:sym typeface="Arial"/>
              </a:endParaRPr>
            </a:p>
          </p:txBody>
        </p:sp>
        <p:sp>
          <p:nvSpPr>
            <p:cNvPr id="636" name="Google Shape;636;p37"/>
            <p:cNvSpPr txBox="1"/>
            <p:nvPr/>
          </p:nvSpPr>
          <p:spPr>
            <a:xfrm>
              <a:off x="1625403" y="3089808"/>
              <a:ext cx="1980787"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CFA779"/>
                  </a:solidFill>
                  <a:latin typeface="Arial"/>
                  <a:ea typeface="Arial"/>
                  <a:cs typeface="Arial"/>
                  <a:sym typeface="Arial"/>
                </a:rPr>
                <a:t>P</a:t>
              </a:r>
              <a:r>
                <a:rPr b="1" i="0" lang="zh-TW" sz="2800" u="sng" cap="none" strike="noStrike">
                  <a:solidFill>
                    <a:schemeClr val="dk1"/>
                  </a:solidFill>
                  <a:latin typeface="Arial"/>
                  <a:ea typeface="Arial"/>
                  <a:cs typeface="Arial"/>
                  <a:sym typeface="Arial"/>
                </a:rPr>
                <a:t>rivacy</a:t>
              </a:r>
              <a:endParaRPr b="0" i="0" sz="2800" u="sng" cap="none" strike="noStrike">
                <a:solidFill>
                  <a:schemeClr val="dk1"/>
                </a:solidFill>
                <a:latin typeface="Arial"/>
                <a:ea typeface="Arial"/>
                <a:cs typeface="Arial"/>
                <a:sym typeface="Arial"/>
              </a:endParaRPr>
            </a:p>
          </p:txBody>
        </p:sp>
      </p:grpSp>
      <p:grpSp>
        <p:nvGrpSpPr>
          <p:cNvPr id="637" name="Google Shape;637;p37"/>
          <p:cNvGrpSpPr/>
          <p:nvPr/>
        </p:nvGrpSpPr>
        <p:grpSpPr>
          <a:xfrm>
            <a:off x="1978089" y="302326"/>
            <a:ext cx="1453063" cy="737119"/>
            <a:chOff x="2080727" y="858416"/>
            <a:chExt cx="1453063" cy="737119"/>
          </a:xfrm>
        </p:grpSpPr>
        <p:sp>
          <p:nvSpPr>
            <p:cNvPr id="638" name="Google Shape;638;p37"/>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建模中</a:t>
              </a:r>
              <a:endParaRPr b="0" i="0" sz="2400" u="none" cap="none" strike="noStrike">
                <a:solidFill>
                  <a:schemeClr val="dk1"/>
                </a:solidFill>
                <a:latin typeface="Calibri"/>
                <a:ea typeface="Calibri"/>
                <a:cs typeface="Calibri"/>
                <a:sym typeface="Calibri"/>
              </a:endParaRPr>
            </a:p>
          </p:txBody>
        </p:sp>
        <p:sp>
          <p:nvSpPr>
            <p:cNvPr id="639" name="Google Shape;639;p37"/>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640" name="Google Shape;640;p37">
            <a:hlinkClick action="ppaction://hlinksldjump" r:id="rId4"/>
          </p:cNvPr>
          <p:cNvPicPr preferRelativeResize="0"/>
          <p:nvPr/>
        </p:nvPicPr>
        <p:blipFill rotWithShape="1">
          <a:blip r:embed="rId5">
            <a:alphaModFix/>
          </a:blip>
          <a:srcRect b="0" l="0" r="0" t="0"/>
          <a:stretch/>
        </p:blipFill>
        <p:spPr>
          <a:xfrm>
            <a:off x="11390920" y="6048961"/>
            <a:ext cx="756832" cy="715314"/>
          </a:xfrm>
          <a:prstGeom prst="rect">
            <a:avLst/>
          </a:prstGeom>
          <a:noFill/>
          <a:ln>
            <a:noFill/>
          </a:ln>
        </p:spPr>
      </p:pic>
      <p:pic>
        <p:nvPicPr>
          <p:cNvPr id="641" name="Google Shape;641;p37">
            <a:hlinkClick action="ppaction://hlinksldjump" r:id="rId6"/>
          </p:cNvPr>
          <p:cNvPicPr preferRelativeResize="0"/>
          <p:nvPr/>
        </p:nvPicPr>
        <p:blipFill rotWithShape="1">
          <a:blip r:embed="rId7">
            <a:alphaModFix/>
          </a:blip>
          <a:srcRect b="0" l="0" r="0" t="0"/>
          <a:stretch/>
        </p:blipFill>
        <p:spPr>
          <a:xfrm>
            <a:off x="11467322" y="5444932"/>
            <a:ext cx="604029" cy="60402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pic>
        <p:nvPicPr>
          <p:cNvPr id="646" name="Google Shape;646;p3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47" name="Google Shape;647;p38"/>
          <p:cNvSpPr txBox="1"/>
          <p:nvPr/>
        </p:nvSpPr>
        <p:spPr>
          <a:xfrm>
            <a:off x="4320831" y="3120909"/>
            <a:ext cx="6097554" cy="91858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資料極小化:</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是否極小化資料的蒐集類別，避免蒐集不必要的資訊？</a:t>
            </a:r>
            <a:endParaRPr b="0" i="0" sz="1800" u="none" cap="none" strike="noStrike">
              <a:solidFill>
                <a:schemeClr val="dk1"/>
              </a:solidFill>
              <a:latin typeface="Microsoft JhengHei"/>
              <a:ea typeface="Microsoft JhengHei"/>
              <a:cs typeface="Microsoft JhengHei"/>
              <a:sym typeface="Microsoft JhengHei"/>
            </a:endParaRPr>
          </a:p>
        </p:txBody>
      </p:sp>
      <p:grpSp>
        <p:nvGrpSpPr>
          <p:cNvPr id="648" name="Google Shape;648;p38"/>
          <p:cNvGrpSpPr/>
          <p:nvPr/>
        </p:nvGrpSpPr>
        <p:grpSpPr>
          <a:xfrm>
            <a:off x="1886751" y="2708788"/>
            <a:ext cx="2674353" cy="1338824"/>
            <a:chOff x="1469994" y="3089808"/>
            <a:chExt cx="2674353" cy="1338824"/>
          </a:xfrm>
        </p:grpSpPr>
        <p:sp>
          <p:nvSpPr>
            <p:cNvPr id="649" name="Google Shape;649;p38"/>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隱私</a:t>
              </a:r>
              <a:endParaRPr b="0" i="0" sz="1400" u="none" cap="none" strike="noStrike">
                <a:solidFill>
                  <a:srgbClr val="000000"/>
                </a:solidFill>
                <a:latin typeface="Arial"/>
                <a:ea typeface="Arial"/>
                <a:cs typeface="Arial"/>
                <a:sym typeface="Arial"/>
              </a:endParaRPr>
            </a:p>
          </p:txBody>
        </p:sp>
        <p:sp>
          <p:nvSpPr>
            <p:cNvPr id="650" name="Google Shape;650;p38"/>
            <p:cNvSpPr txBox="1"/>
            <p:nvPr/>
          </p:nvSpPr>
          <p:spPr>
            <a:xfrm>
              <a:off x="1688831" y="3089808"/>
              <a:ext cx="1917360"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CFA779"/>
                  </a:solidFill>
                  <a:latin typeface="Arial"/>
                  <a:ea typeface="Arial"/>
                  <a:cs typeface="Arial"/>
                  <a:sym typeface="Arial"/>
                </a:rPr>
                <a:t>P</a:t>
              </a:r>
              <a:r>
                <a:rPr b="1" i="0" lang="zh-TW" sz="2800" u="sng" cap="none" strike="noStrike">
                  <a:solidFill>
                    <a:schemeClr val="dk1"/>
                  </a:solidFill>
                  <a:latin typeface="Arial"/>
                  <a:ea typeface="Arial"/>
                  <a:cs typeface="Arial"/>
                  <a:sym typeface="Arial"/>
                </a:rPr>
                <a:t>rivacy</a:t>
              </a:r>
              <a:endParaRPr b="0" i="0" sz="2800" u="sng" cap="none" strike="noStrike">
                <a:solidFill>
                  <a:schemeClr val="dk1"/>
                </a:solidFill>
                <a:latin typeface="Arial"/>
                <a:ea typeface="Arial"/>
                <a:cs typeface="Arial"/>
                <a:sym typeface="Arial"/>
              </a:endParaRPr>
            </a:p>
          </p:txBody>
        </p:sp>
      </p:grpSp>
      <p:pic>
        <p:nvPicPr>
          <p:cNvPr id="651" name="Google Shape;651;p38">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652" name="Google Shape;652;p38"/>
          <p:cNvGrpSpPr/>
          <p:nvPr/>
        </p:nvGrpSpPr>
        <p:grpSpPr>
          <a:xfrm>
            <a:off x="2022149" y="681133"/>
            <a:ext cx="1453063" cy="737119"/>
            <a:chOff x="2080727" y="858416"/>
            <a:chExt cx="1453063" cy="737119"/>
          </a:xfrm>
        </p:grpSpPr>
        <p:sp>
          <p:nvSpPr>
            <p:cNvPr id="653" name="Google Shape;653;p38"/>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建模中</a:t>
              </a:r>
              <a:endParaRPr b="0" i="0" sz="2400" u="none" cap="none" strike="noStrike">
                <a:solidFill>
                  <a:schemeClr val="dk1"/>
                </a:solidFill>
                <a:latin typeface="Calibri"/>
                <a:ea typeface="Calibri"/>
                <a:cs typeface="Calibri"/>
                <a:sym typeface="Calibri"/>
              </a:endParaRPr>
            </a:p>
          </p:txBody>
        </p:sp>
        <p:sp>
          <p:nvSpPr>
            <p:cNvPr id="654" name="Google Shape;654;p38"/>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655" name="Google Shape;655;p38">
            <a:hlinkClick action="ppaction://hlinksldjump" r:id="rId6"/>
          </p:cNvPr>
          <p:cNvPicPr preferRelativeResize="0"/>
          <p:nvPr/>
        </p:nvPicPr>
        <p:blipFill rotWithShape="1">
          <a:blip r:embed="rId7">
            <a:alphaModFix/>
          </a:blip>
          <a:srcRect b="0" l="0" r="0" t="0"/>
          <a:stretch/>
        </p:blipFill>
        <p:spPr>
          <a:xfrm>
            <a:off x="11382050" y="5406315"/>
            <a:ext cx="642646" cy="642646"/>
          </a:xfrm>
          <a:prstGeom prst="rect">
            <a:avLst/>
          </a:prstGeom>
          <a:noFill/>
          <a:ln>
            <a:noFill/>
          </a:ln>
        </p:spPr>
      </p:pic>
      <p:pic>
        <p:nvPicPr>
          <p:cNvPr id="656" name="Google Shape;656;p38">
            <a:hlinkClick action="ppaction://hlinksldjump" r:id="rId8"/>
          </p:cNvPr>
          <p:cNvPicPr preferRelativeResize="0"/>
          <p:nvPr/>
        </p:nvPicPr>
        <p:blipFill rotWithShape="1">
          <a:blip r:embed="rId9">
            <a:alphaModFix/>
          </a:blip>
          <a:srcRect b="0" l="0" r="0" t="0"/>
          <a:stretch/>
        </p:blipFill>
        <p:spPr>
          <a:xfrm>
            <a:off x="11474935" y="2413942"/>
            <a:ext cx="577406" cy="252400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pic>
        <p:nvPicPr>
          <p:cNvPr id="661" name="Google Shape;661;p39"/>
          <p:cNvPicPr preferRelativeResize="0"/>
          <p:nvPr/>
        </p:nvPicPr>
        <p:blipFill rotWithShape="1">
          <a:blip r:embed="rId3">
            <a:alphaModFix/>
          </a:blip>
          <a:srcRect b="0" l="0" r="0" t="0"/>
          <a:stretch/>
        </p:blipFill>
        <p:spPr>
          <a:xfrm>
            <a:off x="-571500" y="-393700"/>
            <a:ext cx="13591822" cy="7645400"/>
          </a:xfrm>
          <a:prstGeom prst="rect">
            <a:avLst/>
          </a:prstGeom>
          <a:noFill/>
          <a:ln>
            <a:noFill/>
          </a:ln>
        </p:spPr>
      </p:pic>
      <p:grpSp>
        <p:nvGrpSpPr>
          <p:cNvPr id="662" name="Google Shape;662;p39"/>
          <p:cNvGrpSpPr/>
          <p:nvPr/>
        </p:nvGrpSpPr>
        <p:grpSpPr>
          <a:xfrm>
            <a:off x="4080683" y="1034788"/>
            <a:ext cx="6478555" cy="4991110"/>
            <a:chOff x="3917298" y="1352288"/>
            <a:chExt cx="6478555" cy="4991110"/>
          </a:xfrm>
        </p:grpSpPr>
        <p:sp>
          <p:nvSpPr>
            <p:cNvPr id="663" name="Google Shape;663;p39"/>
            <p:cNvSpPr txBox="1"/>
            <p:nvPr/>
          </p:nvSpPr>
          <p:spPr>
            <a:xfrm>
              <a:off x="3917298" y="1352288"/>
              <a:ext cx="6478555" cy="4991110"/>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資料代表性:</a:t>
              </a:r>
              <a:endParaRPr b="0" i="0" sz="1400" u="none" cap="none" strike="noStrike">
                <a:solidFill>
                  <a:srgbClr val="000000"/>
                </a:solidFill>
                <a:latin typeface="Arial"/>
                <a:ea typeface="Arial"/>
                <a:cs typeface="Arial"/>
                <a:sym typeface="Arial"/>
              </a:endParaRPr>
            </a:p>
            <a:p>
              <a:pPr indent="0" lvl="0" marL="0" marR="0" rtl="0" algn="l">
                <a:lnSpc>
                  <a:spcPct val="122222"/>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是否持續監控資料的代表性？</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22222"/>
                </a:lnSpc>
                <a:spcBef>
                  <a:spcPts val="0"/>
                </a:spcBef>
                <a:spcAft>
                  <a:spcPts val="0"/>
                </a:spcAft>
                <a:buClr>
                  <a:srgbClr val="000000"/>
                </a:buClr>
                <a:buSzPts val="1800"/>
                <a:buFont typeface="Arial"/>
                <a:buNone/>
              </a:pPr>
              <a:r>
                <a:rPr b="0" i="0" lang="zh-TW" sz="1800" u="none" cap="none" strike="noStrike">
                  <a:solidFill>
                    <a:srgbClr val="713613"/>
                  </a:solidFill>
                  <a:latin typeface="Microsoft JhengHei"/>
                  <a:ea typeface="Microsoft JhengHei"/>
                  <a:cs typeface="Microsoft JhengHei"/>
                  <a:sym typeface="Microsoft JhengHei"/>
                </a:rPr>
                <a:t>（例如:避免空拍影像蒐集持續集中於特定區域）</a:t>
              </a:r>
              <a:endParaRPr b="0" i="0" sz="1800" u="none" cap="none" strike="noStrike">
                <a:solidFill>
                  <a:srgbClr val="713613"/>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1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AI結果偏誤:</a:t>
              </a:r>
              <a:endParaRPr b="0" i="0" sz="1400" u="none" cap="none" strike="noStrike">
                <a:solidFill>
                  <a:srgbClr val="000000"/>
                </a:solidFill>
                <a:latin typeface="Arial"/>
                <a:ea typeface="Arial"/>
                <a:cs typeface="Arial"/>
                <a:sym typeface="Arial"/>
              </a:endParaRPr>
            </a:p>
            <a:p>
              <a:pPr indent="0" lvl="0" marL="0" marR="0" rtl="0" algn="l">
                <a:lnSpc>
                  <a:spcPct val="122222"/>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是否建立機制，以檢視AI輸出結果是否造成群體偏差</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22222"/>
                </a:lnSpc>
                <a:spcBef>
                  <a:spcPts val="0"/>
                </a:spcBef>
                <a:spcAft>
                  <a:spcPts val="0"/>
                </a:spcAft>
                <a:buClr>
                  <a:srgbClr val="000000"/>
                </a:buClr>
                <a:buSzPts val="1800"/>
                <a:buFont typeface="Arial"/>
                <a:buNone/>
              </a:pPr>
              <a:r>
                <a:rPr b="0" i="0" lang="zh-TW" sz="1800" u="none" cap="none" strike="noStrike">
                  <a:solidFill>
                    <a:srgbClr val="713613"/>
                  </a:solidFill>
                  <a:latin typeface="Microsoft JhengHei"/>
                  <a:ea typeface="Microsoft JhengHei"/>
                  <a:cs typeface="Microsoft JhengHei"/>
                  <a:sym typeface="Microsoft JhengHei"/>
                </a:rPr>
                <a:t>（例如:空拍影像集中於特定區域蒐集，導致其他區域的空拍影像辨識度較差）</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偏誤處理機制:</a:t>
              </a:r>
              <a:endParaRPr b="0" i="0" sz="1400" u="none" cap="none" strike="noStrike">
                <a:solidFill>
                  <a:srgbClr val="000000"/>
                </a:solidFill>
                <a:latin typeface="Arial"/>
                <a:ea typeface="Arial"/>
                <a:cs typeface="Arial"/>
                <a:sym typeface="Arial"/>
              </a:endParaRPr>
            </a:p>
            <a:p>
              <a:pPr indent="0" lvl="0" marL="0" marR="0" rtl="0" algn="l">
                <a:lnSpc>
                  <a:spcPct val="122222"/>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是否已建立機制，處理AI決策結果出現偏差的問題？</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22222"/>
                </a:lnSpc>
                <a:spcBef>
                  <a:spcPts val="0"/>
                </a:spcBef>
                <a:spcAft>
                  <a:spcPts val="0"/>
                </a:spcAft>
                <a:buClr>
                  <a:srgbClr val="000000"/>
                </a:buClr>
                <a:buSzPts val="1800"/>
                <a:buFont typeface="Arial"/>
                <a:buNone/>
              </a:pPr>
              <a:r>
                <a:rPr b="0" i="0" lang="zh-TW" sz="1800" u="none" cap="none" strike="noStrike">
                  <a:solidFill>
                    <a:srgbClr val="713613"/>
                  </a:solidFill>
                  <a:latin typeface="Microsoft JhengHei"/>
                  <a:ea typeface="Microsoft JhengHei"/>
                  <a:cs typeface="Microsoft JhengHei"/>
                  <a:sym typeface="Microsoft JhengHei"/>
                </a:rPr>
                <a:t>（例如: 如何通報、向誰通報？）</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教育AI設計者與開發者:</a:t>
              </a:r>
              <a:endParaRPr b="0" i="0" sz="1400" u="none" cap="none" strike="noStrike">
                <a:solidFill>
                  <a:srgbClr val="000000"/>
                </a:solidFill>
                <a:latin typeface="Arial"/>
                <a:ea typeface="Arial"/>
                <a:cs typeface="Arial"/>
                <a:sym typeface="Arial"/>
              </a:endParaRPr>
            </a:p>
            <a:p>
              <a:pPr indent="0" lvl="0" marL="0" marR="0" rtl="0" algn="l">
                <a:lnSpc>
                  <a:spcPct val="122222"/>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是否持續教育團隊內之AI設計者和開發者意識到可能的偏誤？</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利害關係者:</a:t>
              </a:r>
              <a:endParaRPr b="0" i="0" sz="1400" u="none" cap="none" strike="noStrike">
                <a:solidFill>
                  <a:srgbClr val="000000"/>
                </a:solidFill>
                <a:latin typeface="Arial"/>
                <a:ea typeface="Arial"/>
                <a:cs typeface="Arial"/>
                <a:sym typeface="Arial"/>
              </a:endParaRPr>
            </a:p>
            <a:p>
              <a:pPr indent="0" lvl="0" marL="0" marR="0" rtl="0" algn="l">
                <a:lnSpc>
                  <a:spcPct val="111111"/>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是否持續蒐集潛在使用者的意見？</a:t>
              </a:r>
              <a:endParaRPr b="0" i="0" sz="1400" u="none" cap="none" strike="noStrike">
                <a:solidFill>
                  <a:srgbClr val="000000"/>
                </a:solidFill>
                <a:latin typeface="Arial"/>
                <a:ea typeface="Arial"/>
                <a:cs typeface="Arial"/>
                <a:sym typeface="Arial"/>
              </a:endParaRPr>
            </a:p>
          </p:txBody>
        </p:sp>
        <p:cxnSp>
          <p:nvCxnSpPr>
            <p:cNvPr id="664" name="Google Shape;664;p39"/>
            <p:cNvCxnSpPr/>
            <p:nvPr/>
          </p:nvCxnSpPr>
          <p:spPr>
            <a:xfrm>
              <a:off x="3926629" y="2362198"/>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665" name="Google Shape;665;p39"/>
            <p:cNvCxnSpPr/>
            <p:nvPr/>
          </p:nvCxnSpPr>
          <p:spPr>
            <a:xfrm>
              <a:off x="3926629" y="3715139"/>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666" name="Google Shape;666;p39"/>
            <p:cNvCxnSpPr/>
            <p:nvPr/>
          </p:nvCxnSpPr>
          <p:spPr>
            <a:xfrm>
              <a:off x="3917298" y="4763273"/>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667" name="Google Shape;667;p39"/>
            <p:cNvCxnSpPr/>
            <p:nvPr/>
          </p:nvCxnSpPr>
          <p:spPr>
            <a:xfrm>
              <a:off x="3926629" y="5557931"/>
              <a:ext cx="62071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668" name="Google Shape;668;p39"/>
          <p:cNvGrpSpPr/>
          <p:nvPr/>
        </p:nvGrpSpPr>
        <p:grpSpPr>
          <a:xfrm>
            <a:off x="1373477" y="2758321"/>
            <a:ext cx="2674353" cy="1341358"/>
            <a:chOff x="1469994" y="3087274"/>
            <a:chExt cx="2674353" cy="1341358"/>
          </a:xfrm>
        </p:grpSpPr>
        <p:sp>
          <p:nvSpPr>
            <p:cNvPr id="669" name="Google Shape;669;p39"/>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公平性</a:t>
              </a:r>
              <a:endParaRPr b="0" i="0" sz="1400" u="none" cap="none" strike="noStrike">
                <a:solidFill>
                  <a:srgbClr val="000000"/>
                </a:solidFill>
                <a:latin typeface="Arial"/>
                <a:ea typeface="Arial"/>
                <a:cs typeface="Arial"/>
                <a:sym typeface="Arial"/>
              </a:endParaRPr>
            </a:p>
          </p:txBody>
        </p:sp>
        <p:sp>
          <p:nvSpPr>
            <p:cNvPr id="670" name="Google Shape;670;p39"/>
            <p:cNvSpPr txBox="1"/>
            <p:nvPr/>
          </p:nvSpPr>
          <p:spPr>
            <a:xfrm>
              <a:off x="1598747" y="3087274"/>
              <a:ext cx="2212724"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B46A62"/>
                  </a:solidFill>
                  <a:latin typeface="Arial"/>
                  <a:ea typeface="Arial"/>
                  <a:cs typeface="Arial"/>
                  <a:sym typeface="Arial"/>
                </a:rPr>
                <a:t>F</a:t>
              </a:r>
              <a:r>
                <a:rPr b="1" i="0" lang="zh-TW" sz="2800" u="sng" cap="none" strike="noStrike">
                  <a:solidFill>
                    <a:schemeClr val="dk1"/>
                  </a:solidFill>
                  <a:latin typeface="Arial"/>
                  <a:ea typeface="Arial"/>
                  <a:cs typeface="Arial"/>
                  <a:sym typeface="Arial"/>
                </a:rPr>
                <a:t>airness</a:t>
              </a:r>
              <a:endParaRPr b="0" i="0" sz="2800" u="sng" cap="none" strike="noStrike">
                <a:solidFill>
                  <a:schemeClr val="dk1"/>
                </a:solidFill>
                <a:latin typeface="Arial"/>
                <a:ea typeface="Arial"/>
                <a:cs typeface="Arial"/>
                <a:sym typeface="Arial"/>
              </a:endParaRPr>
            </a:p>
          </p:txBody>
        </p:sp>
      </p:grpSp>
      <p:pic>
        <p:nvPicPr>
          <p:cNvPr id="671" name="Google Shape;671;p39">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672" name="Google Shape;672;p39"/>
          <p:cNvGrpSpPr/>
          <p:nvPr/>
        </p:nvGrpSpPr>
        <p:grpSpPr>
          <a:xfrm>
            <a:off x="1984121" y="361789"/>
            <a:ext cx="1453063" cy="737119"/>
            <a:chOff x="2080727" y="858416"/>
            <a:chExt cx="1453063" cy="737119"/>
          </a:xfrm>
        </p:grpSpPr>
        <p:sp>
          <p:nvSpPr>
            <p:cNvPr id="673" name="Google Shape;673;p39"/>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建模中</a:t>
              </a:r>
              <a:endParaRPr b="0" i="0" sz="2400" u="none" cap="none" strike="noStrike">
                <a:solidFill>
                  <a:schemeClr val="dk1"/>
                </a:solidFill>
                <a:latin typeface="Calibri"/>
                <a:ea typeface="Calibri"/>
                <a:cs typeface="Calibri"/>
                <a:sym typeface="Calibri"/>
              </a:endParaRPr>
            </a:p>
          </p:txBody>
        </p:sp>
        <p:sp>
          <p:nvSpPr>
            <p:cNvPr id="674" name="Google Shape;674;p39"/>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pic>
        <p:nvPicPr>
          <p:cNvPr id="679" name="Google Shape;679;p40"/>
          <p:cNvPicPr preferRelativeResize="0"/>
          <p:nvPr/>
        </p:nvPicPr>
        <p:blipFill rotWithShape="1">
          <a:blip r:embed="rId3">
            <a:alphaModFix/>
          </a:blip>
          <a:srcRect b="0" l="0" r="0" t="0"/>
          <a:stretch/>
        </p:blipFill>
        <p:spPr>
          <a:xfrm>
            <a:off x="-501650" y="-282179"/>
            <a:ext cx="13195300" cy="7422357"/>
          </a:xfrm>
          <a:prstGeom prst="rect">
            <a:avLst/>
          </a:prstGeom>
          <a:noFill/>
          <a:ln>
            <a:noFill/>
          </a:ln>
        </p:spPr>
      </p:pic>
      <p:grpSp>
        <p:nvGrpSpPr>
          <p:cNvPr id="680" name="Google Shape;680;p40"/>
          <p:cNvGrpSpPr/>
          <p:nvPr/>
        </p:nvGrpSpPr>
        <p:grpSpPr>
          <a:xfrm>
            <a:off x="4015674" y="1168058"/>
            <a:ext cx="6548626" cy="4801284"/>
            <a:chOff x="3808354" y="1371208"/>
            <a:chExt cx="6548626" cy="4801284"/>
          </a:xfrm>
        </p:grpSpPr>
        <p:sp>
          <p:nvSpPr>
            <p:cNvPr id="681" name="Google Shape;681;p40"/>
            <p:cNvSpPr txBox="1"/>
            <p:nvPr/>
          </p:nvSpPr>
          <p:spPr>
            <a:xfrm>
              <a:off x="3808354" y="1371208"/>
              <a:ext cx="6548626" cy="480128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評估資安弱點</a:t>
              </a:r>
              <a:r>
                <a:rPr b="0" i="0" lang="zh-TW" sz="2000" u="none" cap="none" strike="noStrike">
                  <a:solidFill>
                    <a:srgbClr val="FF0000"/>
                  </a:solidFill>
                  <a:latin typeface="Microsoft JhengHei"/>
                  <a:ea typeface="Microsoft JhengHei"/>
                  <a:cs typeface="Microsoft JhengHei"/>
                  <a:sym typeface="Microsoft JhengHei"/>
                </a:rPr>
                <a:t>:</a:t>
              </a:r>
              <a:endParaRPr b="0" i="0" sz="1400" u="none" cap="none" strike="noStrike">
                <a:solidFill>
                  <a:srgbClr val="000000"/>
                </a:solidFill>
                <a:latin typeface="Arial"/>
                <a:ea typeface="Arial"/>
                <a:cs typeface="Arial"/>
                <a:sym typeface="Arial"/>
              </a:endParaRPr>
            </a:p>
            <a:p>
              <a:pPr indent="0" lvl="0" marL="0" marR="0" rtl="0" algn="l">
                <a:lnSpc>
                  <a:spcPct val="111111"/>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AI模型是否持續依照既定的資安管理程序評估資安弱點？</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風險評估</a:t>
              </a:r>
              <a:r>
                <a:rPr b="0" i="0" lang="zh-TW" sz="2000" u="none" cap="none" strike="noStrike">
                  <a:solidFill>
                    <a:srgbClr val="FF0000"/>
                  </a:solidFill>
                  <a:latin typeface="Microsoft JhengHei"/>
                  <a:ea typeface="Microsoft JhengHei"/>
                  <a:cs typeface="Microsoft JhengHei"/>
                  <a:sym typeface="Microsoft JhengHei"/>
                </a:rPr>
                <a:t>:</a:t>
              </a:r>
              <a:endParaRPr b="0"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11111"/>
                </a:lnSpc>
                <a:spcBef>
                  <a:spcPts val="0"/>
                </a:spcBef>
                <a:spcAft>
                  <a:spcPts val="0"/>
                </a:spcAft>
                <a:buClr>
                  <a:srgbClr val="000000"/>
                </a:buClr>
                <a:buSzPts val="1800"/>
                <a:buFont typeface="Arial"/>
                <a:buNone/>
              </a:pPr>
              <a:r>
                <a:rPr b="1" i="0" lang="zh-TW" sz="1800" u="none" cap="none" strike="noStrike">
                  <a:solidFill>
                    <a:srgbClr val="000000"/>
                  </a:solidFill>
                  <a:latin typeface="Microsoft JhengHei"/>
                  <a:ea typeface="Microsoft JhengHei"/>
                  <a:cs typeface="Microsoft JhengHei"/>
                  <a:sym typeface="Microsoft JhengHei"/>
                </a:rPr>
                <a:t>是否已就AI模型可能的弱點或漏洞，評估潛在的資安攻擊模式</a:t>
              </a:r>
              <a:r>
                <a:rPr b="0" i="0" lang="zh-TW" sz="1800" u="none" cap="none" strike="noStrike">
                  <a:solidFill>
                    <a:srgbClr val="000000"/>
                  </a:solidFill>
                  <a:latin typeface="Microsoft JhengHei"/>
                  <a:ea typeface="Microsoft JhengHei"/>
                  <a:cs typeface="Microsoft JhengHei"/>
                  <a:sym typeface="Microsoft JhengHei"/>
                </a:rPr>
                <a:t>？</a:t>
              </a:r>
              <a:endParaRPr b="1" i="0" sz="1800" u="none" cap="none" strike="noStrike">
                <a:solidFill>
                  <a:srgbClr val="000000"/>
                </a:solidFill>
                <a:latin typeface="Microsoft JhengHei"/>
                <a:ea typeface="Microsoft JhengHei"/>
                <a:cs typeface="Microsoft JhengHei"/>
                <a:sym typeface="Microsoft JhengHei"/>
              </a:endParaRPr>
            </a:p>
            <a:p>
              <a:pPr indent="0" lvl="0" marL="0" marR="0" rtl="0" algn="l">
                <a:lnSpc>
                  <a:spcPct val="111111"/>
                </a:lnSpc>
                <a:spcBef>
                  <a:spcPts val="0"/>
                </a:spcBef>
                <a:spcAft>
                  <a:spcPts val="0"/>
                </a:spcAft>
                <a:buClr>
                  <a:srgbClr val="000000"/>
                </a:buClr>
                <a:buSzPts val="1800"/>
                <a:buFont typeface="Arial"/>
                <a:buNone/>
              </a:pPr>
              <a:r>
                <a:rPr b="0" i="0" lang="zh-TW" sz="1800" u="none" cap="none" strike="noStrike">
                  <a:solidFill>
                    <a:srgbClr val="713613"/>
                  </a:solidFill>
                  <a:latin typeface="Microsoft JhengHei"/>
                  <a:ea typeface="Microsoft JhengHei"/>
                  <a:cs typeface="Microsoft JhengHei"/>
                  <a:sym typeface="Microsoft JhengHei"/>
                </a:rPr>
                <a:t>（例如:資料中毒 、模型迴避攻擊 、模型逆向攻擊 ）</a:t>
              </a:r>
              <a:endParaRPr b="0" i="0" sz="1800" u="none" cap="none" strike="noStrike">
                <a:solidFill>
                  <a:srgbClr val="713613"/>
                </a:solidFill>
                <a:latin typeface="Microsoft JhengHei"/>
                <a:ea typeface="Microsoft JhengHei"/>
                <a:cs typeface="Microsoft JhengHei"/>
                <a:sym typeface="Microsoft JhengHei"/>
              </a:endParaRPr>
            </a:p>
            <a:p>
              <a:pPr indent="0" lvl="0" marL="0" marR="0" rtl="0" algn="l">
                <a:lnSpc>
                  <a:spcPct val="111111"/>
                </a:lnSpc>
                <a:spcBef>
                  <a:spcPts val="0"/>
                </a:spcBef>
                <a:spcAft>
                  <a:spcPts val="0"/>
                </a:spcAft>
                <a:buClr>
                  <a:srgbClr val="000000"/>
                </a:buClr>
                <a:buSzPts val="1800"/>
                <a:buFont typeface="Arial"/>
                <a:buNone/>
              </a:pPr>
              <a:r>
                <a:t/>
              </a:r>
              <a:endParaRPr b="1" i="0" sz="1800" u="none" cap="none" strike="noStrike">
                <a:solidFill>
                  <a:srgbClr val="000000"/>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避免受攻擊</a:t>
              </a:r>
              <a:r>
                <a:rPr b="0" i="0" lang="zh-TW" sz="2000" u="none" cap="none" strike="noStrike">
                  <a:solidFill>
                    <a:srgbClr val="FF0000"/>
                  </a:solidFill>
                  <a:latin typeface="Microsoft JhengHei"/>
                  <a:ea typeface="Microsoft JhengHei"/>
                  <a:cs typeface="Microsoft JhengHei"/>
                  <a:sym typeface="Microsoft JhengHei"/>
                </a:rPr>
                <a:t>:</a:t>
              </a:r>
              <a:endParaRPr b="0" i="0" sz="1400" u="none" cap="none" strike="noStrike">
                <a:solidFill>
                  <a:srgbClr val="000000"/>
                </a:solidFill>
                <a:latin typeface="Arial"/>
                <a:ea typeface="Arial"/>
                <a:cs typeface="Arial"/>
                <a:sym typeface="Arial"/>
              </a:endParaRPr>
            </a:p>
            <a:p>
              <a:pPr indent="0" lvl="0" marL="0" marR="0" rtl="0" algn="l">
                <a:lnSpc>
                  <a:spcPct val="111111"/>
                </a:lnSpc>
                <a:spcBef>
                  <a:spcPts val="0"/>
                </a:spcBef>
                <a:spcAft>
                  <a:spcPts val="0"/>
                </a:spcAft>
                <a:buClr>
                  <a:srgbClr val="000000"/>
                </a:buClr>
                <a:buSzPts val="1800"/>
                <a:buFont typeface="Arial"/>
                <a:buNone/>
              </a:pPr>
              <a:r>
                <a:rPr b="1" i="0" lang="zh-TW" sz="1800" u="none" cap="none" strike="noStrike">
                  <a:solidFill>
                    <a:srgbClr val="000000"/>
                  </a:solidFill>
                  <a:latin typeface="Microsoft JhengHei"/>
                  <a:ea typeface="Microsoft JhengHei"/>
                  <a:cs typeface="Microsoft JhengHei"/>
                  <a:sym typeface="Microsoft JhengHei"/>
                </a:rPr>
                <a:t>是否採取必要措施避免AI模型受到外來的攻擊</a:t>
              </a:r>
              <a:r>
                <a:rPr b="0" i="0" lang="zh-TW" sz="1800" u="none" cap="none" strike="noStrike">
                  <a:solidFill>
                    <a:schemeClr val="dk1"/>
                  </a:solidFill>
                  <a:latin typeface="Microsoft JhengHei"/>
                  <a:ea typeface="Microsoft JhengHei"/>
                  <a:cs typeface="Microsoft JhengHei"/>
                  <a:sym typeface="Microsoft JhengHei"/>
                </a:rPr>
                <a:t>？</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11111"/>
                </a:lnSpc>
                <a:spcBef>
                  <a:spcPts val="0"/>
                </a:spcBef>
                <a:spcAft>
                  <a:spcPts val="0"/>
                </a:spcAft>
                <a:buClr>
                  <a:srgbClr val="000000"/>
                </a:buClr>
                <a:buSzPts val="1800"/>
                <a:buFont typeface="Arial"/>
                <a:buNone/>
              </a:pPr>
              <a:r>
                <a:rPr b="0" i="0" lang="zh-TW" sz="1800" u="none" cap="none" strike="noStrike">
                  <a:solidFill>
                    <a:srgbClr val="713613"/>
                  </a:solidFill>
                  <a:latin typeface="Microsoft JhengHei"/>
                  <a:ea typeface="Microsoft JhengHei"/>
                  <a:cs typeface="Microsoft JhengHei"/>
                  <a:sym typeface="Microsoft JhengHei"/>
                </a:rPr>
                <a:t>（例如:紅隊測試、滲透測試或安全性更新）</a:t>
              </a:r>
              <a:endParaRPr b="0" i="0" sz="1800" u="none" cap="none" strike="noStrike">
                <a:solidFill>
                  <a:srgbClr val="713613"/>
                </a:solidFill>
                <a:latin typeface="Microsoft JhengHei"/>
                <a:ea typeface="Microsoft JhengHei"/>
                <a:cs typeface="Microsoft JhengHei"/>
                <a:sym typeface="Microsoft JhengHei"/>
              </a:endParaRPr>
            </a:p>
            <a:p>
              <a:pPr indent="0" lvl="0" marL="0" marR="0" rtl="0" algn="l">
                <a:lnSpc>
                  <a:spcPct val="111111"/>
                </a:lnSpc>
                <a:spcBef>
                  <a:spcPts val="0"/>
                </a:spcBef>
                <a:spcAft>
                  <a:spcPts val="0"/>
                </a:spcAft>
                <a:buClr>
                  <a:srgbClr val="000000"/>
                </a:buClr>
                <a:buSzPts val="1800"/>
                <a:buFont typeface="Arial"/>
                <a:buNone/>
              </a:pPr>
              <a:r>
                <a:t/>
              </a:r>
              <a:endParaRPr b="1" i="0" sz="1800" u="none" cap="none" strike="noStrike">
                <a:solidFill>
                  <a:srgbClr val="FF0000"/>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評估資安影響</a:t>
              </a:r>
              <a:r>
                <a:rPr b="0" i="0" lang="zh-TW" sz="2000" u="none" cap="none" strike="noStrike">
                  <a:solidFill>
                    <a:srgbClr val="FF0000"/>
                  </a:solidFill>
                  <a:latin typeface="Microsoft JhengHei"/>
                  <a:ea typeface="Microsoft JhengHei"/>
                  <a:cs typeface="Microsoft JhengHei"/>
                  <a:sym typeface="Microsoft JhengHei"/>
                </a:rPr>
                <a:t>:</a:t>
              </a:r>
              <a:endParaRPr b="0" i="0" sz="1400" u="none" cap="none" strike="noStrike">
                <a:solidFill>
                  <a:srgbClr val="000000"/>
                </a:solidFill>
                <a:latin typeface="Arial"/>
                <a:ea typeface="Arial"/>
                <a:cs typeface="Arial"/>
                <a:sym typeface="Arial"/>
              </a:endParaRPr>
            </a:p>
            <a:p>
              <a:pPr indent="0" lvl="0" marL="0" marR="0" rtl="0" algn="l">
                <a:lnSpc>
                  <a:spcPct val="111111"/>
                </a:lnSpc>
                <a:spcBef>
                  <a:spcPts val="0"/>
                </a:spcBef>
                <a:spcAft>
                  <a:spcPts val="0"/>
                </a:spcAft>
                <a:buClr>
                  <a:srgbClr val="000000"/>
                </a:buClr>
                <a:buSzPts val="1800"/>
                <a:buFont typeface="Arial"/>
                <a:buNone/>
              </a:pPr>
              <a:r>
                <a:rPr b="1" i="0" lang="zh-TW" sz="1800" u="none" cap="none" strike="noStrike">
                  <a:solidFill>
                    <a:srgbClr val="000000"/>
                  </a:solidFill>
                  <a:latin typeface="Microsoft JhengHei"/>
                  <a:ea typeface="Microsoft JhengHei"/>
                  <a:cs typeface="Microsoft JhengHei"/>
                  <a:sym typeface="Microsoft JhengHei"/>
                </a:rPr>
                <a:t>AI模型在面對設計或技術故障、缺陷、中斷、攻擊、濫用、不當使用或惡意使用等風險或威脅時，是否可能產生不利、嚴重或破壞性之影響？</a:t>
              </a:r>
              <a:endParaRPr b="1" i="0" sz="1800" u="none" cap="none" strike="noStrike">
                <a:solidFill>
                  <a:srgbClr val="000000"/>
                </a:solidFill>
                <a:latin typeface="Microsoft JhengHei"/>
                <a:ea typeface="Microsoft JhengHei"/>
                <a:cs typeface="Microsoft JhengHei"/>
                <a:sym typeface="Microsoft JhengHei"/>
              </a:endParaRPr>
            </a:p>
            <a:p>
              <a:pPr indent="0" lvl="0" marL="0" marR="0" rtl="0" algn="l">
                <a:lnSpc>
                  <a:spcPct val="111111"/>
                </a:lnSpc>
                <a:spcBef>
                  <a:spcPts val="0"/>
                </a:spcBef>
                <a:spcAft>
                  <a:spcPts val="0"/>
                </a:spcAft>
                <a:buClr>
                  <a:srgbClr val="000000"/>
                </a:buClr>
                <a:buSzPts val="1800"/>
                <a:buFont typeface="Arial"/>
                <a:buNone/>
              </a:pPr>
              <a:r>
                <a:t/>
              </a:r>
              <a:endParaRPr b="1" i="0" sz="1800" u="none" cap="none" strike="noStrike">
                <a:solidFill>
                  <a:srgbClr val="000000"/>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資安標準</a:t>
              </a:r>
              <a:r>
                <a:rPr b="0" i="0" lang="zh-TW" sz="2000" u="none" cap="none" strike="noStrike">
                  <a:solidFill>
                    <a:srgbClr val="FF0000"/>
                  </a:solidFill>
                  <a:latin typeface="Microsoft JhengHei"/>
                  <a:ea typeface="Microsoft JhengHei"/>
                  <a:cs typeface="Microsoft JhengHei"/>
                  <a:sym typeface="Microsoft JhengHei"/>
                </a:rPr>
                <a:t>:</a:t>
              </a:r>
              <a:endParaRPr b="0" i="0" sz="1400" u="none" cap="none" strike="noStrike">
                <a:solidFill>
                  <a:srgbClr val="000000"/>
                </a:solidFill>
                <a:latin typeface="Arial"/>
                <a:ea typeface="Arial"/>
                <a:cs typeface="Arial"/>
                <a:sym typeface="Arial"/>
              </a:endParaRPr>
            </a:p>
            <a:p>
              <a:pPr indent="0" lvl="0" marL="0" marR="0" rtl="0" algn="l">
                <a:lnSpc>
                  <a:spcPct val="111111"/>
                </a:lnSpc>
                <a:spcBef>
                  <a:spcPts val="0"/>
                </a:spcBef>
                <a:spcAft>
                  <a:spcPts val="0"/>
                </a:spcAft>
                <a:buClr>
                  <a:srgbClr val="000000"/>
                </a:buClr>
                <a:buSzPts val="1800"/>
                <a:buFont typeface="Arial"/>
                <a:buNone/>
              </a:pPr>
              <a:r>
                <a:rPr b="1" i="0" lang="zh-TW" sz="1800" u="none" cap="none" strike="noStrike">
                  <a:solidFill>
                    <a:srgbClr val="000000"/>
                  </a:solidFill>
                  <a:latin typeface="Microsoft JhengHei"/>
                  <a:ea typeface="Microsoft JhengHei"/>
                  <a:cs typeface="Microsoft JhengHei"/>
                  <a:sym typeface="Microsoft JhengHei"/>
                </a:rPr>
                <a:t>AI模型是否符合特定資安標準？</a:t>
              </a:r>
              <a:endParaRPr b="1" i="0" sz="1800" u="none" cap="none" strike="noStrike">
                <a:solidFill>
                  <a:srgbClr val="000000"/>
                </a:solidFill>
                <a:latin typeface="Microsoft JhengHei"/>
                <a:ea typeface="Microsoft JhengHei"/>
                <a:cs typeface="Microsoft JhengHei"/>
                <a:sym typeface="Microsoft JhengHei"/>
              </a:endParaRPr>
            </a:p>
          </p:txBody>
        </p:sp>
        <p:cxnSp>
          <p:nvCxnSpPr>
            <p:cNvPr id="682" name="Google Shape;682;p40"/>
            <p:cNvCxnSpPr/>
            <p:nvPr/>
          </p:nvCxnSpPr>
          <p:spPr>
            <a:xfrm>
              <a:off x="3926774" y="2090057"/>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683" name="Google Shape;683;p40"/>
            <p:cNvCxnSpPr/>
            <p:nvPr/>
          </p:nvCxnSpPr>
          <p:spPr>
            <a:xfrm>
              <a:off x="3926774" y="3091543"/>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684" name="Google Shape;684;p40"/>
            <p:cNvCxnSpPr/>
            <p:nvPr/>
          </p:nvCxnSpPr>
          <p:spPr>
            <a:xfrm>
              <a:off x="3926774" y="4102359"/>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685" name="Google Shape;685;p40"/>
            <p:cNvCxnSpPr/>
            <p:nvPr/>
          </p:nvCxnSpPr>
          <p:spPr>
            <a:xfrm>
              <a:off x="3926774" y="5365102"/>
              <a:ext cx="62071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686" name="Google Shape;686;p40"/>
          <p:cNvGrpSpPr/>
          <p:nvPr/>
        </p:nvGrpSpPr>
        <p:grpSpPr>
          <a:xfrm>
            <a:off x="1290521" y="2748693"/>
            <a:ext cx="2674353" cy="1341358"/>
            <a:chOff x="1469994" y="3087274"/>
            <a:chExt cx="2674353" cy="1341358"/>
          </a:xfrm>
        </p:grpSpPr>
        <p:sp>
          <p:nvSpPr>
            <p:cNvPr id="687" name="Google Shape;687;p40"/>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資訊安全</a:t>
              </a:r>
              <a:endParaRPr b="0" i="0" sz="1400" u="none" cap="none" strike="noStrike">
                <a:solidFill>
                  <a:srgbClr val="000000"/>
                </a:solidFill>
                <a:latin typeface="Arial"/>
                <a:ea typeface="Arial"/>
                <a:cs typeface="Arial"/>
                <a:sym typeface="Arial"/>
              </a:endParaRPr>
            </a:p>
          </p:txBody>
        </p:sp>
        <p:sp>
          <p:nvSpPr>
            <p:cNvPr id="688" name="Google Shape;688;p40"/>
            <p:cNvSpPr txBox="1"/>
            <p:nvPr/>
          </p:nvSpPr>
          <p:spPr>
            <a:xfrm>
              <a:off x="1729279" y="3087274"/>
              <a:ext cx="2082191"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CEA488"/>
                  </a:solidFill>
                  <a:latin typeface="Arial"/>
                  <a:ea typeface="Arial"/>
                  <a:cs typeface="Arial"/>
                  <a:sym typeface="Arial"/>
                </a:rPr>
                <a:t>S</a:t>
              </a:r>
              <a:r>
                <a:rPr b="0" i="0" lang="zh-TW" sz="2800" u="sng" cap="none" strike="noStrike">
                  <a:solidFill>
                    <a:schemeClr val="dk1"/>
                  </a:solidFill>
                  <a:latin typeface="Arial"/>
                  <a:ea typeface="Arial"/>
                  <a:cs typeface="Arial"/>
                  <a:sym typeface="Arial"/>
                </a:rPr>
                <a:t>ecurity</a:t>
              </a:r>
              <a:endParaRPr b="0" i="0" sz="2800" u="sng" cap="none" strike="noStrike">
                <a:solidFill>
                  <a:schemeClr val="dk1"/>
                </a:solidFill>
                <a:latin typeface="Arial"/>
                <a:ea typeface="Arial"/>
                <a:cs typeface="Arial"/>
                <a:sym typeface="Arial"/>
              </a:endParaRPr>
            </a:p>
          </p:txBody>
        </p:sp>
      </p:grpSp>
      <p:pic>
        <p:nvPicPr>
          <p:cNvPr id="689" name="Google Shape;689;p40">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690" name="Google Shape;690;p40"/>
          <p:cNvGrpSpPr/>
          <p:nvPr/>
        </p:nvGrpSpPr>
        <p:grpSpPr>
          <a:xfrm>
            <a:off x="1901165" y="458932"/>
            <a:ext cx="1453063" cy="737119"/>
            <a:chOff x="2080727" y="858416"/>
            <a:chExt cx="1453063" cy="737119"/>
          </a:xfrm>
        </p:grpSpPr>
        <p:sp>
          <p:nvSpPr>
            <p:cNvPr id="691" name="Google Shape;691;p40"/>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建模中</a:t>
              </a:r>
              <a:endParaRPr b="0" i="0" sz="2400" u="none" cap="none" strike="noStrike">
                <a:solidFill>
                  <a:schemeClr val="dk1"/>
                </a:solidFill>
                <a:latin typeface="Calibri"/>
                <a:ea typeface="Calibri"/>
                <a:cs typeface="Calibri"/>
                <a:sym typeface="Calibri"/>
              </a:endParaRPr>
            </a:p>
          </p:txBody>
        </p:sp>
        <p:sp>
          <p:nvSpPr>
            <p:cNvPr id="692" name="Google Shape;692;p40"/>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pic>
        <p:nvPicPr>
          <p:cNvPr id="697" name="Google Shape;697;p41"/>
          <p:cNvPicPr preferRelativeResize="0"/>
          <p:nvPr/>
        </p:nvPicPr>
        <p:blipFill rotWithShape="1">
          <a:blip r:embed="rId3">
            <a:alphaModFix/>
          </a:blip>
          <a:srcRect b="0" l="0" r="0" t="0"/>
          <a:stretch/>
        </p:blipFill>
        <p:spPr>
          <a:xfrm>
            <a:off x="0" y="214"/>
            <a:ext cx="12192000" cy="6857571"/>
          </a:xfrm>
          <a:prstGeom prst="rect">
            <a:avLst/>
          </a:prstGeom>
          <a:noFill/>
          <a:ln>
            <a:noFill/>
          </a:ln>
        </p:spPr>
      </p:pic>
      <p:sp>
        <p:nvSpPr>
          <p:cNvPr id="698" name="Google Shape;698;p41"/>
          <p:cNvSpPr txBox="1"/>
          <p:nvPr/>
        </p:nvSpPr>
        <p:spPr>
          <a:xfrm>
            <a:off x="4120028" y="839899"/>
            <a:ext cx="3951944"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zh-TW" sz="3200" u="none" cap="none" strike="noStrike">
                <a:solidFill>
                  <a:schemeClr val="lt1"/>
                </a:solidFill>
                <a:latin typeface="Microsoft JhengHei"/>
                <a:ea typeface="Microsoft JhengHei"/>
                <a:cs typeface="Microsoft JhengHei"/>
                <a:sym typeface="Microsoft JhengHei"/>
              </a:rPr>
              <a:t>TAI指標:建模後</a:t>
            </a:r>
            <a:endParaRPr b="0" i="0" sz="1400" u="none" cap="none" strike="noStrike">
              <a:solidFill>
                <a:srgbClr val="000000"/>
              </a:solidFill>
              <a:latin typeface="Arial"/>
              <a:ea typeface="Arial"/>
              <a:cs typeface="Arial"/>
              <a:sym typeface="Arial"/>
            </a:endParaRPr>
          </a:p>
        </p:txBody>
      </p:sp>
      <p:grpSp>
        <p:nvGrpSpPr>
          <p:cNvPr id="699" name="Google Shape;699;p41"/>
          <p:cNvGrpSpPr/>
          <p:nvPr/>
        </p:nvGrpSpPr>
        <p:grpSpPr>
          <a:xfrm>
            <a:off x="2197100" y="2238961"/>
            <a:ext cx="7759702" cy="3671786"/>
            <a:chOff x="2197100" y="2238961"/>
            <a:chExt cx="7759702" cy="3671786"/>
          </a:xfrm>
        </p:grpSpPr>
        <p:sp>
          <p:nvSpPr>
            <p:cNvPr id="700" name="Google Shape;700;p41">
              <a:hlinkClick action="ppaction://hlinksldjump" r:id="rId4"/>
            </p:cNvPr>
            <p:cNvSpPr/>
            <p:nvPr/>
          </p:nvSpPr>
          <p:spPr>
            <a:xfrm>
              <a:off x="2197100" y="2238961"/>
              <a:ext cx="2222500" cy="381000"/>
            </a:xfrm>
            <a:prstGeom prst="roundRect">
              <a:avLst>
                <a:gd fmla="val 16667" name="adj"/>
              </a:avLst>
            </a:prstGeom>
            <a:solidFill>
              <a:srgbClr val="E6E6E6">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1" name="Google Shape;701;p41">
              <a:hlinkClick action="ppaction://hlinksldjump" r:id="rId5"/>
            </p:cNvPr>
            <p:cNvSpPr/>
            <p:nvPr/>
          </p:nvSpPr>
          <p:spPr>
            <a:xfrm>
              <a:off x="4965700" y="2264361"/>
              <a:ext cx="2222500" cy="381000"/>
            </a:xfrm>
            <a:prstGeom prst="roundRect">
              <a:avLst>
                <a:gd fmla="val 16667" name="adj"/>
              </a:avLst>
            </a:prstGeom>
            <a:solidFill>
              <a:srgbClr val="E6E6E6">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2" name="Google Shape;702;p41">
              <a:hlinkClick action="ppaction://hlinksldjump" r:id="rId6"/>
            </p:cNvPr>
            <p:cNvSpPr/>
            <p:nvPr/>
          </p:nvSpPr>
          <p:spPr>
            <a:xfrm>
              <a:off x="7721600" y="2238961"/>
              <a:ext cx="2222500" cy="381000"/>
            </a:xfrm>
            <a:prstGeom prst="roundRect">
              <a:avLst>
                <a:gd fmla="val 16667" name="adj"/>
              </a:avLst>
            </a:prstGeom>
            <a:solidFill>
              <a:srgbClr val="E6E6E6">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3" name="Google Shape;703;p41">
              <a:hlinkClick action="ppaction://hlinksldjump" r:id="rId7"/>
            </p:cNvPr>
            <p:cNvSpPr/>
            <p:nvPr/>
          </p:nvSpPr>
          <p:spPr>
            <a:xfrm>
              <a:off x="2209800" y="3343861"/>
              <a:ext cx="2222500" cy="381000"/>
            </a:xfrm>
            <a:prstGeom prst="roundRect">
              <a:avLst>
                <a:gd fmla="val 16667" name="adj"/>
              </a:avLst>
            </a:prstGeom>
            <a:solidFill>
              <a:srgbClr val="E6E6E6">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4" name="Google Shape;704;p41">
              <a:hlinkClick action="ppaction://hlinksldjump" r:id="rId8"/>
            </p:cNvPr>
            <p:cNvSpPr/>
            <p:nvPr/>
          </p:nvSpPr>
          <p:spPr>
            <a:xfrm>
              <a:off x="4978400" y="3331161"/>
              <a:ext cx="2222500" cy="381000"/>
            </a:xfrm>
            <a:prstGeom prst="roundRect">
              <a:avLst>
                <a:gd fmla="val 16667" name="adj"/>
              </a:avLst>
            </a:prstGeom>
            <a:solidFill>
              <a:srgbClr val="E6E6E6">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5" name="Google Shape;705;p41">
              <a:hlinkClick action="ppaction://hlinksldjump" r:id="rId9"/>
            </p:cNvPr>
            <p:cNvSpPr/>
            <p:nvPr/>
          </p:nvSpPr>
          <p:spPr>
            <a:xfrm>
              <a:off x="7721600" y="3331161"/>
              <a:ext cx="2222500" cy="381000"/>
            </a:xfrm>
            <a:prstGeom prst="roundRect">
              <a:avLst>
                <a:gd fmla="val 16667" name="adj"/>
              </a:avLst>
            </a:prstGeom>
            <a:solidFill>
              <a:srgbClr val="E6E6E6">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6" name="Google Shape;706;p41">
              <a:hlinkClick action="ppaction://hlinksldjump" r:id="rId10"/>
            </p:cNvPr>
            <p:cNvSpPr/>
            <p:nvPr/>
          </p:nvSpPr>
          <p:spPr>
            <a:xfrm>
              <a:off x="2235200" y="4397961"/>
              <a:ext cx="2222500" cy="381000"/>
            </a:xfrm>
            <a:prstGeom prst="roundRect">
              <a:avLst>
                <a:gd fmla="val 16667" name="adj"/>
              </a:avLst>
            </a:prstGeom>
            <a:solidFill>
              <a:srgbClr val="E6E6E6">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7" name="Google Shape;707;p41">
              <a:hlinkClick action="ppaction://hlinksldjump" r:id="rId11"/>
            </p:cNvPr>
            <p:cNvSpPr/>
            <p:nvPr/>
          </p:nvSpPr>
          <p:spPr>
            <a:xfrm>
              <a:off x="5003800" y="4428608"/>
              <a:ext cx="2222500" cy="381000"/>
            </a:xfrm>
            <a:prstGeom prst="roundRect">
              <a:avLst>
                <a:gd fmla="val 16667" name="adj"/>
              </a:avLst>
            </a:prstGeom>
            <a:solidFill>
              <a:srgbClr val="E6E6E6">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8" name="Google Shape;708;p41">
              <a:hlinkClick action="ppaction://hlinksldjump" r:id="rId12"/>
            </p:cNvPr>
            <p:cNvSpPr/>
            <p:nvPr/>
          </p:nvSpPr>
          <p:spPr>
            <a:xfrm>
              <a:off x="7734302" y="4423361"/>
              <a:ext cx="2222500" cy="381000"/>
            </a:xfrm>
            <a:prstGeom prst="roundRect">
              <a:avLst>
                <a:gd fmla="val 16667" name="adj"/>
              </a:avLst>
            </a:prstGeom>
            <a:solidFill>
              <a:srgbClr val="E6E6E6">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09" name="Google Shape;709;p41">
              <a:hlinkClick action="ppaction://hlinksldjump" r:id="rId13"/>
            </p:cNvPr>
            <p:cNvSpPr/>
            <p:nvPr/>
          </p:nvSpPr>
          <p:spPr>
            <a:xfrm>
              <a:off x="2235200" y="5529747"/>
              <a:ext cx="2222500" cy="381000"/>
            </a:xfrm>
            <a:prstGeom prst="roundRect">
              <a:avLst>
                <a:gd fmla="val 16667" name="adj"/>
              </a:avLst>
            </a:prstGeom>
            <a:solidFill>
              <a:srgbClr val="E6E6E6">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10" name="Google Shape;710;p41">
              <a:hlinkClick action="ppaction://hlinksldjump" r:id="rId14"/>
            </p:cNvPr>
            <p:cNvSpPr/>
            <p:nvPr/>
          </p:nvSpPr>
          <p:spPr>
            <a:xfrm>
              <a:off x="5003800" y="5529747"/>
              <a:ext cx="2222500" cy="381000"/>
            </a:xfrm>
            <a:prstGeom prst="roundRect">
              <a:avLst>
                <a:gd fmla="val 16667" name="adj"/>
              </a:avLst>
            </a:prstGeom>
            <a:solidFill>
              <a:srgbClr val="E6E6E6">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711" name="Google Shape;711;p41">
            <a:hlinkClick action="ppaction://hlinksldjump" r:id="rId15"/>
          </p:cNvPr>
          <p:cNvPicPr preferRelativeResize="0"/>
          <p:nvPr/>
        </p:nvPicPr>
        <p:blipFill rotWithShape="1">
          <a:blip r:embed="rId16">
            <a:alphaModFix/>
          </a:blip>
          <a:srcRect b="0" l="0" r="0" t="0"/>
          <a:stretch/>
        </p:blipFill>
        <p:spPr>
          <a:xfrm>
            <a:off x="11314519" y="6048961"/>
            <a:ext cx="756832" cy="715314"/>
          </a:xfrm>
          <a:prstGeom prst="rect">
            <a:avLst/>
          </a:prstGeom>
          <a:noFill/>
          <a:ln>
            <a:noFill/>
          </a:ln>
        </p:spPr>
      </p:pic>
      <p:grpSp>
        <p:nvGrpSpPr>
          <p:cNvPr id="712" name="Google Shape;712;p41"/>
          <p:cNvGrpSpPr/>
          <p:nvPr/>
        </p:nvGrpSpPr>
        <p:grpSpPr>
          <a:xfrm>
            <a:off x="2108719" y="1942684"/>
            <a:ext cx="8164285" cy="4483137"/>
            <a:chOff x="2108719" y="1942684"/>
            <a:chExt cx="8164285" cy="4483137"/>
          </a:xfrm>
        </p:grpSpPr>
        <p:pic>
          <p:nvPicPr>
            <p:cNvPr id="713" name="Google Shape;713;p41">
              <a:hlinkClick action="ppaction://hlinksldjump" r:id="rId17"/>
            </p:cNvPr>
            <p:cNvPicPr preferRelativeResize="0"/>
            <p:nvPr/>
          </p:nvPicPr>
          <p:blipFill rotWithShape="1">
            <a:blip r:embed="rId18">
              <a:alphaModFix/>
            </a:blip>
            <a:srcRect b="24729" l="19269" r="12523" t="27283"/>
            <a:stretch/>
          </p:blipFill>
          <p:spPr>
            <a:xfrm>
              <a:off x="4874581" y="1946842"/>
              <a:ext cx="2491274" cy="982971"/>
            </a:xfrm>
            <a:prstGeom prst="rect">
              <a:avLst/>
            </a:prstGeom>
            <a:noFill/>
            <a:ln>
              <a:noFill/>
            </a:ln>
          </p:spPr>
        </p:pic>
        <p:pic>
          <p:nvPicPr>
            <p:cNvPr id="714" name="Google Shape;714;p41">
              <a:hlinkClick action="ppaction://hlinksldjump" r:id="rId19"/>
            </p:cNvPr>
            <p:cNvPicPr preferRelativeResize="0"/>
            <p:nvPr/>
          </p:nvPicPr>
          <p:blipFill rotWithShape="1">
            <a:blip r:embed="rId20">
              <a:alphaModFix/>
            </a:blip>
            <a:srcRect b="26542" l="18318" r="9639" t="25469"/>
            <a:stretch/>
          </p:blipFill>
          <p:spPr>
            <a:xfrm>
              <a:off x="7641771" y="1942684"/>
              <a:ext cx="2631233" cy="982972"/>
            </a:xfrm>
            <a:prstGeom prst="rect">
              <a:avLst/>
            </a:prstGeom>
            <a:noFill/>
            <a:ln>
              <a:noFill/>
            </a:ln>
          </p:spPr>
        </p:pic>
        <p:pic>
          <p:nvPicPr>
            <p:cNvPr id="715" name="Google Shape;715;p41">
              <a:hlinkClick action="ppaction://hlinksldjump" r:id="rId21"/>
            </p:cNvPr>
            <p:cNvPicPr preferRelativeResize="0"/>
            <p:nvPr/>
          </p:nvPicPr>
          <p:blipFill rotWithShape="1">
            <a:blip r:embed="rId22">
              <a:alphaModFix/>
            </a:blip>
            <a:srcRect b="25447" l="17947" r="11071" t="26567"/>
            <a:stretch/>
          </p:blipFill>
          <p:spPr>
            <a:xfrm>
              <a:off x="4851921" y="3065833"/>
              <a:ext cx="2592580" cy="982971"/>
            </a:xfrm>
            <a:prstGeom prst="rect">
              <a:avLst/>
            </a:prstGeom>
            <a:noFill/>
            <a:ln>
              <a:noFill/>
            </a:ln>
          </p:spPr>
        </p:pic>
        <p:pic>
          <p:nvPicPr>
            <p:cNvPr id="716" name="Google Shape;716;p41">
              <a:hlinkClick action="ppaction://hlinksldjump" r:id="rId23"/>
            </p:cNvPr>
            <p:cNvPicPr preferRelativeResize="0"/>
            <p:nvPr/>
          </p:nvPicPr>
          <p:blipFill rotWithShape="1">
            <a:blip r:embed="rId24">
              <a:alphaModFix/>
            </a:blip>
            <a:srcRect b="25909" l="17766" r="11672" t="26102"/>
            <a:stretch/>
          </p:blipFill>
          <p:spPr>
            <a:xfrm>
              <a:off x="7668792" y="3065833"/>
              <a:ext cx="2577190" cy="982971"/>
            </a:xfrm>
            <a:prstGeom prst="rect">
              <a:avLst/>
            </a:prstGeom>
            <a:noFill/>
            <a:ln>
              <a:noFill/>
            </a:ln>
          </p:spPr>
        </p:pic>
        <p:pic>
          <p:nvPicPr>
            <p:cNvPr id="717" name="Google Shape;717;p41">
              <a:hlinkClick action="ppaction://hlinksldjump" r:id="rId25"/>
            </p:cNvPr>
            <p:cNvPicPr preferRelativeResize="0"/>
            <p:nvPr/>
          </p:nvPicPr>
          <p:blipFill rotWithShape="1">
            <a:blip r:embed="rId26">
              <a:alphaModFix/>
            </a:blip>
            <a:srcRect b="22633" l="17346" r="11672" t="24780"/>
            <a:stretch/>
          </p:blipFill>
          <p:spPr>
            <a:xfrm>
              <a:off x="4833259" y="4176809"/>
              <a:ext cx="2592581" cy="1077165"/>
            </a:xfrm>
            <a:prstGeom prst="rect">
              <a:avLst/>
            </a:prstGeom>
            <a:noFill/>
            <a:ln>
              <a:noFill/>
            </a:ln>
          </p:spPr>
        </p:pic>
        <p:pic>
          <p:nvPicPr>
            <p:cNvPr id="718" name="Google Shape;718;p41">
              <a:hlinkClick action="ppaction://hlinksldjump" r:id="rId27"/>
            </p:cNvPr>
            <p:cNvPicPr preferRelativeResize="0"/>
            <p:nvPr/>
          </p:nvPicPr>
          <p:blipFill rotWithShape="1">
            <a:blip r:embed="rId28">
              <a:alphaModFix/>
            </a:blip>
            <a:srcRect b="23361" l="17766" r="11672" t="24054"/>
            <a:stretch/>
          </p:blipFill>
          <p:spPr>
            <a:xfrm>
              <a:off x="7668792" y="4176809"/>
              <a:ext cx="2577190" cy="1077165"/>
            </a:xfrm>
            <a:prstGeom prst="rect">
              <a:avLst/>
            </a:prstGeom>
            <a:noFill/>
            <a:ln>
              <a:noFill/>
            </a:ln>
          </p:spPr>
        </p:pic>
        <p:pic>
          <p:nvPicPr>
            <p:cNvPr id="719" name="Google Shape;719;p41">
              <a:hlinkClick action="ppaction://hlinksldjump" r:id="rId29"/>
            </p:cNvPr>
            <p:cNvPicPr preferRelativeResize="0"/>
            <p:nvPr/>
          </p:nvPicPr>
          <p:blipFill rotWithShape="1">
            <a:blip r:embed="rId30">
              <a:alphaModFix/>
            </a:blip>
            <a:srcRect b="25633" l="17984" r="11761" t="27644"/>
            <a:stretch/>
          </p:blipFill>
          <p:spPr>
            <a:xfrm>
              <a:off x="2108719" y="1972749"/>
              <a:ext cx="2565918" cy="957064"/>
            </a:xfrm>
            <a:prstGeom prst="rect">
              <a:avLst/>
            </a:prstGeom>
            <a:noFill/>
            <a:ln>
              <a:noFill/>
            </a:ln>
          </p:spPr>
        </p:pic>
        <p:pic>
          <p:nvPicPr>
            <p:cNvPr id="720" name="Google Shape;720;p41">
              <a:hlinkClick action="ppaction://hlinksldjump" r:id="rId31"/>
            </p:cNvPr>
            <p:cNvPicPr preferRelativeResize="0"/>
            <p:nvPr/>
          </p:nvPicPr>
          <p:blipFill rotWithShape="1">
            <a:blip r:embed="rId32">
              <a:alphaModFix/>
            </a:blip>
            <a:srcRect b="23209" l="17985" r="13164" t="24206"/>
            <a:stretch/>
          </p:blipFill>
          <p:spPr>
            <a:xfrm>
              <a:off x="2134344" y="3018736"/>
              <a:ext cx="2514668" cy="1077165"/>
            </a:xfrm>
            <a:prstGeom prst="rect">
              <a:avLst/>
            </a:prstGeom>
            <a:noFill/>
            <a:ln>
              <a:noFill/>
            </a:ln>
          </p:spPr>
        </p:pic>
        <p:pic>
          <p:nvPicPr>
            <p:cNvPr id="721" name="Google Shape;721;p41">
              <a:hlinkClick action="ppaction://hlinksldjump" r:id="rId33"/>
            </p:cNvPr>
            <p:cNvPicPr preferRelativeResize="0"/>
            <p:nvPr/>
          </p:nvPicPr>
          <p:blipFill rotWithShape="1">
            <a:blip r:embed="rId34">
              <a:alphaModFix/>
            </a:blip>
            <a:srcRect b="23040" l="18412" r="13380" t="24374"/>
            <a:stretch/>
          </p:blipFill>
          <p:spPr>
            <a:xfrm>
              <a:off x="2146041" y="5348655"/>
              <a:ext cx="2491274" cy="1077166"/>
            </a:xfrm>
            <a:prstGeom prst="rect">
              <a:avLst/>
            </a:prstGeom>
            <a:noFill/>
            <a:ln>
              <a:noFill/>
            </a:ln>
          </p:spPr>
        </p:pic>
        <p:pic>
          <p:nvPicPr>
            <p:cNvPr id="722" name="Google Shape;722;p41">
              <a:hlinkClick action="ppaction://hlinksldjump" r:id="rId35"/>
            </p:cNvPr>
            <p:cNvPicPr preferRelativeResize="0"/>
            <p:nvPr/>
          </p:nvPicPr>
          <p:blipFill rotWithShape="1">
            <a:blip r:embed="rId36">
              <a:alphaModFix/>
            </a:blip>
            <a:srcRect b="24584" l="16800" r="11518" t="24381"/>
            <a:stretch/>
          </p:blipFill>
          <p:spPr>
            <a:xfrm>
              <a:off x="4874581" y="5304740"/>
              <a:ext cx="2551259" cy="1018686"/>
            </a:xfrm>
            <a:prstGeom prst="rect">
              <a:avLst/>
            </a:prstGeom>
            <a:noFill/>
            <a:ln>
              <a:noFill/>
            </a:ln>
          </p:spPr>
        </p:pic>
      </p:grpSp>
      <p:pic>
        <p:nvPicPr>
          <p:cNvPr id="723" name="Google Shape;723;p41">
            <a:hlinkClick action="ppaction://hlinksldjump" r:id="rId37"/>
          </p:cNvPr>
          <p:cNvPicPr preferRelativeResize="0"/>
          <p:nvPr/>
        </p:nvPicPr>
        <p:blipFill rotWithShape="1">
          <a:blip r:embed="rId38">
            <a:alphaModFix/>
          </a:blip>
          <a:srcRect b="24199" l="17229" r="13108" t="23041"/>
          <a:stretch/>
        </p:blipFill>
        <p:spPr>
          <a:xfrm>
            <a:off x="2108719" y="4165925"/>
            <a:ext cx="2491274" cy="1058121"/>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pic>
        <p:nvPicPr>
          <p:cNvPr id="728" name="Google Shape;728;p42"/>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729" name="Google Shape;729;p42"/>
          <p:cNvGrpSpPr/>
          <p:nvPr/>
        </p:nvGrpSpPr>
        <p:grpSpPr>
          <a:xfrm>
            <a:off x="4037219" y="2503791"/>
            <a:ext cx="6348206" cy="2257413"/>
            <a:chOff x="3927131" y="2529191"/>
            <a:chExt cx="6348206" cy="2257413"/>
          </a:xfrm>
        </p:grpSpPr>
        <p:sp>
          <p:nvSpPr>
            <p:cNvPr id="730" name="Google Shape;730;p42"/>
            <p:cNvSpPr txBox="1"/>
            <p:nvPr/>
          </p:nvSpPr>
          <p:spPr>
            <a:xfrm>
              <a:off x="3927131" y="2529191"/>
              <a:ext cx="6097554" cy="225741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模型準確性監控:</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是否持續監控及記錄AI模型準確性？</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模型準確性維持:</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是否持續維持模型準確性？</a:t>
              </a:r>
              <a:endParaRPr b="1" i="0" sz="1800" u="none" cap="none" strike="noStrike">
                <a:solidFill>
                  <a:schemeClr val="dk1"/>
                </a:solidFill>
                <a:latin typeface="Microsoft JhengHei"/>
                <a:ea typeface="Microsoft JhengHei"/>
                <a:cs typeface="Microsoft JhengHei"/>
                <a:sym typeface="Microsoft JhengHei"/>
              </a:endParaRPr>
            </a:p>
          </p:txBody>
        </p:sp>
        <p:cxnSp>
          <p:nvCxnSpPr>
            <p:cNvPr id="731" name="Google Shape;731;p42"/>
            <p:cNvCxnSpPr/>
            <p:nvPr/>
          </p:nvCxnSpPr>
          <p:spPr>
            <a:xfrm>
              <a:off x="4068147" y="3712027"/>
              <a:ext cx="62071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732" name="Google Shape;732;p42"/>
          <p:cNvGrpSpPr/>
          <p:nvPr/>
        </p:nvGrpSpPr>
        <p:grpSpPr>
          <a:xfrm>
            <a:off x="1533494" y="2814301"/>
            <a:ext cx="2674353" cy="1347631"/>
            <a:chOff x="1469994" y="3081001"/>
            <a:chExt cx="2674353" cy="1347631"/>
          </a:xfrm>
        </p:grpSpPr>
        <p:sp>
          <p:nvSpPr>
            <p:cNvPr id="733" name="Google Shape;733;p42"/>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準確性</a:t>
              </a:r>
              <a:endParaRPr b="0" i="0" sz="1400" u="none" cap="none" strike="noStrike">
                <a:solidFill>
                  <a:srgbClr val="000000"/>
                </a:solidFill>
                <a:latin typeface="Arial"/>
                <a:ea typeface="Arial"/>
                <a:cs typeface="Arial"/>
                <a:sym typeface="Arial"/>
              </a:endParaRPr>
            </a:p>
          </p:txBody>
        </p:sp>
        <p:sp>
          <p:nvSpPr>
            <p:cNvPr id="734" name="Google Shape;734;p42"/>
            <p:cNvSpPr txBox="1"/>
            <p:nvPr/>
          </p:nvSpPr>
          <p:spPr>
            <a:xfrm>
              <a:off x="1469994" y="3081001"/>
              <a:ext cx="2357887"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A4714B"/>
                  </a:solidFill>
                  <a:latin typeface="Arial"/>
                  <a:ea typeface="Arial"/>
                  <a:cs typeface="Arial"/>
                  <a:sym typeface="Arial"/>
                </a:rPr>
                <a:t>A</a:t>
              </a:r>
              <a:r>
                <a:rPr b="0" i="0" lang="zh-TW" sz="2800" u="sng" cap="none" strike="noStrike">
                  <a:solidFill>
                    <a:srgbClr val="000000"/>
                  </a:solidFill>
                  <a:latin typeface="Arial"/>
                  <a:ea typeface="Arial"/>
                  <a:cs typeface="Arial"/>
                  <a:sym typeface="Arial"/>
                </a:rPr>
                <a:t>ccuracy</a:t>
              </a:r>
              <a:endParaRPr b="0" i="0" sz="2800" u="sng" cap="none" strike="noStrike">
                <a:solidFill>
                  <a:schemeClr val="dk1"/>
                </a:solidFill>
                <a:latin typeface="Arial"/>
                <a:ea typeface="Arial"/>
                <a:cs typeface="Arial"/>
                <a:sym typeface="Arial"/>
              </a:endParaRPr>
            </a:p>
          </p:txBody>
        </p:sp>
      </p:grpSp>
      <p:pic>
        <p:nvPicPr>
          <p:cNvPr id="735" name="Google Shape;735;p42">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736" name="Google Shape;736;p42"/>
          <p:cNvGrpSpPr/>
          <p:nvPr/>
        </p:nvGrpSpPr>
        <p:grpSpPr>
          <a:xfrm>
            <a:off x="2022149" y="681133"/>
            <a:ext cx="1453063" cy="737119"/>
            <a:chOff x="2080727" y="858416"/>
            <a:chExt cx="1453063" cy="737119"/>
          </a:xfrm>
        </p:grpSpPr>
        <p:sp>
          <p:nvSpPr>
            <p:cNvPr id="737" name="Google Shape;737;p42"/>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建模後</a:t>
              </a:r>
              <a:endParaRPr b="0" i="0" sz="2400" u="none" cap="none" strike="noStrike">
                <a:solidFill>
                  <a:schemeClr val="dk1"/>
                </a:solidFill>
                <a:latin typeface="Calibri"/>
                <a:ea typeface="Calibri"/>
                <a:cs typeface="Calibri"/>
                <a:sym typeface="Calibri"/>
              </a:endParaRPr>
            </a:p>
          </p:txBody>
        </p:sp>
        <p:sp>
          <p:nvSpPr>
            <p:cNvPr id="738" name="Google Shape;738;p42"/>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pic>
        <p:nvPicPr>
          <p:cNvPr id="743" name="Google Shape;743;p43"/>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744" name="Google Shape;744;p43"/>
          <p:cNvGrpSpPr/>
          <p:nvPr/>
        </p:nvGrpSpPr>
        <p:grpSpPr>
          <a:xfrm>
            <a:off x="4131400" y="1566201"/>
            <a:ext cx="6308790" cy="4011739"/>
            <a:chOff x="4069183" y="1898837"/>
            <a:chExt cx="6308790" cy="4011739"/>
          </a:xfrm>
        </p:grpSpPr>
        <p:sp>
          <p:nvSpPr>
            <p:cNvPr id="745" name="Google Shape;745;p43"/>
            <p:cNvSpPr txBox="1"/>
            <p:nvPr/>
          </p:nvSpPr>
          <p:spPr>
            <a:xfrm>
              <a:off x="4069183" y="1898837"/>
              <a:ext cx="6097554" cy="4011739"/>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干擾因素監控: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just">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是否持續監控與紀錄非預期的干擾因素？</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5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just">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可靠性評估: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just">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是否持續評估AI模型面對微小干擾的表現穩定性？</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5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just">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可靠性提升: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just">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當AI模型因微小的干擾而表現不夠穩定，是否持續矯正AI模型以提升其可靠性？</a:t>
              </a:r>
              <a:endParaRPr b="1" i="0" sz="1800" u="none" cap="none" strike="noStrike">
                <a:solidFill>
                  <a:schemeClr val="dk1"/>
                </a:solidFill>
                <a:latin typeface="Microsoft JhengHei"/>
                <a:ea typeface="Microsoft JhengHei"/>
                <a:cs typeface="Microsoft JhengHei"/>
                <a:sym typeface="Microsoft JhengHei"/>
              </a:endParaRPr>
            </a:p>
          </p:txBody>
        </p:sp>
        <p:cxnSp>
          <p:nvCxnSpPr>
            <p:cNvPr id="746" name="Google Shape;746;p43"/>
            <p:cNvCxnSpPr/>
            <p:nvPr/>
          </p:nvCxnSpPr>
          <p:spPr>
            <a:xfrm>
              <a:off x="4170783" y="3068214"/>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747" name="Google Shape;747;p43"/>
            <p:cNvCxnSpPr/>
            <p:nvPr/>
          </p:nvCxnSpPr>
          <p:spPr>
            <a:xfrm>
              <a:off x="4170783" y="4340287"/>
              <a:ext cx="62071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748" name="Google Shape;748;p43"/>
          <p:cNvGrpSpPr/>
          <p:nvPr/>
        </p:nvGrpSpPr>
        <p:grpSpPr>
          <a:xfrm>
            <a:off x="1558647" y="2755184"/>
            <a:ext cx="2674353" cy="1347631"/>
            <a:chOff x="1469994" y="3081001"/>
            <a:chExt cx="2674353" cy="1347631"/>
          </a:xfrm>
        </p:grpSpPr>
        <p:sp>
          <p:nvSpPr>
            <p:cNvPr id="749" name="Google Shape;749;p43"/>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可靠性</a:t>
              </a:r>
              <a:endParaRPr b="0" i="0" sz="1400" u="none" cap="none" strike="noStrike">
                <a:solidFill>
                  <a:srgbClr val="000000"/>
                </a:solidFill>
                <a:latin typeface="Arial"/>
                <a:ea typeface="Arial"/>
                <a:cs typeface="Arial"/>
                <a:sym typeface="Arial"/>
              </a:endParaRPr>
            </a:p>
          </p:txBody>
        </p:sp>
        <p:sp>
          <p:nvSpPr>
            <p:cNvPr id="750" name="Google Shape;750;p43"/>
            <p:cNvSpPr txBox="1"/>
            <p:nvPr/>
          </p:nvSpPr>
          <p:spPr>
            <a:xfrm>
              <a:off x="1469995" y="3081001"/>
              <a:ext cx="2490538"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AA8862"/>
                  </a:solidFill>
                  <a:latin typeface="Arial"/>
                  <a:ea typeface="Arial"/>
                  <a:cs typeface="Arial"/>
                  <a:sym typeface="Arial"/>
                </a:rPr>
                <a:t>R</a:t>
              </a:r>
              <a:r>
                <a:rPr b="0" i="0" lang="zh-TW" sz="2800" u="sng" cap="none" strike="noStrike">
                  <a:solidFill>
                    <a:srgbClr val="000000"/>
                  </a:solidFill>
                  <a:latin typeface="Arial"/>
                  <a:ea typeface="Arial"/>
                  <a:cs typeface="Arial"/>
                  <a:sym typeface="Arial"/>
                </a:rPr>
                <a:t>eliability</a:t>
              </a:r>
              <a:endParaRPr b="0" i="0" sz="2800" u="sng" cap="none" strike="noStrike">
                <a:solidFill>
                  <a:schemeClr val="dk1"/>
                </a:solidFill>
                <a:latin typeface="Arial"/>
                <a:ea typeface="Arial"/>
                <a:cs typeface="Arial"/>
                <a:sym typeface="Arial"/>
              </a:endParaRPr>
            </a:p>
          </p:txBody>
        </p:sp>
      </p:grpSp>
      <p:pic>
        <p:nvPicPr>
          <p:cNvPr id="751" name="Google Shape;751;p43">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752" name="Google Shape;752;p43"/>
          <p:cNvGrpSpPr/>
          <p:nvPr/>
        </p:nvGrpSpPr>
        <p:grpSpPr>
          <a:xfrm>
            <a:off x="2022149" y="681133"/>
            <a:ext cx="1453063" cy="737119"/>
            <a:chOff x="2080727" y="858416"/>
            <a:chExt cx="1453063" cy="737119"/>
          </a:xfrm>
        </p:grpSpPr>
        <p:sp>
          <p:nvSpPr>
            <p:cNvPr id="753" name="Google Shape;753;p43"/>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建模後</a:t>
              </a:r>
              <a:endParaRPr b="0" i="0" sz="2400" u="none" cap="none" strike="noStrike">
                <a:solidFill>
                  <a:schemeClr val="dk1"/>
                </a:solidFill>
                <a:latin typeface="Calibri"/>
                <a:ea typeface="Calibri"/>
                <a:cs typeface="Calibri"/>
                <a:sym typeface="Calibri"/>
              </a:endParaRPr>
            </a:p>
          </p:txBody>
        </p:sp>
        <p:sp>
          <p:nvSpPr>
            <p:cNvPr id="754" name="Google Shape;754;p43"/>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pic>
        <p:nvPicPr>
          <p:cNvPr id="759" name="Google Shape;759;p44"/>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760" name="Google Shape;760;p44"/>
          <p:cNvGrpSpPr/>
          <p:nvPr/>
        </p:nvGrpSpPr>
        <p:grpSpPr>
          <a:xfrm>
            <a:off x="4028374" y="1677046"/>
            <a:ext cx="6326789" cy="3503908"/>
            <a:chOff x="3926774" y="1773984"/>
            <a:chExt cx="6326789" cy="3503908"/>
          </a:xfrm>
        </p:grpSpPr>
        <p:sp>
          <p:nvSpPr>
            <p:cNvPr id="761" name="Google Shape;761;p44"/>
            <p:cNvSpPr txBox="1"/>
            <p:nvPr/>
          </p:nvSpPr>
          <p:spPr>
            <a:xfrm>
              <a:off x="3926774" y="1773984"/>
              <a:ext cx="6097554" cy="3503908"/>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持續運作監控機制:</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安全性的監控機制是否持續運作？</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建立通報機制:</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若使用者發現AI模型產生負面影響，是否有通報管道？</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建立矯正機制:</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若AI模型產生負面影響，是否有矯正機制？</a:t>
              </a:r>
              <a:endParaRPr b="1" i="0" sz="1600" u="none" cap="none" strike="noStrike">
                <a:solidFill>
                  <a:schemeClr val="dk1"/>
                </a:solidFill>
                <a:latin typeface="Microsoft JhengHei"/>
                <a:ea typeface="Microsoft JhengHei"/>
                <a:cs typeface="Microsoft JhengHei"/>
                <a:sym typeface="Microsoft JhengHei"/>
              </a:endParaRPr>
            </a:p>
          </p:txBody>
        </p:sp>
        <p:cxnSp>
          <p:nvCxnSpPr>
            <p:cNvPr id="762" name="Google Shape;762;p44"/>
            <p:cNvCxnSpPr/>
            <p:nvPr/>
          </p:nvCxnSpPr>
          <p:spPr>
            <a:xfrm>
              <a:off x="4046373" y="2848322"/>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763" name="Google Shape;763;p44"/>
            <p:cNvCxnSpPr/>
            <p:nvPr/>
          </p:nvCxnSpPr>
          <p:spPr>
            <a:xfrm>
              <a:off x="4046373" y="4230784"/>
              <a:ext cx="62071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764" name="Google Shape;764;p44"/>
          <p:cNvGrpSpPr/>
          <p:nvPr/>
        </p:nvGrpSpPr>
        <p:grpSpPr>
          <a:xfrm>
            <a:off x="1533494" y="2829945"/>
            <a:ext cx="2674353" cy="1357387"/>
            <a:chOff x="1469994" y="3071245"/>
            <a:chExt cx="2674353" cy="1357387"/>
          </a:xfrm>
        </p:grpSpPr>
        <p:sp>
          <p:nvSpPr>
            <p:cNvPr id="765" name="Google Shape;765;p44"/>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安全性</a:t>
              </a:r>
              <a:endParaRPr b="0" i="0" sz="1400" u="none" cap="none" strike="noStrike">
                <a:solidFill>
                  <a:srgbClr val="000000"/>
                </a:solidFill>
                <a:latin typeface="Arial"/>
                <a:ea typeface="Arial"/>
                <a:cs typeface="Arial"/>
                <a:sym typeface="Arial"/>
              </a:endParaRPr>
            </a:p>
          </p:txBody>
        </p:sp>
        <p:sp>
          <p:nvSpPr>
            <p:cNvPr id="766" name="Google Shape;766;p44"/>
            <p:cNvSpPr txBox="1"/>
            <p:nvPr/>
          </p:nvSpPr>
          <p:spPr>
            <a:xfrm>
              <a:off x="1699986" y="3071245"/>
              <a:ext cx="2034551"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944C41"/>
                  </a:solidFill>
                  <a:latin typeface="Arial"/>
                  <a:ea typeface="Arial"/>
                  <a:cs typeface="Arial"/>
                  <a:sym typeface="Arial"/>
                </a:rPr>
                <a:t>S</a:t>
              </a:r>
              <a:r>
                <a:rPr b="0" i="0" lang="zh-TW" sz="2800" u="sng" cap="none" strike="noStrike">
                  <a:solidFill>
                    <a:srgbClr val="000000"/>
                  </a:solidFill>
                  <a:latin typeface="Arial"/>
                  <a:ea typeface="Arial"/>
                  <a:cs typeface="Arial"/>
                  <a:sym typeface="Arial"/>
                </a:rPr>
                <a:t>afety</a:t>
              </a:r>
              <a:endParaRPr b="0" i="0" sz="2800" u="sng" cap="none" strike="noStrike">
                <a:solidFill>
                  <a:schemeClr val="dk1"/>
                </a:solidFill>
                <a:latin typeface="Arial"/>
                <a:ea typeface="Arial"/>
                <a:cs typeface="Arial"/>
                <a:sym typeface="Arial"/>
              </a:endParaRPr>
            </a:p>
          </p:txBody>
        </p:sp>
      </p:grpSp>
      <p:pic>
        <p:nvPicPr>
          <p:cNvPr id="767" name="Google Shape;767;p44">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768" name="Google Shape;768;p44"/>
          <p:cNvGrpSpPr/>
          <p:nvPr/>
        </p:nvGrpSpPr>
        <p:grpSpPr>
          <a:xfrm>
            <a:off x="2022149" y="681133"/>
            <a:ext cx="1453063" cy="737119"/>
            <a:chOff x="2080727" y="858416"/>
            <a:chExt cx="1453063" cy="737119"/>
          </a:xfrm>
        </p:grpSpPr>
        <p:sp>
          <p:nvSpPr>
            <p:cNvPr id="769" name="Google Shape;769;p44"/>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建模後</a:t>
              </a:r>
              <a:endParaRPr b="0" i="0" sz="2400" u="none" cap="none" strike="noStrike">
                <a:solidFill>
                  <a:schemeClr val="dk1"/>
                </a:solidFill>
                <a:latin typeface="Calibri"/>
                <a:ea typeface="Calibri"/>
                <a:cs typeface="Calibri"/>
                <a:sym typeface="Calibri"/>
              </a:endParaRPr>
            </a:p>
          </p:txBody>
        </p:sp>
        <p:sp>
          <p:nvSpPr>
            <p:cNvPr id="770" name="Google Shape;770;p44"/>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pic>
        <p:nvPicPr>
          <p:cNvPr id="775" name="Google Shape;775;p45"/>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776" name="Google Shape;776;p45"/>
          <p:cNvGrpSpPr/>
          <p:nvPr/>
        </p:nvGrpSpPr>
        <p:grpSpPr>
          <a:xfrm>
            <a:off x="4084388" y="1608769"/>
            <a:ext cx="6431547" cy="3827073"/>
            <a:chOff x="3927130" y="1810771"/>
            <a:chExt cx="6431547" cy="3827073"/>
          </a:xfrm>
        </p:grpSpPr>
        <p:sp>
          <p:nvSpPr>
            <p:cNvPr id="777" name="Google Shape;777;p45"/>
            <p:cNvSpPr txBox="1"/>
            <p:nvPr/>
          </p:nvSpPr>
          <p:spPr>
            <a:xfrm>
              <a:off x="3927130" y="1810771"/>
              <a:ext cx="6431547" cy="3827073"/>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多元應用性: </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2E75B5"/>
                </a:buClr>
                <a:buSzPts val="1800"/>
                <a:buFont typeface="Calibri"/>
                <a:buAutoNum type="arabicPeriod"/>
              </a:pPr>
              <a:r>
                <a:rPr b="1" i="0" lang="zh-TW" sz="1800" u="none" cap="none" strike="noStrike">
                  <a:solidFill>
                    <a:srgbClr val="2E75B5"/>
                  </a:solidFill>
                  <a:latin typeface="Microsoft JhengHei"/>
                  <a:ea typeface="Microsoft JhengHei"/>
                  <a:cs typeface="Microsoft JhengHei"/>
                  <a:sym typeface="Microsoft JhengHei"/>
                </a:rPr>
                <a:t>模型韌性監控:</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是否持續監控AI模型在新環境、需求或條件下的靈活調整或擴展性？</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50000"/>
                </a:lnSpc>
                <a:spcBef>
                  <a:spcPts val="0"/>
                </a:spcBef>
                <a:spcAft>
                  <a:spcPts val="0"/>
                </a:spcAft>
                <a:buClr>
                  <a:srgbClr val="000000"/>
                </a:buClr>
                <a:buSzPts val="1800"/>
                <a:buFont typeface="Arial"/>
                <a:buNone/>
              </a:pPr>
              <a:r>
                <a:rPr b="0" i="0" lang="zh-TW" sz="1800" u="none" cap="none" strike="noStrike">
                  <a:solidFill>
                    <a:srgbClr val="713613"/>
                  </a:solidFill>
                  <a:latin typeface="Microsoft JhengHei"/>
                  <a:ea typeface="Microsoft JhengHei"/>
                  <a:cs typeface="Microsoft JhengHei"/>
                  <a:sym typeface="Microsoft JhengHei"/>
                </a:rPr>
                <a:t>（例如:量測新汙染物、遭遇新的地形、面對新的條件時的表現）</a:t>
              </a:r>
              <a:endParaRPr b="0" i="0" sz="1800" u="none" cap="none" strike="noStrike">
                <a:solidFill>
                  <a:srgbClr val="713613"/>
                </a:solidFill>
                <a:latin typeface="Microsoft JhengHei"/>
                <a:ea typeface="Microsoft JhengHei"/>
                <a:cs typeface="Microsoft JhengHei"/>
                <a:sym typeface="Microsoft JhengHei"/>
              </a:endParaRPr>
            </a:p>
            <a:p>
              <a:pPr indent="0" lvl="0" marL="0" marR="0" rtl="0" algn="just">
                <a:lnSpc>
                  <a:spcPct val="150000"/>
                </a:lnSpc>
                <a:spcBef>
                  <a:spcPts val="0"/>
                </a:spcBef>
                <a:spcAft>
                  <a:spcPts val="0"/>
                </a:spcAft>
                <a:buClr>
                  <a:srgbClr val="000000"/>
                </a:buClr>
                <a:buSzPts val="1800"/>
                <a:buFont typeface="Arial"/>
                <a:buNone/>
              </a:pPr>
              <a:r>
                <a:t/>
              </a:r>
              <a:endParaRPr b="1" i="0" sz="1800" u="none" cap="none" strike="noStrike">
                <a:solidFill>
                  <a:srgbClr val="2E75B5"/>
                </a:solidFill>
                <a:latin typeface="Microsoft JhengHei"/>
                <a:ea typeface="Microsoft JhengHei"/>
                <a:cs typeface="Microsoft JhengHei"/>
                <a:sym typeface="Microsoft JhengHei"/>
              </a:endParaRPr>
            </a:p>
            <a:p>
              <a:pPr indent="-342900" lvl="0" marL="342900" marR="0" rtl="0" algn="just">
                <a:lnSpc>
                  <a:spcPct val="150000"/>
                </a:lnSpc>
                <a:spcBef>
                  <a:spcPts val="0"/>
                </a:spcBef>
                <a:spcAft>
                  <a:spcPts val="0"/>
                </a:spcAft>
                <a:buClr>
                  <a:srgbClr val="2E75B5"/>
                </a:buClr>
                <a:buSzPts val="1800"/>
                <a:buFont typeface="Calibri"/>
                <a:buAutoNum type="arabicPeriod" startAt="2"/>
              </a:pPr>
              <a:r>
                <a:rPr b="1" i="0" lang="zh-TW" sz="1800" u="none" cap="none" strike="noStrike">
                  <a:solidFill>
                    <a:srgbClr val="2E75B5"/>
                  </a:solidFill>
                  <a:latin typeface="Microsoft JhengHei"/>
                  <a:ea typeface="Microsoft JhengHei"/>
                  <a:cs typeface="Microsoft JhengHei"/>
                  <a:sym typeface="Microsoft JhengHei"/>
                </a:rPr>
                <a:t>模型韌性矯正: </a:t>
              </a:r>
              <a:endParaRPr b="0" i="0" sz="1400" u="none" cap="none" strike="noStrike">
                <a:solidFill>
                  <a:srgbClr val="000000"/>
                </a:solidFill>
                <a:latin typeface="Arial"/>
                <a:ea typeface="Arial"/>
                <a:cs typeface="Arial"/>
                <a:sym typeface="Arial"/>
              </a:endParaRPr>
            </a:p>
            <a:p>
              <a:pPr indent="0" lvl="0" marL="0" marR="0" rtl="0" algn="just">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若AI模型在新環境、需求或條件之下的靈活調整或擴展性不佳，是否設立機制予以矯正？</a:t>
              </a:r>
              <a:endParaRPr b="1" i="0" sz="1800" u="none" cap="none" strike="noStrike">
                <a:solidFill>
                  <a:schemeClr val="dk1"/>
                </a:solidFill>
                <a:latin typeface="Microsoft JhengHei"/>
                <a:ea typeface="Microsoft JhengHei"/>
                <a:cs typeface="Microsoft JhengHei"/>
                <a:sym typeface="Microsoft JhengHei"/>
              </a:endParaRPr>
            </a:p>
          </p:txBody>
        </p:sp>
        <p:cxnSp>
          <p:nvCxnSpPr>
            <p:cNvPr id="778" name="Google Shape;778;p45"/>
            <p:cNvCxnSpPr/>
            <p:nvPr/>
          </p:nvCxnSpPr>
          <p:spPr>
            <a:xfrm>
              <a:off x="3993501" y="4079030"/>
              <a:ext cx="62071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779" name="Google Shape;779;p45"/>
          <p:cNvGrpSpPr/>
          <p:nvPr/>
        </p:nvGrpSpPr>
        <p:grpSpPr>
          <a:xfrm>
            <a:off x="1463041" y="2826213"/>
            <a:ext cx="2805162" cy="1347631"/>
            <a:chOff x="1339185" y="3081001"/>
            <a:chExt cx="2805162" cy="1347631"/>
          </a:xfrm>
        </p:grpSpPr>
        <p:sp>
          <p:nvSpPr>
            <p:cNvPr id="780" name="Google Shape;780;p45"/>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韌性</a:t>
              </a:r>
              <a:endParaRPr b="0" i="0" sz="1400" u="none" cap="none" strike="noStrike">
                <a:solidFill>
                  <a:srgbClr val="000000"/>
                </a:solidFill>
                <a:latin typeface="Arial"/>
                <a:ea typeface="Arial"/>
                <a:cs typeface="Arial"/>
                <a:sym typeface="Arial"/>
              </a:endParaRPr>
            </a:p>
          </p:txBody>
        </p:sp>
        <p:sp>
          <p:nvSpPr>
            <p:cNvPr id="781" name="Google Shape;781;p45"/>
            <p:cNvSpPr txBox="1"/>
            <p:nvPr/>
          </p:nvSpPr>
          <p:spPr>
            <a:xfrm>
              <a:off x="1339185" y="3081001"/>
              <a:ext cx="2621348"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952A2A"/>
                  </a:solidFill>
                  <a:latin typeface="Arial"/>
                  <a:ea typeface="Arial"/>
                  <a:cs typeface="Arial"/>
                  <a:sym typeface="Arial"/>
                </a:rPr>
                <a:t>R</a:t>
              </a:r>
              <a:r>
                <a:rPr b="0" i="0" lang="zh-TW" sz="2800" u="sng" cap="none" strike="noStrike">
                  <a:solidFill>
                    <a:srgbClr val="000000"/>
                  </a:solidFill>
                  <a:latin typeface="Arial"/>
                  <a:ea typeface="Arial"/>
                  <a:cs typeface="Arial"/>
                  <a:sym typeface="Arial"/>
                </a:rPr>
                <a:t>esilience</a:t>
              </a:r>
              <a:endParaRPr b="0" i="0" sz="2800" u="sng" cap="none" strike="noStrike">
                <a:solidFill>
                  <a:schemeClr val="dk1"/>
                </a:solidFill>
                <a:latin typeface="Arial"/>
                <a:ea typeface="Arial"/>
                <a:cs typeface="Arial"/>
                <a:sym typeface="Arial"/>
              </a:endParaRPr>
            </a:p>
          </p:txBody>
        </p:sp>
      </p:grpSp>
      <p:pic>
        <p:nvPicPr>
          <p:cNvPr id="782" name="Google Shape;782;p45">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783" name="Google Shape;783;p45"/>
          <p:cNvGrpSpPr/>
          <p:nvPr/>
        </p:nvGrpSpPr>
        <p:grpSpPr>
          <a:xfrm>
            <a:off x="2022149" y="681133"/>
            <a:ext cx="1453063" cy="737119"/>
            <a:chOff x="2080727" y="858416"/>
            <a:chExt cx="1453063" cy="737119"/>
          </a:xfrm>
        </p:grpSpPr>
        <p:sp>
          <p:nvSpPr>
            <p:cNvPr id="784" name="Google Shape;784;p45"/>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建模後</a:t>
              </a:r>
              <a:endParaRPr b="0" i="0" sz="2400" u="none" cap="none" strike="noStrike">
                <a:solidFill>
                  <a:schemeClr val="dk1"/>
                </a:solidFill>
                <a:latin typeface="Calibri"/>
                <a:ea typeface="Calibri"/>
                <a:cs typeface="Calibri"/>
                <a:sym typeface="Calibri"/>
              </a:endParaRPr>
            </a:p>
          </p:txBody>
        </p:sp>
        <p:sp>
          <p:nvSpPr>
            <p:cNvPr id="785" name="Google Shape;785;p45"/>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pic>
        <p:nvPicPr>
          <p:cNvPr id="790" name="Google Shape;790;p46"/>
          <p:cNvPicPr preferRelativeResize="0"/>
          <p:nvPr/>
        </p:nvPicPr>
        <p:blipFill rotWithShape="1">
          <a:blip r:embed="rId3">
            <a:alphaModFix/>
          </a:blip>
          <a:srcRect b="0" l="0" r="0" t="0"/>
          <a:stretch/>
        </p:blipFill>
        <p:spPr>
          <a:xfrm>
            <a:off x="-717550" y="-403622"/>
            <a:ext cx="13627100" cy="7665244"/>
          </a:xfrm>
          <a:prstGeom prst="rect">
            <a:avLst/>
          </a:prstGeom>
          <a:noFill/>
          <a:ln>
            <a:noFill/>
          </a:ln>
        </p:spPr>
      </p:pic>
      <p:sp>
        <p:nvSpPr>
          <p:cNvPr id="791" name="Google Shape;791;p46"/>
          <p:cNvSpPr txBox="1"/>
          <p:nvPr/>
        </p:nvSpPr>
        <p:spPr>
          <a:xfrm>
            <a:off x="4561933" y="2063880"/>
            <a:ext cx="6097554" cy="308841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確認日誌紀錄:</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是否已透過日誌紀錄，將AI模型訓練所使用之資料、演算法或規則？</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資料透明化:</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是否建立溝通機制，以充分告知使用者有關AI模型訓練過程所使用的資料、演算法、或規則？</a:t>
            </a:r>
            <a:endParaRPr b="1" i="0" sz="1800" u="none" cap="none" strike="noStrike">
              <a:solidFill>
                <a:schemeClr val="dk1"/>
              </a:solidFill>
              <a:latin typeface="Microsoft JhengHei"/>
              <a:ea typeface="Microsoft JhengHei"/>
              <a:cs typeface="Microsoft JhengHei"/>
              <a:sym typeface="Microsoft JhengHei"/>
            </a:endParaRPr>
          </a:p>
        </p:txBody>
      </p:sp>
      <p:grpSp>
        <p:nvGrpSpPr>
          <p:cNvPr id="792" name="Google Shape;792;p46"/>
          <p:cNvGrpSpPr/>
          <p:nvPr/>
        </p:nvGrpSpPr>
        <p:grpSpPr>
          <a:xfrm>
            <a:off x="844240" y="2729887"/>
            <a:ext cx="3965606" cy="1322026"/>
            <a:chOff x="933140" y="3106606"/>
            <a:chExt cx="3965606" cy="1322026"/>
          </a:xfrm>
        </p:grpSpPr>
        <p:sp>
          <p:nvSpPr>
            <p:cNvPr id="793" name="Google Shape;793;p46"/>
            <p:cNvSpPr txBox="1"/>
            <p:nvPr/>
          </p:nvSpPr>
          <p:spPr>
            <a:xfrm>
              <a:off x="1578767"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透明性</a:t>
              </a:r>
              <a:endParaRPr b="1" i="0" sz="2000" u="none" cap="none" strike="noStrike">
                <a:solidFill>
                  <a:schemeClr val="dk1"/>
                </a:solidFill>
                <a:latin typeface="Microsoft JhengHei"/>
                <a:ea typeface="Microsoft JhengHei"/>
                <a:cs typeface="Microsoft JhengHei"/>
                <a:sym typeface="Microsoft JhengHei"/>
              </a:endParaRPr>
            </a:p>
          </p:txBody>
        </p:sp>
        <p:sp>
          <p:nvSpPr>
            <p:cNvPr id="794" name="Google Shape;794;p46"/>
            <p:cNvSpPr txBox="1"/>
            <p:nvPr/>
          </p:nvSpPr>
          <p:spPr>
            <a:xfrm>
              <a:off x="933140" y="3106606"/>
              <a:ext cx="3965606"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713613"/>
                  </a:solidFill>
                  <a:latin typeface="Arial"/>
                  <a:ea typeface="Arial"/>
                  <a:cs typeface="Arial"/>
                  <a:sym typeface="Arial"/>
                </a:rPr>
                <a:t>T</a:t>
              </a:r>
              <a:r>
                <a:rPr b="0" i="0" lang="zh-TW" sz="2800" u="sng" cap="none" strike="noStrike">
                  <a:solidFill>
                    <a:srgbClr val="000000"/>
                  </a:solidFill>
                  <a:latin typeface="Arial"/>
                  <a:ea typeface="Arial"/>
                  <a:cs typeface="Arial"/>
                  <a:sym typeface="Arial"/>
                </a:rPr>
                <a:t>ransparency</a:t>
              </a:r>
              <a:endParaRPr b="0" i="0" sz="2800" u="sng" cap="none" strike="noStrike">
                <a:solidFill>
                  <a:schemeClr val="dk1"/>
                </a:solidFill>
                <a:latin typeface="Arial"/>
                <a:ea typeface="Arial"/>
                <a:cs typeface="Arial"/>
                <a:sym typeface="Arial"/>
              </a:endParaRPr>
            </a:p>
          </p:txBody>
        </p:sp>
      </p:grpSp>
      <p:pic>
        <p:nvPicPr>
          <p:cNvPr id="795" name="Google Shape;795;p46">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796" name="Google Shape;796;p46"/>
          <p:cNvGrpSpPr/>
          <p:nvPr/>
        </p:nvGrpSpPr>
        <p:grpSpPr>
          <a:xfrm>
            <a:off x="2100511" y="354562"/>
            <a:ext cx="1453063" cy="737119"/>
            <a:chOff x="2080727" y="858416"/>
            <a:chExt cx="1453063" cy="737119"/>
          </a:xfrm>
        </p:grpSpPr>
        <p:sp>
          <p:nvSpPr>
            <p:cNvPr id="797" name="Google Shape;797;p46"/>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建模後</a:t>
              </a:r>
              <a:endParaRPr b="0" i="0" sz="2400" u="none" cap="none" strike="noStrike">
                <a:solidFill>
                  <a:schemeClr val="dk1"/>
                </a:solidFill>
                <a:latin typeface="Calibri"/>
                <a:ea typeface="Calibri"/>
                <a:cs typeface="Calibri"/>
                <a:sym typeface="Calibri"/>
              </a:endParaRPr>
            </a:p>
          </p:txBody>
        </p:sp>
        <p:sp>
          <p:nvSpPr>
            <p:cNvPr id="798" name="Google Shape;798;p46"/>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pic>
        <p:nvPicPr>
          <p:cNvPr id="803" name="Google Shape;803;p47"/>
          <p:cNvPicPr preferRelativeResize="0"/>
          <p:nvPr/>
        </p:nvPicPr>
        <p:blipFill rotWithShape="1">
          <a:blip r:embed="rId3">
            <a:alphaModFix/>
          </a:blip>
          <a:srcRect b="0" l="0" r="0" t="0"/>
          <a:stretch/>
        </p:blipFill>
        <p:spPr>
          <a:xfrm>
            <a:off x="-695325" y="-391121"/>
            <a:ext cx="13582650" cy="7640241"/>
          </a:xfrm>
          <a:prstGeom prst="rect">
            <a:avLst/>
          </a:prstGeom>
          <a:noFill/>
          <a:ln>
            <a:noFill/>
          </a:ln>
        </p:spPr>
      </p:pic>
      <p:grpSp>
        <p:nvGrpSpPr>
          <p:cNvPr id="804" name="Google Shape;804;p47"/>
          <p:cNvGrpSpPr/>
          <p:nvPr/>
        </p:nvGrpSpPr>
        <p:grpSpPr>
          <a:xfrm>
            <a:off x="4418522" y="1338170"/>
            <a:ext cx="6263174" cy="4452501"/>
            <a:chOff x="4034345" y="1528670"/>
            <a:chExt cx="6263174" cy="4452501"/>
          </a:xfrm>
        </p:grpSpPr>
        <p:sp>
          <p:nvSpPr>
            <p:cNvPr id="805" name="Google Shape;805;p47"/>
            <p:cNvSpPr txBox="1"/>
            <p:nvPr/>
          </p:nvSpPr>
          <p:spPr>
            <a:xfrm>
              <a:off x="4034345" y="1528670"/>
              <a:ext cx="6097554" cy="445250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持續評估之機制:</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11111"/>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是否建立程序或機制，以持續評估AI模型是否遵循本評估表所列之可信賴AI倫理原則？</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持續法規盤點:</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11111"/>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是否持續盤點與AI模型相關之法律規範？</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倫理衝突解決機制:</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11111"/>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是否建立相關程序或機制，以處理不同倫理原則之間的衝突，並解釋最後權衡的決定？</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明訂責任歸屬:</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11111"/>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AI模型開發者與使用者之間的責任歸屬是否明確？</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道德責任:</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11111"/>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AI模型開發者與使用者是否了解AI模型的應用應以公共利益為首要考量？</a:t>
              </a:r>
              <a:endParaRPr b="0" i="0" sz="1400" u="none" cap="none" strike="noStrike">
                <a:solidFill>
                  <a:srgbClr val="000000"/>
                </a:solidFill>
                <a:latin typeface="Arial"/>
                <a:ea typeface="Arial"/>
                <a:cs typeface="Arial"/>
                <a:sym typeface="Arial"/>
              </a:endParaRPr>
            </a:p>
          </p:txBody>
        </p:sp>
        <p:cxnSp>
          <p:nvCxnSpPr>
            <p:cNvPr id="806" name="Google Shape;806;p47"/>
            <p:cNvCxnSpPr/>
            <p:nvPr/>
          </p:nvCxnSpPr>
          <p:spPr>
            <a:xfrm>
              <a:off x="4090329" y="2442778"/>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807" name="Google Shape;807;p47"/>
            <p:cNvCxnSpPr/>
            <p:nvPr/>
          </p:nvCxnSpPr>
          <p:spPr>
            <a:xfrm>
              <a:off x="4090329" y="3203812"/>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808" name="Google Shape;808;p47"/>
            <p:cNvCxnSpPr/>
            <p:nvPr/>
          </p:nvCxnSpPr>
          <p:spPr>
            <a:xfrm>
              <a:off x="4090329" y="4179172"/>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809" name="Google Shape;809;p47"/>
            <p:cNvCxnSpPr/>
            <p:nvPr/>
          </p:nvCxnSpPr>
          <p:spPr>
            <a:xfrm>
              <a:off x="4090329" y="4971652"/>
              <a:ext cx="62071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810" name="Google Shape;810;p47"/>
          <p:cNvGrpSpPr/>
          <p:nvPr/>
        </p:nvGrpSpPr>
        <p:grpSpPr>
          <a:xfrm>
            <a:off x="1058785" y="2736364"/>
            <a:ext cx="3258137" cy="1341050"/>
            <a:chOff x="1033603" y="3087582"/>
            <a:chExt cx="3258137" cy="1341050"/>
          </a:xfrm>
        </p:grpSpPr>
        <p:sp>
          <p:nvSpPr>
            <p:cNvPr id="811" name="Google Shape;811;p47"/>
            <p:cNvSpPr txBox="1"/>
            <p:nvPr/>
          </p:nvSpPr>
          <p:spPr>
            <a:xfrm>
              <a:off x="1325495"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當責性</a:t>
              </a:r>
              <a:endParaRPr b="0" i="0" sz="1400" u="none" cap="none" strike="noStrike">
                <a:solidFill>
                  <a:srgbClr val="000000"/>
                </a:solidFill>
                <a:latin typeface="Arial"/>
                <a:ea typeface="Arial"/>
                <a:cs typeface="Arial"/>
                <a:sym typeface="Arial"/>
              </a:endParaRPr>
            </a:p>
          </p:txBody>
        </p:sp>
        <p:sp>
          <p:nvSpPr>
            <p:cNvPr id="812" name="Google Shape;812;p47"/>
            <p:cNvSpPr txBox="1"/>
            <p:nvPr/>
          </p:nvSpPr>
          <p:spPr>
            <a:xfrm>
              <a:off x="1033603" y="3087582"/>
              <a:ext cx="3258137"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674310"/>
                  </a:solidFill>
                  <a:latin typeface="Arial"/>
                  <a:ea typeface="Arial"/>
                  <a:cs typeface="Arial"/>
                  <a:sym typeface="Arial"/>
                </a:rPr>
                <a:t>A</a:t>
              </a:r>
              <a:r>
                <a:rPr b="0" i="0" lang="zh-TW" sz="2800" u="sng" cap="none" strike="noStrike">
                  <a:solidFill>
                    <a:srgbClr val="000000"/>
                  </a:solidFill>
                  <a:latin typeface="Arial"/>
                  <a:ea typeface="Arial"/>
                  <a:cs typeface="Arial"/>
                  <a:sym typeface="Arial"/>
                </a:rPr>
                <a:t>ccountability</a:t>
              </a:r>
              <a:endParaRPr b="0" i="0" sz="2800" u="sng" cap="none" strike="noStrike">
                <a:solidFill>
                  <a:schemeClr val="dk1"/>
                </a:solidFill>
                <a:latin typeface="Arial"/>
                <a:ea typeface="Arial"/>
                <a:cs typeface="Arial"/>
                <a:sym typeface="Arial"/>
              </a:endParaRPr>
            </a:p>
          </p:txBody>
        </p:sp>
      </p:grpSp>
      <p:pic>
        <p:nvPicPr>
          <p:cNvPr id="813" name="Google Shape;813;p47">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814" name="Google Shape;814;p47"/>
          <p:cNvGrpSpPr/>
          <p:nvPr/>
        </p:nvGrpSpPr>
        <p:grpSpPr>
          <a:xfrm>
            <a:off x="1961321" y="370185"/>
            <a:ext cx="1453063" cy="737119"/>
            <a:chOff x="2080727" y="858416"/>
            <a:chExt cx="1453063" cy="737119"/>
          </a:xfrm>
        </p:grpSpPr>
        <p:sp>
          <p:nvSpPr>
            <p:cNvPr id="815" name="Google Shape;815;p47"/>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建模後</a:t>
              </a:r>
              <a:endParaRPr b="0" i="0" sz="2400" u="none" cap="none" strike="noStrike">
                <a:solidFill>
                  <a:schemeClr val="dk1"/>
                </a:solidFill>
                <a:latin typeface="Calibri"/>
                <a:ea typeface="Calibri"/>
                <a:cs typeface="Calibri"/>
                <a:sym typeface="Calibri"/>
              </a:endParaRPr>
            </a:p>
          </p:txBody>
        </p:sp>
        <p:sp>
          <p:nvSpPr>
            <p:cNvPr id="816" name="Google Shape;816;p47"/>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817" name="Google Shape;817;p47">
            <a:hlinkClick action="ppaction://hlinksldjump" r:id="rId6"/>
          </p:cNvPr>
          <p:cNvPicPr preferRelativeResize="0"/>
          <p:nvPr/>
        </p:nvPicPr>
        <p:blipFill rotWithShape="1">
          <a:blip r:embed="rId7">
            <a:alphaModFix/>
          </a:blip>
          <a:srcRect b="0" l="0" r="0" t="0"/>
          <a:stretch/>
        </p:blipFill>
        <p:spPr>
          <a:xfrm>
            <a:off x="11420976" y="2403537"/>
            <a:ext cx="543917" cy="237761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pic>
        <p:nvPicPr>
          <p:cNvPr id="822" name="Google Shape;822;p48"/>
          <p:cNvPicPr preferRelativeResize="0"/>
          <p:nvPr/>
        </p:nvPicPr>
        <p:blipFill rotWithShape="1">
          <a:blip r:embed="rId3">
            <a:alphaModFix/>
          </a:blip>
          <a:srcRect b="0" l="0" r="0" t="0"/>
          <a:stretch/>
        </p:blipFill>
        <p:spPr>
          <a:xfrm>
            <a:off x="-812800" y="-457200"/>
            <a:ext cx="13817600" cy="7772400"/>
          </a:xfrm>
          <a:prstGeom prst="rect">
            <a:avLst/>
          </a:prstGeom>
          <a:noFill/>
          <a:ln>
            <a:noFill/>
          </a:ln>
        </p:spPr>
      </p:pic>
      <p:sp>
        <p:nvSpPr>
          <p:cNvPr id="823" name="Google Shape;823;p48"/>
          <p:cNvSpPr txBox="1"/>
          <p:nvPr/>
        </p:nvSpPr>
        <p:spPr>
          <a:xfrm>
            <a:off x="4462050" y="1989875"/>
            <a:ext cx="6097554" cy="299607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法律與倫理問題</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若所使用之 AI 係為減少人力、增加效率，輔助使用機關或使用人判斷之工具，則不能脫離使用機關或使用人之監督而單獨作為科技執法之依據。而當 AI 出現錯誤時，使用 AI 之機關為責任歸屬主體，但其得依照契約之規定，向 AI 之研發者求償。惟此係契約責任之問題，不影響公法上責任之歸屬。</a:t>
            </a:r>
            <a:endParaRPr b="1" i="0" sz="1600" u="none" cap="none" strike="noStrike">
              <a:solidFill>
                <a:schemeClr val="dk1"/>
              </a:solidFill>
              <a:latin typeface="Microsoft JhengHei"/>
              <a:ea typeface="Microsoft JhengHei"/>
              <a:cs typeface="Microsoft JhengHei"/>
              <a:sym typeface="Microsoft JhengHei"/>
            </a:endParaRPr>
          </a:p>
        </p:txBody>
      </p:sp>
      <p:grpSp>
        <p:nvGrpSpPr>
          <p:cNvPr id="824" name="Google Shape;824;p48"/>
          <p:cNvGrpSpPr/>
          <p:nvPr/>
        </p:nvGrpSpPr>
        <p:grpSpPr>
          <a:xfrm>
            <a:off x="1058785" y="2736364"/>
            <a:ext cx="3258137" cy="1341050"/>
            <a:chOff x="1033603" y="3087582"/>
            <a:chExt cx="3258137" cy="1341050"/>
          </a:xfrm>
        </p:grpSpPr>
        <p:sp>
          <p:nvSpPr>
            <p:cNvPr id="825" name="Google Shape;825;p48"/>
            <p:cNvSpPr txBox="1"/>
            <p:nvPr/>
          </p:nvSpPr>
          <p:spPr>
            <a:xfrm>
              <a:off x="1325495"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當責性</a:t>
              </a:r>
              <a:endParaRPr b="0" i="0" sz="1400" u="none" cap="none" strike="noStrike">
                <a:solidFill>
                  <a:srgbClr val="000000"/>
                </a:solidFill>
                <a:latin typeface="Arial"/>
                <a:ea typeface="Arial"/>
                <a:cs typeface="Arial"/>
                <a:sym typeface="Arial"/>
              </a:endParaRPr>
            </a:p>
          </p:txBody>
        </p:sp>
        <p:sp>
          <p:nvSpPr>
            <p:cNvPr id="826" name="Google Shape;826;p48"/>
            <p:cNvSpPr txBox="1"/>
            <p:nvPr/>
          </p:nvSpPr>
          <p:spPr>
            <a:xfrm>
              <a:off x="1033603" y="3087582"/>
              <a:ext cx="3258137"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674310"/>
                  </a:solidFill>
                  <a:latin typeface="Arial"/>
                  <a:ea typeface="Arial"/>
                  <a:cs typeface="Arial"/>
                  <a:sym typeface="Arial"/>
                </a:rPr>
                <a:t>A</a:t>
              </a:r>
              <a:r>
                <a:rPr b="0" i="0" lang="zh-TW" sz="2800" u="sng" cap="none" strike="noStrike">
                  <a:solidFill>
                    <a:srgbClr val="000000"/>
                  </a:solidFill>
                  <a:latin typeface="Arial"/>
                  <a:ea typeface="Arial"/>
                  <a:cs typeface="Arial"/>
                  <a:sym typeface="Arial"/>
                </a:rPr>
                <a:t>ccountability</a:t>
              </a:r>
              <a:endParaRPr b="0" i="0" sz="2800" u="sng" cap="none" strike="noStrike">
                <a:solidFill>
                  <a:schemeClr val="dk1"/>
                </a:solidFill>
                <a:latin typeface="Arial"/>
                <a:ea typeface="Arial"/>
                <a:cs typeface="Arial"/>
                <a:sym typeface="Arial"/>
              </a:endParaRPr>
            </a:p>
          </p:txBody>
        </p:sp>
      </p:grpSp>
      <p:grpSp>
        <p:nvGrpSpPr>
          <p:cNvPr id="827" name="Google Shape;827;p48"/>
          <p:cNvGrpSpPr/>
          <p:nvPr/>
        </p:nvGrpSpPr>
        <p:grpSpPr>
          <a:xfrm>
            <a:off x="1959429" y="318833"/>
            <a:ext cx="1453063" cy="737119"/>
            <a:chOff x="2080727" y="858416"/>
            <a:chExt cx="1453063" cy="737119"/>
          </a:xfrm>
        </p:grpSpPr>
        <p:sp>
          <p:nvSpPr>
            <p:cNvPr id="828" name="Google Shape;828;p48"/>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建模後</a:t>
              </a:r>
              <a:endParaRPr b="0" i="0" sz="2400" u="none" cap="none" strike="noStrike">
                <a:solidFill>
                  <a:schemeClr val="dk1"/>
                </a:solidFill>
                <a:latin typeface="Calibri"/>
                <a:ea typeface="Calibri"/>
                <a:cs typeface="Calibri"/>
                <a:sym typeface="Calibri"/>
              </a:endParaRPr>
            </a:p>
          </p:txBody>
        </p:sp>
        <p:sp>
          <p:nvSpPr>
            <p:cNvPr id="829" name="Google Shape;829;p48"/>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830" name="Google Shape;830;p48">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pic>
        <p:nvPicPr>
          <p:cNvPr id="831" name="Google Shape;831;p48">
            <a:hlinkClick action="ppaction://hlinksldjump" r:id="rId6"/>
          </p:cNvPr>
          <p:cNvPicPr preferRelativeResize="0"/>
          <p:nvPr/>
        </p:nvPicPr>
        <p:blipFill rotWithShape="1">
          <a:blip r:embed="rId7">
            <a:alphaModFix/>
          </a:blip>
          <a:srcRect b="0" l="0" r="0" t="0"/>
          <a:stretch/>
        </p:blipFill>
        <p:spPr>
          <a:xfrm>
            <a:off x="11386129" y="5435350"/>
            <a:ext cx="613611" cy="613611"/>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pic>
        <p:nvPicPr>
          <p:cNvPr id="836" name="Google Shape;836;p49"/>
          <p:cNvPicPr preferRelativeResize="0"/>
          <p:nvPr/>
        </p:nvPicPr>
        <p:blipFill rotWithShape="1">
          <a:blip r:embed="rId3">
            <a:alphaModFix/>
          </a:blip>
          <a:srcRect b="0" l="0" r="0" t="0"/>
          <a:stretch/>
        </p:blipFill>
        <p:spPr>
          <a:xfrm>
            <a:off x="-590550" y="-332185"/>
            <a:ext cx="13373100" cy="7522369"/>
          </a:xfrm>
          <a:prstGeom prst="rect">
            <a:avLst/>
          </a:prstGeom>
          <a:noFill/>
          <a:ln>
            <a:noFill/>
          </a:ln>
        </p:spPr>
      </p:pic>
      <p:grpSp>
        <p:nvGrpSpPr>
          <p:cNvPr id="837" name="Google Shape;837;p49"/>
          <p:cNvGrpSpPr/>
          <p:nvPr/>
        </p:nvGrpSpPr>
        <p:grpSpPr>
          <a:xfrm>
            <a:off x="4382137" y="1615964"/>
            <a:ext cx="6432043" cy="3970318"/>
            <a:chOff x="4050730" y="1819164"/>
            <a:chExt cx="6432043" cy="3970318"/>
          </a:xfrm>
        </p:grpSpPr>
        <p:sp>
          <p:nvSpPr>
            <p:cNvPr id="838" name="Google Shape;838;p49"/>
            <p:cNvSpPr txBox="1"/>
            <p:nvPr/>
          </p:nvSpPr>
          <p:spPr>
            <a:xfrm>
              <a:off x="4050730" y="1819164"/>
              <a:ext cx="6432043" cy="39703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模型決策結果:</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為了讓非專業使用者更了解AI模型決策結果，是否已使用易懂的方式與使用者溝通？</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模型決策邏輯規則：</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是否建立機制向使用者解釋AI模型決策背後的邏輯規則（即資料輸入與決策結果的因果關係）？</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主動調查:</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是否有機制能持續調查使用者對AI決策的了解程度？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被動解釋:</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是否有機制讓使用者針對AI模型相關問題進行提問？ </a:t>
              </a:r>
              <a:endParaRPr b="0" i="0" sz="1400" u="none" cap="none" strike="noStrike">
                <a:solidFill>
                  <a:srgbClr val="000000"/>
                </a:solidFill>
                <a:latin typeface="Arial"/>
                <a:ea typeface="Arial"/>
                <a:cs typeface="Arial"/>
                <a:sym typeface="Arial"/>
              </a:endParaRPr>
            </a:p>
          </p:txBody>
        </p:sp>
        <p:cxnSp>
          <p:nvCxnSpPr>
            <p:cNvPr id="839" name="Google Shape;839;p49"/>
            <p:cNvCxnSpPr/>
            <p:nvPr/>
          </p:nvCxnSpPr>
          <p:spPr>
            <a:xfrm>
              <a:off x="4111690" y="2882376"/>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840" name="Google Shape;840;p49"/>
            <p:cNvCxnSpPr/>
            <p:nvPr/>
          </p:nvCxnSpPr>
          <p:spPr>
            <a:xfrm>
              <a:off x="4111690" y="3995278"/>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841" name="Google Shape;841;p49"/>
            <p:cNvCxnSpPr/>
            <p:nvPr/>
          </p:nvCxnSpPr>
          <p:spPr>
            <a:xfrm>
              <a:off x="4111690" y="4864820"/>
              <a:ext cx="62071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842" name="Google Shape;842;p49"/>
          <p:cNvGrpSpPr/>
          <p:nvPr/>
        </p:nvGrpSpPr>
        <p:grpSpPr>
          <a:xfrm>
            <a:off x="1111817" y="2755184"/>
            <a:ext cx="3071664" cy="1347631"/>
            <a:chOff x="980776" y="3081001"/>
            <a:chExt cx="3071664" cy="1347631"/>
          </a:xfrm>
        </p:grpSpPr>
        <p:sp>
          <p:nvSpPr>
            <p:cNvPr id="843" name="Google Shape;843;p49"/>
            <p:cNvSpPr txBox="1"/>
            <p:nvPr/>
          </p:nvSpPr>
          <p:spPr>
            <a:xfrm>
              <a:off x="1179432"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可解釋性</a:t>
              </a:r>
              <a:endParaRPr b="0" i="0" sz="1400" u="none" cap="none" strike="noStrike">
                <a:solidFill>
                  <a:srgbClr val="000000"/>
                </a:solidFill>
                <a:latin typeface="Arial"/>
                <a:ea typeface="Arial"/>
                <a:cs typeface="Arial"/>
                <a:sym typeface="Arial"/>
              </a:endParaRPr>
            </a:p>
          </p:txBody>
        </p:sp>
        <p:sp>
          <p:nvSpPr>
            <p:cNvPr id="844" name="Google Shape;844;p49"/>
            <p:cNvSpPr txBox="1"/>
            <p:nvPr/>
          </p:nvSpPr>
          <p:spPr>
            <a:xfrm>
              <a:off x="980776" y="3081001"/>
              <a:ext cx="3071664"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B6925F"/>
                  </a:solidFill>
                  <a:latin typeface="Arial"/>
                  <a:ea typeface="Arial"/>
                  <a:cs typeface="Arial"/>
                  <a:sym typeface="Arial"/>
                </a:rPr>
                <a:t>E</a:t>
              </a:r>
              <a:r>
                <a:rPr b="0" i="0" lang="zh-TW" sz="2800" u="sng" cap="none" strike="noStrike">
                  <a:solidFill>
                    <a:schemeClr val="dk1"/>
                  </a:solidFill>
                  <a:latin typeface="Arial"/>
                  <a:ea typeface="Arial"/>
                  <a:cs typeface="Arial"/>
                  <a:sym typeface="Arial"/>
                </a:rPr>
                <a:t>xplainability</a:t>
              </a:r>
              <a:endParaRPr b="0" i="0" sz="2800" u="sng" cap="none" strike="noStrike">
                <a:solidFill>
                  <a:schemeClr val="dk1"/>
                </a:solidFill>
                <a:latin typeface="Arial"/>
                <a:ea typeface="Arial"/>
                <a:cs typeface="Arial"/>
                <a:sym typeface="Arial"/>
              </a:endParaRPr>
            </a:p>
          </p:txBody>
        </p:sp>
      </p:grpSp>
      <p:pic>
        <p:nvPicPr>
          <p:cNvPr id="845" name="Google Shape;845;p49">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846" name="Google Shape;846;p49"/>
          <p:cNvGrpSpPr/>
          <p:nvPr/>
        </p:nvGrpSpPr>
        <p:grpSpPr>
          <a:xfrm>
            <a:off x="1921117" y="418394"/>
            <a:ext cx="1453063" cy="737119"/>
            <a:chOff x="2080727" y="858416"/>
            <a:chExt cx="1453063" cy="737119"/>
          </a:xfrm>
        </p:grpSpPr>
        <p:sp>
          <p:nvSpPr>
            <p:cNvPr id="847" name="Google Shape;847;p49"/>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建模後</a:t>
              </a:r>
              <a:endParaRPr b="0" i="0" sz="2400" u="none" cap="none" strike="noStrike">
                <a:solidFill>
                  <a:schemeClr val="dk1"/>
                </a:solidFill>
                <a:latin typeface="Calibri"/>
                <a:ea typeface="Calibri"/>
                <a:cs typeface="Calibri"/>
                <a:sym typeface="Calibri"/>
              </a:endParaRPr>
            </a:p>
          </p:txBody>
        </p:sp>
        <p:sp>
          <p:nvSpPr>
            <p:cNvPr id="848" name="Google Shape;848;p49"/>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pic>
        <p:nvPicPr>
          <p:cNvPr id="853" name="Google Shape;853;p50"/>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854" name="Google Shape;854;p50"/>
          <p:cNvGrpSpPr/>
          <p:nvPr/>
        </p:nvGrpSpPr>
        <p:grpSpPr>
          <a:xfrm>
            <a:off x="5016471" y="2739755"/>
            <a:ext cx="4923194" cy="1621095"/>
            <a:chOff x="3423661" y="2554114"/>
            <a:chExt cx="7222834" cy="2378314"/>
          </a:xfrm>
        </p:grpSpPr>
        <p:pic>
          <p:nvPicPr>
            <p:cNvPr id="855" name="Google Shape;855;p50"/>
            <p:cNvPicPr preferRelativeResize="0"/>
            <p:nvPr/>
          </p:nvPicPr>
          <p:blipFill rotWithShape="1">
            <a:blip r:embed="rId4">
              <a:alphaModFix/>
            </a:blip>
            <a:srcRect b="0" l="0" r="0" t="0"/>
            <a:stretch/>
          </p:blipFill>
          <p:spPr>
            <a:xfrm>
              <a:off x="3423661" y="2554115"/>
              <a:ext cx="4227442" cy="2378313"/>
            </a:xfrm>
            <a:prstGeom prst="rect">
              <a:avLst/>
            </a:prstGeom>
            <a:noFill/>
            <a:ln>
              <a:noFill/>
            </a:ln>
          </p:spPr>
        </p:pic>
        <p:pic>
          <p:nvPicPr>
            <p:cNvPr id="856" name="Google Shape;856;p50"/>
            <p:cNvPicPr preferRelativeResize="0"/>
            <p:nvPr/>
          </p:nvPicPr>
          <p:blipFill rotWithShape="1">
            <a:blip r:embed="rId5">
              <a:alphaModFix/>
            </a:blip>
            <a:srcRect b="0" l="0" r="0" t="0"/>
            <a:stretch/>
          </p:blipFill>
          <p:spPr>
            <a:xfrm>
              <a:off x="6420258" y="2554114"/>
              <a:ext cx="4226237" cy="2378313"/>
            </a:xfrm>
            <a:prstGeom prst="rect">
              <a:avLst/>
            </a:prstGeom>
            <a:noFill/>
            <a:ln>
              <a:noFill/>
            </a:ln>
          </p:spPr>
        </p:pic>
      </p:grpSp>
      <p:grpSp>
        <p:nvGrpSpPr>
          <p:cNvPr id="857" name="Google Shape;857;p50"/>
          <p:cNvGrpSpPr/>
          <p:nvPr/>
        </p:nvGrpSpPr>
        <p:grpSpPr>
          <a:xfrm>
            <a:off x="2342119" y="2912550"/>
            <a:ext cx="2674353" cy="1347631"/>
            <a:chOff x="1469994" y="3081001"/>
            <a:chExt cx="2674353" cy="1347631"/>
          </a:xfrm>
        </p:grpSpPr>
        <p:sp>
          <p:nvSpPr>
            <p:cNvPr id="858" name="Google Shape;858;p50"/>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自主性</a:t>
              </a:r>
              <a:endParaRPr b="0" i="0" sz="1400" u="none" cap="none" strike="noStrike">
                <a:solidFill>
                  <a:srgbClr val="000000"/>
                </a:solidFill>
                <a:latin typeface="Arial"/>
                <a:ea typeface="Arial"/>
                <a:cs typeface="Arial"/>
                <a:sym typeface="Arial"/>
              </a:endParaRPr>
            </a:p>
          </p:txBody>
        </p:sp>
        <p:sp>
          <p:nvSpPr>
            <p:cNvPr id="859" name="Google Shape;859;p50"/>
            <p:cNvSpPr txBox="1"/>
            <p:nvPr/>
          </p:nvSpPr>
          <p:spPr>
            <a:xfrm>
              <a:off x="1606534" y="3081001"/>
              <a:ext cx="2401272"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6B5943"/>
                  </a:solidFill>
                  <a:latin typeface="Arial"/>
                  <a:ea typeface="Arial"/>
                  <a:cs typeface="Arial"/>
                  <a:sym typeface="Arial"/>
                </a:rPr>
                <a:t>A</a:t>
              </a:r>
              <a:r>
                <a:rPr b="0" i="0" lang="zh-TW" sz="2800" u="sng" cap="none" strike="noStrike">
                  <a:solidFill>
                    <a:schemeClr val="dk1"/>
                  </a:solidFill>
                  <a:latin typeface="Arial"/>
                  <a:ea typeface="Arial"/>
                  <a:cs typeface="Arial"/>
                  <a:sym typeface="Arial"/>
                </a:rPr>
                <a:t>utonomy</a:t>
              </a:r>
              <a:endParaRPr b="0" i="0" sz="2800" u="sng" cap="none" strike="noStrike">
                <a:solidFill>
                  <a:schemeClr val="dk1"/>
                </a:solidFill>
                <a:latin typeface="Arial"/>
                <a:ea typeface="Arial"/>
                <a:cs typeface="Arial"/>
                <a:sym typeface="Arial"/>
              </a:endParaRPr>
            </a:p>
          </p:txBody>
        </p:sp>
      </p:grpSp>
      <p:sp>
        <p:nvSpPr>
          <p:cNvPr id="860" name="Google Shape;860;p50">
            <a:hlinkClick action="ppaction://hlinksldjump" r:id="rId6"/>
          </p:cNvPr>
          <p:cNvSpPr/>
          <p:nvPr/>
        </p:nvSpPr>
        <p:spPr>
          <a:xfrm>
            <a:off x="5753100" y="2928003"/>
            <a:ext cx="1409700" cy="1295400"/>
          </a:xfrm>
          <a:prstGeom prst="roundRect">
            <a:avLst>
              <a:gd fmla="val 16667" name="adj"/>
            </a:avLst>
          </a:prstGeom>
          <a:solidFill>
            <a:srgbClr val="E6E6E6">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61" name="Google Shape;861;p50">
            <a:hlinkClick action="ppaction://hlinksldjump" r:id="rId7"/>
          </p:cNvPr>
          <p:cNvSpPr/>
          <p:nvPr/>
        </p:nvSpPr>
        <p:spPr>
          <a:xfrm>
            <a:off x="7827347" y="2902602"/>
            <a:ext cx="1409700" cy="1295400"/>
          </a:xfrm>
          <a:prstGeom prst="roundRect">
            <a:avLst>
              <a:gd fmla="val 16667" name="adj"/>
            </a:avLst>
          </a:prstGeom>
          <a:solidFill>
            <a:srgbClr val="E6E6E6">
              <a:alpha val="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862" name="Google Shape;862;p50">
            <a:hlinkClick action="ppaction://hlinksldjump" r:id="rId8"/>
          </p:cNvPr>
          <p:cNvPicPr preferRelativeResize="0"/>
          <p:nvPr/>
        </p:nvPicPr>
        <p:blipFill rotWithShape="1">
          <a:blip r:embed="rId9">
            <a:alphaModFix/>
          </a:blip>
          <a:srcRect b="0" l="0" r="0" t="0"/>
          <a:stretch/>
        </p:blipFill>
        <p:spPr>
          <a:xfrm>
            <a:off x="11314519" y="6048961"/>
            <a:ext cx="756832" cy="715314"/>
          </a:xfrm>
          <a:prstGeom prst="rect">
            <a:avLst/>
          </a:prstGeom>
          <a:noFill/>
          <a:ln>
            <a:noFill/>
          </a:ln>
        </p:spPr>
      </p:pic>
      <p:grpSp>
        <p:nvGrpSpPr>
          <p:cNvPr id="863" name="Google Shape;863;p50"/>
          <p:cNvGrpSpPr/>
          <p:nvPr/>
        </p:nvGrpSpPr>
        <p:grpSpPr>
          <a:xfrm>
            <a:off x="2022149" y="681133"/>
            <a:ext cx="1453063" cy="737119"/>
            <a:chOff x="2080727" y="858416"/>
            <a:chExt cx="1453063" cy="737119"/>
          </a:xfrm>
        </p:grpSpPr>
        <p:sp>
          <p:nvSpPr>
            <p:cNvPr id="864" name="Google Shape;864;p50"/>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建模後</a:t>
              </a:r>
              <a:endParaRPr b="0" i="0" sz="2400" u="none" cap="none" strike="noStrike">
                <a:solidFill>
                  <a:schemeClr val="dk1"/>
                </a:solidFill>
                <a:latin typeface="Calibri"/>
                <a:ea typeface="Calibri"/>
                <a:cs typeface="Calibri"/>
                <a:sym typeface="Calibri"/>
              </a:endParaRPr>
            </a:p>
          </p:txBody>
        </p:sp>
        <p:sp>
          <p:nvSpPr>
            <p:cNvPr id="865" name="Google Shape;865;p50"/>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pic>
        <p:nvPicPr>
          <p:cNvPr id="870" name="Google Shape;870;p51"/>
          <p:cNvPicPr preferRelativeResize="0"/>
          <p:nvPr/>
        </p:nvPicPr>
        <p:blipFill rotWithShape="1">
          <a:blip r:embed="rId3">
            <a:alphaModFix/>
          </a:blip>
          <a:srcRect b="0" l="0" r="0" t="0"/>
          <a:stretch/>
        </p:blipFill>
        <p:spPr>
          <a:xfrm>
            <a:off x="-225778" y="-127000"/>
            <a:ext cx="12643555" cy="7112000"/>
          </a:xfrm>
          <a:prstGeom prst="rect">
            <a:avLst/>
          </a:prstGeom>
          <a:noFill/>
          <a:ln>
            <a:noFill/>
          </a:ln>
        </p:spPr>
      </p:pic>
      <p:grpSp>
        <p:nvGrpSpPr>
          <p:cNvPr id="871" name="Google Shape;871;p51"/>
          <p:cNvGrpSpPr/>
          <p:nvPr/>
        </p:nvGrpSpPr>
        <p:grpSpPr>
          <a:xfrm>
            <a:off x="4100267" y="1749396"/>
            <a:ext cx="6316315" cy="4565737"/>
            <a:chOff x="3982758" y="1894258"/>
            <a:chExt cx="6316315" cy="4565737"/>
          </a:xfrm>
        </p:grpSpPr>
        <p:sp>
          <p:nvSpPr>
            <p:cNvPr id="872" name="Google Shape;872;p51"/>
            <p:cNvSpPr txBox="1"/>
            <p:nvPr/>
          </p:nvSpPr>
          <p:spPr>
            <a:xfrm>
              <a:off x="3982758" y="1894258"/>
              <a:ext cx="6096000" cy="456573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告知模型準確性:</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是否已告知使用者有關AI模型準確性？</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告知限制與風險:</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是否已向使用者說明AI模型之技術限制和潛在風險？</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告知模型決策用途:</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是否已告知使用者AI模型的決策用途？</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br>
                <a:rPr b="1" i="0" lang="zh-TW" sz="1800" u="none" cap="none" strike="noStrike">
                  <a:solidFill>
                    <a:schemeClr val="dk1"/>
                  </a:solidFill>
                  <a:latin typeface="Microsoft JhengHei"/>
                  <a:ea typeface="Microsoft JhengHei"/>
                  <a:cs typeface="Microsoft JhengHei"/>
                  <a:sym typeface="Microsoft JhengHei"/>
                </a:rPr>
              </a:br>
              <a:endParaRPr b="1" i="0" sz="1800" u="none" cap="none" strike="noStrike">
                <a:solidFill>
                  <a:schemeClr val="dk1"/>
                </a:solidFill>
                <a:latin typeface="Microsoft JhengHei"/>
                <a:ea typeface="Microsoft JhengHei"/>
                <a:cs typeface="Microsoft JhengHei"/>
                <a:sym typeface="Microsoft JhengHei"/>
              </a:endParaRPr>
            </a:p>
          </p:txBody>
        </p:sp>
        <p:cxnSp>
          <p:nvCxnSpPr>
            <p:cNvPr id="873" name="Google Shape;873;p51"/>
            <p:cNvCxnSpPr/>
            <p:nvPr/>
          </p:nvCxnSpPr>
          <p:spPr>
            <a:xfrm>
              <a:off x="4091883" y="3023115"/>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874" name="Google Shape;874;p51"/>
            <p:cNvCxnSpPr/>
            <p:nvPr/>
          </p:nvCxnSpPr>
          <p:spPr>
            <a:xfrm>
              <a:off x="4091883" y="4364233"/>
              <a:ext cx="6207190" cy="0"/>
            </a:xfrm>
            <a:prstGeom prst="straightConnector1">
              <a:avLst/>
            </a:prstGeom>
            <a:noFill/>
            <a:ln cap="flat" cmpd="sng" w="9525">
              <a:solidFill>
                <a:schemeClr val="dk1"/>
              </a:solidFill>
              <a:prstDash val="solid"/>
              <a:miter lim="800000"/>
              <a:headEnd len="sm" w="sm" type="none"/>
              <a:tailEnd len="sm" w="sm" type="none"/>
            </a:ln>
          </p:spPr>
        </p:cxnSp>
      </p:grpSp>
      <p:sp>
        <p:nvSpPr>
          <p:cNvPr id="875" name="Google Shape;875;p51">
            <a:hlinkClick action="ppaction://hlinkshowjump?jump=previousslide"/>
          </p:cNvPr>
          <p:cNvSpPr/>
          <p:nvPr/>
        </p:nvSpPr>
        <p:spPr>
          <a:xfrm>
            <a:off x="11112500" y="6345785"/>
            <a:ext cx="431451" cy="431451"/>
          </a:xfrm>
          <a:custGeom>
            <a:rect b="b" l="l" r="r" t="t"/>
            <a:pathLst>
              <a:path extrusionOk="0" h="120000" w="120000">
                <a:moveTo>
                  <a:pt x="0" y="0"/>
                </a:moveTo>
                <a:lnTo>
                  <a:pt x="120000" y="0"/>
                </a:lnTo>
                <a:lnTo>
                  <a:pt x="120000" y="120000"/>
                </a:lnTo>
                <a:lnTo>
                  <a:pt x="0" y="120000"/>
                </a:lnTo>
                <a:close/>
                <a:moveTo>
                  <a:pt x="15000" y="60000"/>
                </a:moveTo>
                <a:lnTo>
                  <a:pt x="105000" y="15000"/>
                </a:lnTo>
                <a:lnTo>
                  <a:pt x="105000" y="105000"/>
                </a:lnTo>
                <a:close/>
              </a:path>
              <a:path extrusionOk="0" fill="darken" h="120000" w="120000">
                <a:moveTo>
                  <a:pt x="15000" y="60000"/>
                </a:moveTo>
                <a:lnTo>
                  <a:pt x="105000" y="15000"/>
                </a:lnTo>
                <a:lnTo>
                  <a:pt x="105000" y="105000"/>
                </a:lnTo>
                <a:close/>
              </a:path>
              <a:path extrusionOk="0" fill="none" h="120000" w="120000">
                <a:moveTo>
                  <a:pt x="15000" y="60000"/>
                </a:moveTo>
                <a:lnTo>
                  <a:pt x="105000" y="15000"/>
                </a:lnTo>
                <a:lnTo>
                  <a:pt x="105000" y="105000"/>
                </a:lnTo>
                <a:close/>
              </a:path>
              <a:path extrusionOk="0" fill="none" h="120000" w="120000">
                <a:moveTo>
                  <a:pt x="0" y="0"/>
                </a:moveTo>
                <a:lnTo>
                  <a:pt x="120000" y="0"/>
                </a:lnTo>
                <a:lnTo>
                  <a:pt x="120000" y="120000"/>
                </a:lnTo>
                <a:lnTo>
                  <a:pt x="0" y="120000"/>
                </a:lnTo>
                <a:close/>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876" name="Google Shape;876;p51"/>
          <p:cNvGrpSpPr/>
          <p:nvPr/>
        </p:nvGrpSpPr>
        <p:grpSpPr>
          <a:xfrm>
            <a:off x="1425914" y="2755184"/>
            <a:ext cx="2674353" cy="1347631"/>
            <a:chOff x="1469994" y="3081001"/>
            <a:chExt cx="2674353" cy="1347631"/>
          </a:xfrm>
        </p:grpSpPr>
        <p:sp>
          <p:nvSpPr>
            <p:cNvPr id="877" name="Google Shape;877;p51"/>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自主性</a:t>
              </a:r>
              <a:endParaRPr b="0" i="0" sz="1400" u="none" cap="none" strike="noStrike">
                <a:solidFill>
                  <a:srgbClr val="000000"/>
                </a:solidFill>
                <a:latin typeface="Arial"/>
                <a:ea typeface="Arial"/>
                <a:cs typeface="Arial"/>
                <a:sym typeface="Arial"/>
              </a:endParaRPr>
            </a:p>
          </p:txBody>
        </p:sp>
        <p:sp>
          <p:nvSpPr>
            <p:cNvPr id="878" name="Google Shape;878;p51"/>
            <p:cNvSpPr txBox="1"/>
            <p:nvPr/>
          </p:nvSpPr>
          <p:spPr>
            <a:xfrm>
              <a:off x="1606534" y="3081001"/>
              <a:ext cx="2401272"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6B5943"/>
                  </a:solidFill>
                  <a:latin typeface="Arial"/>
                  <a:ea typeface="Arial"/>
                  <a:cs typeface="Arial"/>
                  <a:sym typeface="Arial"/>
                </a:rPr>
                <a:t>A</a:t>
              </a:r>
              <a:r>
                <a:rPr b="0" i="0" lang="zh-TW" sz="2800" u="sng" cap="none" strike="noStrike">
                  <a:solidFill>
                    <a:schemeClr val="dk1"/>
                  </a:solidFill>
                  <a:latin typeface="Arial"/>
                  <a:ea typeface="Arial"/>
                  <a:cs typeface="Arial"/>
                  <a:sym typeface="Arial"/>
                </a:rPr>
                <a:t>utonomy</a:t>
              </a:r>
              <a:endParaRPr b="0" i="0" sz="2800" u="sng" cap="none" strike="noStrike">
                <a:solidFill>
                  <a:schemeClr val="dk1"/>
                </a:solidFill>
                <a:latin typeface="Arial"/>
                <a:ea typeface="Arial"/>
                <a:cs typeface="Arial"/>
                <a:sym typeface="Arial"/>
              </a:endParaRPr>
            </a:p>
          </p:txBody>
        </p:sp>
      </p:grpSp>
      <p:pic>
        <p:nvPicPr>
          <p:cNvPr id="879" name="Google Shape;879;p51">
            <a:hlinkClick action="ppaction://hlinksldjump" r:id="rId4"/>
          </p:cNvPr>
          <p:cNvPicPr preferRelativeResize="0"/>
          <p:nvPr/>
        </p:nvPicPr>
        <p:blipFill rotWithShape="1">
          <a:blip r:embed="rId5">
            <a:alphaModFix/>
          </a:blip>
          <a:srcRect b="0" l="0" r="0" t="0"/>
          <a:stretch/>
        </p:blipFill>
        <p:spPr>
          <a:xfrm>
            <a:off x="11473268" y="6180786"/>
            <a:ext cx="756832" cy="715314"/>
          </a:xfrm>
          <a:prstGeom prst="rect">
            <a:avLst/>
          </a:prstGeom>
          <a:noFill/>
          <a:ln>
            <a:noFill/>
          </a:ln>
        </p:spPr>
      </p:pic>
      <p:pic>
        <p:nvPicPr>
          <p:cNvPr id="880" name="Google Shape;880;p51">
            <a:hlinkClick action="ppaction://hlinksldjump" r:id="rId6"/>
          </p:cNvPr>
          <p:cNvPicPr preferRelativeResize="0"/>
          <p:nvPr/>
        </p:nvPicPr>
        <p:blipFill rotWithShape="1">
          <a:blip r:embed="rId7">
            <a:alphaModFix/>
          </a:blip>
          <a:srcRect b="0" l="0" r="0" t="0"/>
          <a:stretch/>
        </p:blipFill>
        <p:spPr>
          <a:xfrm>
            <a:off x="9893552" y="5592284"/>
            <a:ext cx="1046060" cy="588502"/>
          </a:xfrm>
          <a:prstGeom prst="rect">
            <a:avLst/>
          </a:prstGeom>
          <a:noFill/>
          <a:ln>
            <a:noFill/>
          </a:ln>
        </p:spPr>
      </p:pic>
      <p:grpSp>
        <p:nvGrpSpPr>
          <p:cNvPr id="881" name="Google Shape;881;p51"/>
          <p:cNvGrpSpPr/>
          <p:nvPr/>
        </p:nvGrpSpPr>
        <p:grpSpPr>
          <a:xfrm>
            <a:off x="2022149" y="578492"/>
            <a:ext cx="1453063" cy="737119"/>
            <a:chOff x="2080727" y="858416"/>
            <a:chExt cx="1453063" cy="737119"/>
          </a:xfrm>
        </p:grpSpPr>
        <p:sp>
          <p:nvSpPr>
            <p:cNvPr id="882" name="Google Shape;882;p51"/>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建模後</a:t>
              </a:r>
              <a:endParaRPr b="0" i="0" sz="2400" u="none" cap="none" strike="noStrike">
                <a:solidFill>
                  <a:schemeClr val="dk1"/>
                </a:solidFill>
                <a:latin typeface="Calibri"/>
                <a:ea typeface="Calibri"/>
                <a:cs typeface="Calibri"/>
                <a:sym typeface="Calibri"/>
              </a:endParaRPr>
            </a:p>
          </p:txBody>
        </p:sp>
        <p:sp>
          <p:nvSpPr>
            <p:cNvPr id="883" name="Google Shape;883;p51"/>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pic>
        <p:nvPicPr>
          <p:cNvPr id="888" name="Google Shape;888;p52"/>
          <p:cNvPicPr preferRelativeResize="0"/>
          <p:nvPr/>
        </p:nvPicPr>
        <p:blipFill rotWithShape="1">
          <a:blip r:embed="rId3">
            <a:alphaModFix/>
          </a:blip>
          <a:srcRect b="0" l="0" r="0" t="0"/>
          <a:stretch/>
        </p:blipFill>
        <p:spPr>
          <a:xfrm>
            <a:off x="-180622" y="-101600"/>
            <a:ext cx="12553244" cy="7061200"/>
          </a:xfrm>
          <a:prstGeom prst="rect">
            <a:avLst/>
          </a:prstGeom>
          <a:noFill/>
          <a:ln>
            <a:noFill/>
          </a:ln>
        </p:spPr>
      </p:pic>
      <p:grpSp>
        <p:nvGrpSpPr>
          <p:cNvPr id="889" name="Google Shape;889;p52"/>
          <p:cNvGrpSpPr/>
          <p:nvPr/>
        </p:nvGrpSpPr>
        <p:grpSpPr>
          <a:xfrm>
            <a:off x="4091882" y="1369269"/>
            <a:ext cx="6207190" cy="4119461"/>
            <a:chOff x="4091883" y="1691943"/>
            <a:chExt cx="6207190" cy="4119461"/>
          </a:xfrm>
        </p:grpSpPr>
        <p:sp>
          <p:nvSpPr>
            <p:cNvPr id="890" name="Google Shape;890;p52"/>
            <p:cNvSpPr txBox="1"/>
            <p:nvPr/>
          </p:nvSpPr>
          <p:spPr>
            <a:xfrm>
              <a:off x="4091883" y="1691943"/>
              <a:ext cx="6096000" cy="411946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提醒互動對象:</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是否已利用任何方式提醒使用者AI模型的建議源於演算法（非人類）？</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提供互動建議:</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是否針對使用者與AI模型的互動模式提出分析建議？</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教育訓練:</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是否已訓練使用者如何監督AI模型，知道如何在必要時阻斷AI的程序作業。</a:t>
              </a:r>
              <a:endParaRPr b="0" i="0" sz="1400" u="none" cap="none" strike="noStrike">
                <a:solidFill>
                  <a:srgbClr val="000000"/>
                </a:solidFill>
                <a:latin typeface="Arial"/>
                <a:ea typeface="Arial"/>
                <a:cs typeface="Arial"/>
                <a:sym typeface="Arial"/>
              </a:endParaRPr>
            </a:p>
          </p:txBody>
        </p:sp>
        <p:cxnSp>
          <p:nvCxnSpPr>
            <p:cNvPr id="891" name="Google Shape;891;p52"/>
            <p:cNvCxnSpPr/>
            <p:nvPr/>
          </p:nvCxnSpPr>
          <p:spPr>
            <a:xfrm>
              <a:off x="4091883" y="3201639"/>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892" name="Google Shape;892;p52"/>
            <p:cNvCxnSpPr/>
            <p:nvPr/>
          </p:nvCxnSpPr>
          <p:spPr>
            <a:xfrm>
              <a:off x="4091883" y="4383828"/>
              <a:ext cx="6207190" cy="0"/>
            </a:xfrm>
            <a:prstGeom prst="straightConnector1">
              <a:avLst/>
            </a:prstGeom>
            <a:noFill/>
            <a:ln cap="flat" cmpd="sng" w="9525">
              <a:solidFill>
                <a:schemeClr val="dk1"/>
              </a:solidFill>
              <a:prstDash val="solid"/>
              <a:miter lim="800000"/>
              <a:headEnd len="sm" w="sm" type="none"/>
              <a:tailEnd len="sm" w="sm" type="none"/>
            </a:ln>
          </p:spPr>
        </p:cxnSp>
      </p:grpSp>
      <p:sp>
        <p:nvSpPr>
          <p:cNvPr id="893" name="Google Shape;893;p52">
            <a:hlinkClick action="ppaction://hlinksldjump" r:id="rId4"/>
          </p:cNvPr>
          <p:cNvSpPr/>
          <p:nvPr/>
        </p:nvSpPr>
        <p:spPr>
          <a:xfrm>
            <a:off x="11108670" y="6318774"/>
            <a:ext cx="393351" cy="393351"/>
          </a:xfrm>
          <a:custGeom>
            <a:rect b="b" l="l" r="r" t="t"/>
            <a:pathLst>
              <a:path extrusionOk="0" h="120000" w="120000">
                <a:moveTo>
                  <a:pt x="0" y="0"/>
                </a:moveTo>
                <a:lnTo>
                  <a:pt x="120000" y="0"/>
                </a:lnTo>
                <a:lnTo>
                  <a:pt x="120000" y="120000"/>
                </a:lnTo>
                <a:lnTo>
                  <a:pt x="0" y="120000"/>
                </a:lnTo>
                <a:close/>
                <a:moveTo>
                  <a:pt x="15000" y="60000"/>
                </a:moveTo>
                <a:lnTo>
                  <a:pt x="105000" y="15000"/>
                </a:lnTo>
                <a:lnTo>
                  <a:pt x="105000" y="105000"/>
                </a:lnTo>
                <a:close/>
              </a:path>
              <a:path extrusionOk="0" fill="darken" h="120000" w="120000">
                <a:moveTo>
                  <a:pt x="15000" y="60000"/>
                </a:moveTo>
                <a:lnTo>
                  <a:pt x="105000" y="15000"/>
                </a:lnTo>
                <a:lnTo>
                  <a:pt x="105000" y="105000"/>
                </a:lnTo>
                <a:close/>
              </a:path>
              <a:path extrusionOk="0" fill="none" h="120000" w="120000">
                <a:moveTo>
                  <a:pt x="15000" y="60000"/>
                </a:moveTo>
                <a:lnTo>
                  <a:pt x="105000" y="15000"/>
                </a:lnTo>
                <a:lnTo>
                  <a:pt x="105000" y="105000"/>
                </a:lnTo>
                <a:close/>
              </a:path>
              <a:path extrusionOk="0" fill="none" h="120000" w="120000">
                <a:moveTo>
                  <a:pt x="0" y="0"/>
                </a:moveTo>
                <a:lnTo>
                  <a:pt x="120000" y="0"/>
                </a:lnTo>
                <a:lnTo>
                  <a:pt x="120000" y="120000"/>
                </a:lnTo>
                <a:lnTo>
                  <a:pt x="0" y="120000"/>
                </a:lnTo>
                <a:close/>
              </a:path>
            </a:pathLst>
          </a:cu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894" name="Google Shape;894;p52"/>
          <p:cNvGrpSpPr/>
          <p:nvPr/>
        </p:nvGrpSpPr>
        <p:grpSpPr>
          <a:xfrm>
            <a:off x="1554070" y="2813241"/>
            <a:ext cx="2401272" cy="1347631"/>
            <a:chOff x="1606534" y="3081001"/>
            <a:chExt cx="2401272" cy="1347631"/>
          </a:xfrm>
        </p:grpSpPr>
        <p:sp>
          <p:nvSpPr>
            <p:cNvPr id="895" name="Google Shape;895;p52"/>
            <p:cNvSpPr txBox="1"/>
            <p:nvPr/>
          </p:nvSpPr>
          <p:spPr>
            <a:xfrm>
              <a:off x="1743075" y="4028522"/>
              <a:ext cx="2097618"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自主性</a:t>
              </a:r>
              <a:endParaRPr b="0" i="0" sz="1400" u="none" cap="none" strike="noStrike">
                <a:solidFill>
                  <a:srgbClr val="000000"/>
                </a:solidFill>
                <a:latin typeface="Arial"/>
                <a:ea typeface="Arial"/>
                <a:cs typeface="Arial"/>
                <a:sym typeface="Arial"/>
              </a:endParaRPr>
            </a:p>
          </p:txBody>
        </p:sp>
        <p:sp>
          <p:nvSpPr>
            <p:cNvPr id="896" name="Google Shape;896;p52"/>
            <p:cNvSpPr txBox="1"/>
            <p:nvPr/>
          </p:nvSpPr>
          <p:spPr>
            <a:xfrm>
              <a:off x="1606534" y="3081001"/>
              <a:ext cx="2401272"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6B5943"/>
                  </a:solidFill>
                  <a:latin typeface="Arial"/>
                  <a:ea typeface="Arial"/>
                  <a:cs typeface="Arial"/>
                  <a:sym typeface="Arial"/>
                </a:rPr>
                <a:t>A</a:t>
              </a:r>
              <a:r>
                <a:rPr b="0" i="0" lang="zh-TW" sz="2800" u="sng" cap="none" strike="noStrike">
                  <a:solidFill>
                    <a:schemeClr val="dk1"/>
                  </a:solidFill>
                  <a:latin typeface="Arial"/>
                  <a:ea typeface="Arial"/>
                  <a:cs typeface="Arial"/>
                  <a:sym typeface="Arial"/>
                </a:rPr>
                <a:t>utonomy</a:t>
              </a:r>
              <a:endParaRPr b="0" i="0" sz="2800" u="sng" cap="none" strike="noStrike">
                <a:solidFill>
                  <a:schemeClr val="dk1"/>
                </a:solidFill>
                <a:latin typeface="Arial"/>
                <a:ea typeface="Arial"/>
                <a:cs typeface="Arial"/>
                <a:sym typeface="Arial"/>
              </a:endParaRPr>
            </a:p>
          </p:txBody>
        </p:sp>
      </p:grpSp>
      <p:pic>
        <p:nvPicPr>
          <p:cNvPr id="897" name="Google Shape;897;p52">
            <a:hlinkClick action="ppaction://hlinksldjump" r:id="rId5"/>
          </p:cNvPr>
          <p:cNvPicPr preferRelativeResize="0"/>
          <p:nvPr/>
        </p:nvPicPr>
        <p:blipFill rotWithShape="1">
          <a:blip r:embed="rId6">
            <a:alphaModFix/>
          </a:blip>
          <a:srcRect b="0" l="0" r="0" t="0"/>
          <a:stretch/>
        </p:blipFill>
        <p:spPr>
          <a:xfrm>
            <a:off x="11435168" y="6142686"/>
            <a:ext cx="756832" cy="715314"/>
          </a:xfrm>
          <a:prstGeom prst="rect">
            <a:avLst/>
          </a:prstGeom>
          <a:noFill/>
          <a:ln>
            <a:noFill/>
          </a:ln>
        </p:spPr>
      </p:pic>
      <p:pic>
        <p:nvPicPr>
          <p:cNvPr id="898" name="Google Shape;898;p52">
            <a:hlinkClick action="ppaction://hlinksldjump" r:id="rId7"/>
          </p:cNvPr>
          <p:cNvPicPr preferRelativeResize="0"/>
          <p:nvPr/>
        </p:nvPicPr>
        <p:blipFill rotWithShape="1">
          <a:blip r:embed="rId8">
            <a:alphaModFix/>
          </a:blip>
          <a:srcRect b="0" l="0" r="0" t="0"/>
          <a:stretch/>
        </p:blipFill>
        <p:spPr>
          <a:xfrm>
            <a:off x="9824876" y="5539290"/>
            <a:ext cx="1138132" cy="640482"/>
          </a:xfrm>
          <a:prstGeom prst="rect">
            <a:avLst/>
          </a:prstGeom>
          <a:noFill/>
          <a:ln>
            <a:noFill/>
          </a:ln>
        </p:spPr>
      </p:pic>
      <p:grpSp>
        <p:nvGrpSpPr>
          <p:cNvPr id="899" name="Google Shape;899;p52"/>
          <p:cNvGrpSpPr/>
          <p:nvPr/>
        </p:nvGrpSpPr>
        <p:grpSpPr>
          <a:xfrm>
            <a:off x="2022149" y="606485"/>
            <a:ext cx="1453063" cy="737119"/>
            <a:chOff x="2080727" y="858416"/>
            <a:chExt cx="1453063" cy="737119"/>
          </a:xfrm>
        </p:grpSpPr>
        <p:sp>
          <p:nvSpPr>
            <p:cNvPr id="900" name="Google Shape;900;p52"/>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建模後</a:t>
              </a:r>
              <a:endParaRPr b="0" i="0" sz="2400" u="none" cap="none" strike="noStrike">
                <a:solidFill>
                  <a:schemeClr val="dk1"/>
                </a:solidFill>
                <a:latin typeface="Calibri"/>
                <a:ea typeface="Calibri"/>
                <a:cs typeface="Calibri"/>
                <a:sym typeface="Calibri"/>
              </a:endParaRPr>
            </a:p>
          </p:txBody>
        </p:sp>
        <p:sp>
          <p:nvSpPr>
            <p:cNvPr id="901" name="Google Shape;901;p52"/>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902" name="Google Shape;902;p52">
            <a:hlinkClick action="ppaction://hlinksldjump" r:id="rId9"/>
          </p:cNvPr>
          <p:cNvPicPr preferRelativeResize="0"/>
          <p:nvPr/>
        </p:nvPicPr>
        <p:blipFill rotWithShape="1">
          <a:blip r:embed="rId10">
            <a:alphaModFix/>
          </a:blip>
          <a:srcRect b="0" l="0" r="0" t="0"/>
          <a:stretch/>
        </p:blipFill>
        <p:spPr>
          <a:xfrm>
            <a:off x="11240028" y="2069949"/>
            <a:ext cx="666874" cy="2915093"/>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pic>
        <p:nvPicPr>
          <p:cNvPr id="907" name="Google Shape;907;p53"/>
          <p:cNvPicPr preferRelativeResize="0"/>
          <p:nvPr/>
        </p:nvPicPr>
        <p:blipFill rotWithShape="1">
          <a:blip r:embed="rId3">
            <a:alphaModFix/>
          </a:blip>
          <a:srcRect b="0" l="0" r="0" t="0"/>
          <a:stretch/>
        </p:blipFill>
        <p:spPr>
          <a:xfrm>
            <a:off x="-812800" y="-457200"/>
            <a:ext cx="13817600" cy="7772400"/>
          </a:xfrm>
          <a:prstGeom prst="rect">
            <a:avLst/>
          </a:prstGeom>
          <a:noFill/>
          <a:ln>
            <a:noFill/>
          </a:ln>
        </p:spPr>
      </p:pic>
      <p:sp>
        <p:nvSpPr>
          <p:cNvPr id="908" name="Google Shape;908;p53"/>
          <p:cNvSpPr txBox="1"/>
          <p:nvPr/>
        </p:nvSpPr>
        <p:spPr>
          <a:xfrm>
            <a:off x="4356747" y="2650090"/>
            <a:ext cx="6097554" cy="174958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法律與倫理問題</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在利用 AI 時應事先說明 AI 準確率，若 AI 有判定錯誤的疑慮或是案情重大，建議需有一位最終判定者進行裁定，形成 human-over-the-loop 的 AI。</a:t>
            </a:r>
            <a:endParaRPr b="1" i="0" sz="1800" u="none" cap="none" strike="noStrike">
              <a:solidFill>
                <a:schemeClr val="dk1"/>
              </a:solidFill>
              <a:latin typeface="Microsoft JhengHei"/>
              <a:ea typeface="Microsoft JhengHei"/>
              <a:cs typeface="Microsoft JhengHei"/>
              <a:sym typeface="Microsoft JhengHei"/>
            </a:endParaRPr>
          </a:p>
        </p:txBody>
      </p:sp>
      <p:grpSp>
        <p:nvGrpSpPr>
          <p:cNvPr id="909" name="Google Shape;909;p53"/>
          <p:cNvGrpSpPr/>
          <p:nvPr/>
        </p:nvGrpSpPr>
        <p:grpSpPr>
          <a:xfrm>
            <a:off x="1098610" y="2801606"/>
            <a:ext cx="3258137" cy="1446550"/>
            <a:chOff x="1073428" y="3152824"/>
            <a:chExt cx="3258137" cy="1446550"/>
          </a:xfrm>
        </p:grpSpPr>
        <p:sp>
          <p:nvSpPr>
            <p:cNvPr id="910" name="Google Shape;910;p53"/>
            <p:cNvSpPr txBox="1"/>
            <p:nvPr/>
          </p:nvSpPr>
          <p:spPr>
            <a:xfrm>
              <a:off x="1325495"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自主性</a:t>
              </a:r>
              <a:endParaRPr b="0" i="0" sz="1400" u="none" cap="none" strike="noStrike">
                <a:solidFill>
                  <a:srgbClr val="000000"/>
                </a:solidFill>
                <a:latin typeface="Arial"/>
                <a:ea typeface="Arial"/>
                <a:cs typeface="Arial"/>
                <a:sym typeface="Arial"/>
              </a:endParaRPr>
            </a:p>
          </p:txBody>
        </p:sp>
        <p:sp>
          <p:nvSpPr>
            <p:cNvPr id="911" name="Google Shape;911;p53"/>
            <p:cNvSpPr txBox="1"/>
            <p:nvPr/>
          </p:nvSpPr>
          <p:spPr>
            <a:xfrm>
              <a:off x="1073428" y="3152824"/>
              <a:ext cx="3258137" cy="144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6B5943"/>
                  </a:solidFill>
                  <a:latin typeface="Arial"/>
                  <a:ea typeface="Arial"/>
                  <a:cs typeface="Arial"/>
                  <a:sym typeface="Arial"/>
                </a:rPr>
                <a:t>A</a:t>
              </a:r>
              <a:r>
                <a:rPr b="0" i="0" lang="zh-TW" sz="2800" u="sng" cap="none" strike="noStrike">
                  <a:solidFill>
                    <a:schemeClr val="dk1"/>
                  </a:solidFill>
                  <a:latin typeface="Arial"/>
                  <a:ea typeface="Arial"/>
                  <a:cs typeface="Arial"/>
                  <a:sym typeface="Arial"/>
                </a:rPr>
                <a:t>utonomy</a:t>
              </a:r>
              <a:endParaRPr b="0" i="0" sz="2800" u="sng"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t/>
              </a:r>
              <a:endParaRPr b="0" i="0" sz="2800" u="sng" cap="none" strike="noStrike">
                <a:solidFill>
                  <a:schemeClr val="dk1"/>
                </a:solidFill>
                <a:latin typeface="Arial"/>
                <a:ea typeface="Arial"/>
                <a:cs typeface="Arial"/>
                <a:sym typeface="Arial"/>
              </a:endParaRPr>
            </a:p>
          </p:txBody>
        </p:sp>
      </p:grpSp>
      <p:grpSp>
        <p:nvGrpSpPr>
          <p:cNvPr id="912" name="Google Shape;912;p53"/>
          <p:cNvGrpSpPr/>
          <p:nvPr/>
        </p:nvGrpSpPr>
        <p:grpSpPr>
          <a:xfrm>
            <a:off x="1959429" y="318833"/>
            <a:ext cx="1453063" cy="737119"/>
            <a:chOff x="2080727" y="858416"/>
            <a:chExt cx="1453063" cy="737119"/>
          </a:xfrm>
        </p:grpSpPr>
        <p:sp>
          <p:nvSpPr>
            <p:cNvPr id="913" name="Google Shape;913;p53"/>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建模後</a:t>
              </a:r>
              <a:endParaRPr b="0" i="0" sz="2400" u="none" cap="none" strike="noStrike">
                <a:solidFill>
                  <a:schemeClr val="dk1"/>
                </a:solidFill>
                <a:latin typeface="Calibri"/>
                <a:ea typeface="Calibri"/>
                <a:cs typeface="Calibri"/>
                <a:sym typeface="Calibri"/>
              </a:endParaRPr>
            </a:p>
          </p:txBody>
        </p:sp>
        <p:sp>
          <p:nvSpPr>
            <p:cNvPr id="914" name="Google Shape;914;p53"/>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915" name="Google Shape;915;p53">
            <a:hlinkClick action="ppaction://hlinksldjump" r:id="rId4"/>
          </p:cNvPr>
          <p:cNvPicPr preferRelativeResize="0"/>
          <p:nvPr/>
        </p:nvPicPr>
        <p:blipFill rotWithShape="1">
          <a:blip r:embed="rId5">
            <a:alphaModFix/>
          </a:blip>
          <a:srcRect b="0" l="0" r="0" t="0"/>
          <a:stretch/>
        </p:blipFill>
        <p:spPr>
          <a:xfrm>
            <a:off x="11435168" y="6142686"/>
            <a:ext cx="756832" cy="715314"/>
          </a:xfrm>
          <a:prstGeom prst="rect">
            <a:avLst/>
          </a:prstGeom>
          <a:noFill/>
          <a:ln>
            <a:noFill/>
          </a:ln>
        </p:spPr>
      </p:pic>
      <p:pic>
        <p:nvPicPr>
          <p:cNvPr id="916" name="Google Shape;916;p53">
            <a:hlinkClick action="ppaction://hlinksldjump" r:id="rId6"/>
          </p:cNvPr>
          <p:cNvPicPr preferRelativeResize="0"/>
          <p:nvPr/>
        </p:nvPicPr>
        <p:blipFill rotWithShape="1">
          <a:blip r:embed="rId7">
            <a:alphaModFix/>
          </a:blip>
          <a:srcRect b="0" l="0" r="0" t="0"/>
          <a:stretch/>
        </p:blipFill>
        <p:spPr>
          <a:xfrm>
            <a:off x="11493294" y="5629439"/>
            <a:ext cx="640579" cy="640579"/>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pic>
        <p:nvPicPr>
          <p:cNvPr id="921" name="Google Shape;921;p54"/>
          <p:cNvPicPr preferRelativeResize="0"/>
          <p:nvPr/>
        </p:nvPicPr>
        <p:blipFill rotWithShape="1">
          <a:blip r:embed="rId3">
            <a:alphaModFix/>
          </a:blip>
          <a:srcRect b="0" l="0" r="0" t="0"/>
          <a:stretch/>
        </p:blipFill>
        <p:spPr>
          <a:xfrm>
            <a:off x="-556388" y="-313384"/>
            <a:ext cx="13304776" cy="7484767"/>
          </a:xfrm>
          <a:prstGeom prst="rect">
            <a:avLst/>
          </a:prstGeom>
          <a:noFill/>
          <a:ln>
            <a:noFill/>
          </a:ln>
        </p:spPr>
      </p:pic>
      <p:sp>
        <p:nvSpPr>
          <p:cNvPr id="922" name="Google Shape;922;p54"/>
          <p:cNvSpPr txBox="1"/>
          <p:nvPr/>
        </p:nvSpPr>
        <p:spPr>
          <a:xfrm>
            <a:off x="4352925" y="562353"/>
            <a:ext cx="3486150"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lt1"/>
                </a:solidFill>
                <a:latin typeface="Microsoft JhengHei"/>
                <a:ea typeface="Microsoft JhengHei"/>
                <a:cs typeface="Microsoft JhengHei"/>
                <a:sym typeface="Microsoft JhengHei"/>
              </a:rPr>
              <a:t>隱私:建模後</a:t>
            </a:r>
            <a:endParaRPr b="0" i="0" sz="1400" u="none" cap="none" strike="noStrike">
              <a:solidFill>
                <a:srgbClr val="000000"/>
              </a:solidFill>
              <a:latin typeface="Arial"/>
              <a:ea typeface="Arial"/>
              <a:cs typeface="Arial"/>
              <a:sym typeface="Arial"/>
            </a:endParaRPr>
          </a:p>
        </p:txBody>
      </p:sp>
      <p:pic>
        <p:nvPicPr>
          <p:cNvPr id="923" name="Google Shape;923;p54">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pic>
        <p:nvPicPr>
          <p:cNvPr id="924" name="Google Shape;924;p54">
            <a:hlinkClick action="ppaction://hlinksldjump" r:id="rId6"/>
          </p:cNvPr>
          <p:cNvPicPr preferRelativeResize="0"/>
          <p:nvPr/>
        </p:nvPicPr>
        <p:blipFill rotWithShape="1">
          <a:blip r:embed="rId7">
            <a:alphaModFix/>
          </a:blip>
          <a:srcRect b="0" l="0" r="0" t="0"/>
          <a:stretch/>
        </p:blipFill>
        <p:spPr>
          <a:xfrm>
            <a:off x="3394498" y="4046029"/>
            <a:ext cx="2825865" cy="1591200"/>
          </a:xfrm>
          <a:prstGeom prst="rect">
            <a:avLst/>
          </a:prstGeom>
          <a:noFill/>
          <a:ln>
            <a:noFill/>
          </a:ln>
          <a:effectLst>
            <a:outerShdw blurRad="50800" rotWithShape="0" algn="tl" dir="2700000" dist="38100">
              <a:srgbClr val="000000">
                <a:alpha val="40000"/>
              </a:srgbClr>
            </a:outerShdw>
          </a:effectLst>
        </p:spPr>
      </p:pic>
      <p:pic>
        <p:nvPicPr>
          <p:cNvPr id="925" name="Google Shape;925;p54">
            <a:hlinkClick action="ppaction://hlinksldjump" r:id="rId8"/>
          </p:cNvPr>
          <p:cNvPicPr preferRelativeResize="0"/>
          <p:nvPr/>
        </p:nvPicPr>
        <p:blipFill rotWithShape="1">
          <a:blip r:embed="rId9">
            <a:alphaModFix/>
          </a:blip>
          <a:srcRect b="0" l="0" r="0" t="0"/>
          <a:stretch/>
        </p:blipFill>
        <p:spPr>
          <a:xfrm>
            <a:off x="6096000" y="4046029"/>
            <a:ext cx="2827517" cy="1591200"/>
          </a:xfrm>
          <a:prstGeom prst="rect">
            <a:avLst/>
          </a:prstGeom>
          <a:noFill/>
          <a:ln>
            <a:noFill/>
          </a:ln>
          <a:effectLst>
            <a:outerShdw blurRad="50800" rotWithShape="0" algn="tl" dir="2700000" dist="38100">
              <a:srgbClr val="000000">
                <a:alpha val="40000"/>
              </a:srgbClr>
            </a:outerShdw>
          </a:effectLst>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pic>
        <p:nvPicPr>
          <p:cNvPr id="930" name="Google Shape;930;p55"/>
          <p:cNvPicPr preferRelativeResize="0"/>
          <p:nvPr/>
        </p:nvPicPr>
        <p:blipFill rotWithShape="1">
          <a:blip r:embed="rId3">
            <a:alphaModFix/>
          </a:blip>
          <a:srcRect b="0" l="0" r="0" t="0"/>
          <a:stretch/>
        </p:blipFill>
        <p:spPr>
          <a:xfrm>
            <a:off x="-674511" y="-379413"/>
            <a:ext cx="13541022" cy="7616825"/>
          </a:xfrm>
          <a:prstGeom prst="rect">
            <a:avLst/>
          </a:prstGeom>
          <a:noFill/>
          <a:ln>
            <a:noFill/>
          </a:ln>
        </p:spPr>
      </p:pic>
      <p:grpSp>
        <p:nvGrpSpPr>
          <p:cNvPr id="931" name="Google Shape;931;p55"/>
          <p:cNvGrpSpPr/>
          <p:nvPr/>
        </p:nvGrpSpPr>
        <p:grpSpPr>
          <a:xfrm>
            <a:off x="3900704" y="1273535"/>
            <a:ext cx="6447454" cy="5016758"/>
            <a:chOff x="3785112" y="1683246"/>
            <a:chExt cx="6447454" cy="5016758"/>
          </a:xfrm>
        </p:grpSpPr>
        <p:sp>
          <p:nvSpPr>
            <p:cNvPr id="932" name="Google Shape;932;p55"/>
            <p:cNvSpPr txBox="1"/>
            <p:nvPr/>
          </p:nvSpPr>
          <p:spPr>
            <a:xfrm>
              <a:off x="3785112" y="1683246"/>
              <a:ext cx="6447454" cy="501675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個資管理機制:</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隱私與個人資料管理機制是否持續運作？</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just">
                <a:lnSpc>
                  <a:spcPct val="100000"/>
                </a:lnSpc>
                <a:spcBef>
                  <a:spcPts val="0"/>
                </a:spcBef>
                <a:spcAft>
                  <a:spcPts val="0"/>
                </a:spcAft>
                <a:buClr>
                  <a:srgbClr val="000000"/>
                </a:buClr>
                <a:buSzPts val="1800"/>
                <a:buFont typeface="Arial"/>
                <a:buNone/>
              </a:pPr>
              <a:r>
                <a:rPr b="0" i="0" lang="zh-TW" sz="1800" u="none" cap="none" strike="noStrike">
                  <a:solidFill>
                    <a:srgbClr val="713613"/>
                  </a:solidFill>
                  <a:latin typeface="Microsoft JhengHei"/>
                  <a:ea typeface="Microsoft JhengHei"/>
                  <a:cs typeface="Microsoft JhengHei"/>
                  <a:sym typeface="Microsoft JhengHei"/>
                </a:rPr>
                <a:t>（例如:個資蒐集、處理、利用之內部管理程序、資料近用與修改權限控管、使用紀錄、軌跡資料、證據保存等等）</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just">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資料當事人的權利:</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資料當事人權利保護機制是否持續運作？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0" i="0" lang="zh-TW" sz="1800" u="none" cap="none" strike="noStrike">
                  <a:solidFill>
                    <a:srgbClr val="713613"/>
                  </a:solidFill>
                  <a:latin typeface="Microsoft JhengHei"/>
                  <a:ea typeface="Microsoft JhengHei"/>
                  <a:cs typeface="Microsoft JhengHei"/>
                  <a:sym typeface="Microsoft JhengHei"/>
                </a:rPr>
                <a:t>（例如:持續可以讓資料當事人有撤回同意、選擇退出（opt-out）或資料刪除的機會）</a:t>
              </a:r>
              <a:endParaRPr b="0" i="0" sz="1800" u="none" cap="none" strike="noStrike">
                <a:solidFill>
                  <a:srgbClr val="713613"/>
                </a:solidFill>
                <a:latin typeface="Microsoft JhengHei"/>
                <a:ea typeface="Microsoft JhengHei"/>
                <a:cs typeface="Microsoft JhengHei"/>
                <a:sym typeface="Microsoft JhengHei"/>
              </a:endParaRPr>
            </a:p>
            <a:p>
              <a:pPr indent="0" lvl="0" marL="0" marR="0" rtl="0" algn="just">
                <a:lnSpc>
                  <a:spcPct val="10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just">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危機管理機制:</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危機管理機制是否持續運作？</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just">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個資保護知識傳遞:</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是否告知AI模型使用者有關隱私與個資保護相關事項</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br>
                <a:rPr b="1" i="0" lang="zh-TW" sz="1800" u="none" cap="none" strike="noStrike">
                  <a:solidFill>
                    <a:schemeClr val="dk1"/>
                  </a:solidFill>
                  <a:latin typeface="Microsoft JhengHei"/>
                  <a:ea typeface="Microsoft JhengHei"/>
                  <a:cs typeface="Microsoft JhengHei"/>
                  <a:sym typeface="Microsoft JhengHei"/>
                </a:rPr>
              </a:br>
              <a:endParaRPr b="1" i="0" sz="1800" u="none" cap="none" strike="noStrike">
                <a:solidFill>
                  <a:schemeClr val="dk1"/>
                </a:solidFill>
                <a:latin typeface="Microsoft JhengHei"/>
                <a:ea typeface="Microsoft JhengHei"/>
                <a:cs typeface="Microsoft JhengHei"/>
                <a:sym typeface="Microsoft JhengHei"/>
              </a:endParaRPr>
            </a:p>
          </p:txBody>
        </p:sp>
        <p:cxnSp>
          <p:nvCxnSpPr>
            <p:cNvPr id="933" name="Google Shape;933;p55"/>
            <p:cNvCxnSpPr/>
            <p:nvPr/>
          </p:nvCxnSpPr>
          <p:spPr>
            <a:xfrm>
              <a:off x="3850427" y="2978952"/>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934" name="Google Shape;934;p55"/>
            <p:cNvCxnSpPr/>
            <p:nvPr/>
          </p:nvCxnSpPr>
          <p:spPr>
            <a:xfrm>
              <a:off x="3841096" y="4449298"/>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935" name="Google Shape;935;p55"/>
            <p:cNvCxnSpPr/>
            <p:nvPr/>
          </p:nvCxnSpPr>
          <p:spPr>
            <a:xfrm>
              <a:off x="3850427" y="5342701"/>
              <a:ext cx="62071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936" name="Google Shape;936;p55"/>
          <p:cNvGrpSpPr/>
          <p:nvPr/>
        </p:nvGrpSpPr>
        <p:grpSpPr>
          <a:xfrm>
            <a:off x="1226351" y="2737231"/>
            <a:ext cx="2674353" cy="1338824"/>
            <a:chOff x="1469994" y="3089808"/>
            <a:chExt cx="2674353" cy="1338824"/>
          </a:xfrm>
        </p:grpSpPr>
        <p:sp>
          <p:nvSpPr>
            <p:cNvPr id="937" name="Google Shape;937;p55"/>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隱私</a:t>
              </a:r>
              <a:endParaRPr b="0" i="0" sz="1400" u="none" cap="none" strike="noStrike">
                <a:solidFill>
                  <a:srgbClr val="000000"/>
                </a:solidFill>
                <a:latin typeface="Arial"/>
                <a:ea typeface="Arial"/>
                <a:cs typeface="Arial"/>
                <a:sym typeface="Arial"/>
              </a:endParaRPr>
            </a:p>
          </p:txBody>
        </p:sp>
        <p:sp>
          <p:nvSpPr>
            <p:cNvPr id="938" name="Google Shape;938;p55"/>
            <p:cNvSpPr txBox="1"/>
            <p:nvPr/>
          </p:nvSpPr>
          <p:spPr>
            <a:xfrm>
              <a:off x="1625995" y="3089808"/>
              <a:ext cx="1980196"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CFA779"/>
                  </a:solidFill>
                  <a:latin typeface="Arial"/>
                  <a:ea typeface="Arial"/>
                  <a:cs typeface="Arial"/>
                  <a:sym typeface="Arial"/>
                </a:rPr>
                <a:t>P</a:t>
              </a:r>
              <a:r>
                <a:rPr b="1" i="0" lang="zh-TW" sz="2800" u="sng" cap="none" strike="noStrike">
                  <a:solidFill>
                    <a:schemeClr val="dk1"/>
                  </a:solidFill>
                  <a:latin typeface="Arial"/>
                  <a:ea typeface="Arial"/>
                  <a:cs typeface="Arial"/>
                  <a:sym typeface="Arial"/>
                </a:rPr>
                <a:t>rivacy</a:t>
              </a:r>
              <a:endParaRPr b="0" i="0" sz="2800" u="sng" cap="none" strike="noStrike">
                <a:solidFill>
                  <a:schemeClr val="dk1"/>
                </a:solidFill>
                <a:latin typeface="Arial"/>
                <a:ea typeface="Arial"/>
                <a:cs typeface="Arial"/>
                <a:sym typeface="Arial"/>
              </a:endParaRPr>
            </a:p>
          </p:txBody>
        </p:sp>
      </p:grpSp>
      <p:pic>
        <p:nvPicPr>
          <p:cNvPr id="939" name="Google Shape;939;p55">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940" name="Google Shape;940;p55"/>
          <p:cNvGrpSpPr/>
          <p:nvPr/>
        </p:nvGrpSpPr>
        <p:grpSpPr>
          <a:xfrm>
            <a:off x="1836995" y="368986"/>
            <a:ext cx="1453063" cy="737119"/>
            <a:chOff x="2080727" y="858416"/>
            <a:chExt cx="1453063" cy="737119"/>
          </a:xfrm>
        </p:grpSpPr>
        <p:sp>
          <p:nvSpPr>
            <p:cNvPr id="941" name="Google Shape;941;p55"/>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建模後</a:t>
              </a:r>
              <a:endParaRPr b="0" i="0" sz="2400" u="none" cap="none" strike="noStrike">
                <a:solidFill>
                  <a:schemeClr val="dk1"/>
                </a:solidFill>
                <a:latin typeface="Calibri"/>
                <a:ea typeface="Calibri"/>
                <a:cs typeface="Calibri"/>
                <a:sym typeface="Calibri"/>
              </a:endParaRPr>
            </a:p>
          </p:txBody>
        </p:sp>
        <p:sp>
          <p:nvSpPr>
            <p:cNvPr id="942" name="Google Shape;942;p55"/>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943" name="Google Shape;943;p55">
            <a:hlinkClick action="ppaction://hlinksldjump" r:id="rId6"/>
          </p:cNvPr>
          <p:cNvPicPr preferRelativeResize="0"/>
          <p:nvPr/>
        </p:nvPicPr>
        <p:blipFill rotWithShape="1">
          <a:blip r:embed="rId7">
            <a:alphaModFix/>
          </a:blip>
          <a:srcRect b="0" l="0" r="0" t="0"/>
          <a:stretch/>
        </p:blipFill>
        <p:spPr>
          <a:xfrm>
            <a:off x="11452603" y="2241081"/>
            <a:ext cx="579836" cy="2534627"/>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pic>
        <p:nvPicPr>
          <p:cNvPr id="948" name="Google Shape;948;p5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49" name="Google Shape;949;p56"/>
          <p:cNvSpPr txBox="1"/>
          <p:nvPr/>
        </p:nvSpPr>
        <p:spPr>
          <a:xfrm>
            <a:off x="3986310" y="1749916"/>
            <a:ext cx="6097554" cy="410407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法律與倫理問題</a:t>
            </a:r>
            <a:endParaRPr b="1" i="0" sz="2000" u="none" cap="none" strike="noStrike">
              <a:solidFill>
                <a:schemeClr val="dk1"/>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因無去識別化（不清楚是否能還原，因此視為個資），故未來揭露的時候，應模糊化或去識別化，使其符合揭露方式，無從識別特定當事人之法定要件。</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若為間接蒐集資料，需依照個人資料保護法第9條之規定：需要向當事人（個資主體）告知。</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600"/>
              <a:buFont typeface="Arial"/>
              <a:buNone/>
            </a:pPr>
            <a:r>
              <a:rPr b="1" i="0" lang="zh-TW" sz="1600" u="none" cap="none" strike="noStrike">
                <a:solidFill>
                  <a:schemeClr val="dk1"/>
                </a:solidFill>
                <a:latin typeface="Microsoft JhengHei"/>
                <a:ea typeface="Microsoft JhengHei"/>
                <a:cs typeface="Microsoft JhengHei"/>
                <a:sym typeface="Microsoft JhengHei"/>
              </a:rPr>
              <a:t>(請參照個人資料保護法第9條第1項、第2項第4款)</a:t>
            </a:r>
            <a:endParaRPr b="1" i="0" sz="1600" u="none" cap="none" strike="noStrike">
              <a:solidFill>
                <a:schemeClr val="dk1"/>
              </a:solidFill>
              <a:latin typeface="Microsoft JhengHei"/>
              <a:ea typeface="Microsoft JhengHei"/>
              <a:cs typeface="Microsoft JhengHei"/>
              <a:sym typeface="Microsoft JhengHei"/>
            </a:endParaRPr>
          </a:p>
        </p:txBody>
      </p:sp>
      <p:grpSp>
        <p:nvGrpSpPr>
          <p:cNvPr id="950" name="Google Shape;950;p56"/>
          <p:cNvGrpSpPr/>
          <p:nvPr/>
        </p:nvGrpSpPr>
        <p:grpSpPr>
          <a:xfrm>
            <a:off x="1581951" y="2759588"/>
            <a:ext cx="2674353" cy="1338824"/>
            <a:chOff x="1469994" y="3089808"/>
            <a:chExt cx="2674353" cy="1338824"/>
          </a:xfrm>
        </p:grpSpPr>
        <p:sp>
          <p:nvSpPr>
            <p:cNvPr id="951" name="Google Shape;951;p56"/>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隱私</a:t>
              </a:r>
              <a:endParaRPr b="0" i="0" sz="1400" u="none" cap="none" strike="noStrike">
                <a:solidFill>
                  <a:srgbClr val="000000"/>
                </a:solidFill>
                <a:latin typeface="Arial"/>
                <a:ea typeface="Arial"/>
                <a:cs typeface="Arial"/>
                <a:sym typeface="Arial"/>
              </a:endParaRPr>
            </a:p>
          </p:txBody>
        </p:sp>
        <p:sp>
          <p:nvSpPr>
            <p:cNvPr id="952" name="Google Shape;952;p56"/>
            <p:cNvSpPr txBox="1"/>
            <p:nvPr/>
          </p:nvSpPr>
          <p:spPr>
            <a:xfrm>
              <a:off x="1625403" y="3089808"/>
              <a:ext cx="1980787"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CFA779"/>
                  </a:solidFill>
                  <a:latin typeface="Arial"/>
                  <a:ea typeface="Arial"/>
                  <a:cs typeface="Arial"/>
                  <a:sym typeface="Arial"/>
                </a:rPr>
                <a:t>P</a:t>
              </a:r>
              <a:r>
                <a:rPr b="1" i="0" lang="zh-TW" sz="2800" u="sng" cap="none" strike="noStrike">
                  <a:solidFill>
                    <a:schemeClr val="dk1"/>
                  </a:solidFill>
                  <a:latin typeface="Arial"/>
                  <a:ea typeface="Arial"/>
                  <a:cs typeface="Arial"/>
                  <a:sym typeface="Arial"/>
                </a:rPr>
                <a:t>rivacy</a:t>
              </a:r>
              <a:endParaRPr b="0" i="0" sz="2800" u="sng" cap="none" strike="noStrike">
                <a:solidFill>
                  <a:schemeClr val="dk1"/>
                </a:solidFill>
                <a:latin typeface="Arial"/>
                <a:ea typeface="Arial"/>
                <a:cs typeface="Arial"/>
                <a:sym typeface="Arial"/>
              </a:endParaRPr>
            </a:p>
          </p:txBody>
        </p:sp>
      </p:grpSp>
      <p:grpSp>
        <p:nvGrpSpPr>
          <p:cNvPr id="953" name="Google Shape;953;p56"/>
          <p:cNvGrpSpPr/>
          <p:nvPr/>
        </p:nvGrpSpPr>
        <p:grpSpPr>
          <a:xfrm>
            <a:off x="1950098" y="682731"/>
            <a:ext cx="1453063" cy="737119"/>
            <a:chOff x="2080727" y="858416"/>
            <a:chExt cx="1453063" cy="737119"/>
          </a:xfrm>
        </p:grpSpPr>
        <p:sp>
          <p:nvSpPr>
            <p:cNvPr id="954" name="Google Shape;954;p56"/>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建模後</a:t>
              </a:r>
              <a:endParaRPr b="0" i="0" sz="2400" u="none" cap="none" strike="noStrike">
                <a:solidFill>
                  <a:schemeClr val="dk1"/>
                </a:solidFill>
                <a:latin typeface="Calibri"/>
                <a:ea typeface="Calibri"/>
                <a:cs typeface="Calibri"/>
                <a:sym typeface="Calibri"/>
              </a:endParaRPr>
            </a:p>
          </p:txBody>
        </p:sp>
        <p:sp>
          <p:nvSpPr>
            <p:cNvPr id="955" name="Google Shape;955;p56"/>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956" name="Google Shape;956;p56">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pic>
        <p:nvPicPr>
          <p:cNvPr id="957" name="Google Shape;957;p56">
            <a:hlinkClick action="ppaction://hlinksldjump" r:id="rId6"/>
          </p:cNvPr>
          <p:cNvPicPr preferRelativeResize="0"/>
          <p:nvPr/>
        </p:nvPicPr>
        <p:blipFill rotWithShape="1">
          <a:blip r:embed="rId7">
            <a:alphaModFix/>
          </a:blip>
          <a:srcRect b="0" l="0" r="0" t="0"/>
          <a:stretch/>
        </p:blipFill>
        <p:spPr>
          <a:xfrm>
            <a:off x="11388564" y="5561044"/>
            <a:ext cx="631939" cy="631939"/>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pic>
        <p:nvPicPr>
          <p:cNvPr id="962" name="Google Shape;962;p57"/>
          <p:cNvPicPr preferRelativeResize="0"/>
          <p:nvPr/>
        </p:nvPicPr>
        <p:blipFill rotWithShape="1">
          <a:blip r:embed="rId3">
            <a:alphaModFix/>
          </a:blip>
          <a:srcRect b="0" l="0" r="0" t="0"/>
          <a:stretch/>
        </p:blipFill>
        <p:spPr>
          <a:xfrm>
            <a:off x="-577850" y="-325041"/>
            <a:ext cx="13347700" cy="7508081"/>
          </a:xfrm>
          <a:prstGeom prst="rect">
            <a:avLst/>
          </a:prstGeom>
          <a:noFill/>
          <a:ln>
            <a:noFill/>
          </a:ln>
        </p:spPr>
      </p:pic>
      <p:grpSp>
        <p:nvGrpSpPr>
          <p:cNvPr id="963" name="Google Shape;963;p57"/>
          <p:cNvGrpSpPr/>
          <p:nvPr/>
        </p:nvGrpSpPr>
        <p:grpSpPr>
          <a:xfrm>
            <a:off x="3794819" y="1167478"/>
            <a:ext cx="6926713" cy="4965462"/>
            <a:chOff x="3843706" y="1305958"/>
            <a:chExt cx="6926713" cy="4965462"/>
          </a:xfrm>
        </p:grpSpPr>
        <p:sp>
          <p:nvSpPr>
            <p:cNvPr id="964" name="Google Shape;964;p57"/>
            <p:cNvSpPr txBox="1"/>
            <p:nvPr/>
          </p:nvSpPr>
          <p:spPr>
            <a:xfrm>
              <a:off x="3843706" y="1305958"/>
              <a:ext cx="6926713" cy="49654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AI結果偏誤:</a:t>
              </a:r>
              <a:endParaRPr b="0" i="0" sz="1400" u="none" cap="none" strike="noStrike">
                <a:solidFill>
                  <a:srgbClr val="000000"/>
                </a:solidFill>
                <a:latin typeface="Arial"/>
                <a:ea typeface="Arial"/>
                <a:cs typeface="Arial"/>
                <a:sym typeface="Arial"/>
              </a:endParaRPr>
            </a:p>
            <a:p>
              <a:pPr indent="0" lvl="0" marL="0" marR="0" rtl="0" algn="l">
                <a:lnSpc>
                  <a:spcPct val="111111"/>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是否確定AI輸出結果不會造成群體偏差</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11111"/>
                </a:lnSpc>
                <a:spcBef>
                  <a:spcPts val="0"/>
                </a:spcBef>
                <a:spcAft>
                  <a:spcPts val="0"/>
                </a:spcAft>
                <a:buClr>
                  <a:srgbClr val="000000"/>
                </a:buClr>
                <a:buSzPts val="1800"/>
                <a:buFont typeface="Arial"/>
                <a:buNone/>
              </a:pPr>
              <a:r>
                <a:rPr b="0" i="0" lang="zh-TW" sz="1800" u="none" cap="none" strike="noStrike">
                  <a:solidFill>
                    <a:srgbClr val="713613"/>
                  </a:solidFill>
                  <a:latin typeface="Microsoft JhengHei"/>
                  <a:ea typeface="Microsoft JhengHei"/>
                  <a:cs typeface="Microsoft JhengHei"/>
                  <a:sym typeface="Microsoft JhengHei"/>
                </a:rPr>
                <a:t>（例如:空拍影像集中於特定區域蒐集，導致其他區域的空拍影像辨識度較差）</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偏差處理機制:</a:t>
              </a:r>
              <a:endParaRPr b="0" i="0" sz="1400" u="none" cap="none" strike="noStrike">
                <a:solidFill>
                  <a:srgbClr val="000000"/>
                </a:solidFill>
                <a:latin typeface="Arial"/>
                <a:ea typeface="Arial"/>
                <a:cs typeface="Arial"/>
                <a:sym typeface="Arial"/>
              </a:endParaRPr>
            </a:p>
            <a:p>
              <a:pPr indent="0" lvl="0" marL="0" marR="0" rtl="0" algn="l">
                <a:lnSpc>
                  <a:spcPct val="111111"/>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有關AI結果出現偏誤時的通報管道是否仍舊保持暢通？</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11111"/>
                </a:lnSpc>
                <a:spcBef>
                  <a:spcPts val="0"/>
                </a:spcBef>
                <a:spcAft>
                  <a:spcPts val="0"/>
                </a:spcAft>
                <a:buClr>
                  <a:srgbClr val="000000"/>
                </a:buClr>
                <a:buSzPts val="1800"/>
                <a:buFont typeface="Arial"/>
                <a:buNone/>
              </a:pPr>
              <a:r>
                <a:rPr b="0" i="0" lang="zh-TW" sz="1800" u="none" cap="none" strike="noStrike">
                  <a:solidFill>
                    <a:srgbClr val="713613"/>
                  </a:solidFill>
                  <a:latin typeface="Microsoft JhengHei"/>
                  <a:ea typeface="Microsoft JhengHei"/>
                  <a:cs typeface="Microsoft JhengHei"/>
                  <a:sym typeface="Microsoft JhengHei"/>
                </a:rPr>
                <a:t>（例如:如何通報，向誰通報，以及後續的處理方式）</a:t>
              </a:r>
              <a:endParaRPr b="0" i="0" sz="1400" u="none" cap="none" strike="noStrike">
                <a:solidFill>
                  <a:srgbClr val="000000"/>
                </a:solidFill>
                <a:latin typeface="Arial"/>
                <a:ea typeface="Arial"/>
                <a:cs typeface="Arial"/>
                <a:sym typeface="Arial"/>
              </a:endParaRPr>
            </a:p>
            <a:p>
              <a:pPr indent="0" lvl="0" marL="0" marR="0" rtl="0" algn="l">
                <a:lnSpc>
                  <a:spcPct val="111111"/>
                </a:lnSpc>
                <a:spcBef>
                  <a:spcPts val="0"/>
                </a:spcBef>
                <a:spcAft>
                  <a:spcPts val="0"/>
                </a:spcAft>
                <a:buClr>
                  <a:srgbClr val="000000"/>
                </a:buClr>
                <a:buSzPts val="1800"/>
                <a:buFont typeface="Arial"/>
                <a:buNone/>
              </a:pPr>
              <a:r>
                <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教育AI使用者:</a:t>
              </a:r>
              <a:endParaRPr b="0" i="0" sz="1400" u="none" cap="none" strike="noStrike">
                <a:solidFill>
                  <a:srgbClr val="000000"/>
                </a:solidFill>
                <a:latin typeface="Arial"/>
                <a:ea typeface="Arial"/>
                <a:cs typeface="Arial"/>
                <a:sym typeface="Arial"/>
              </a:endParaRPr>
            </a:p>
            <a:p>
              <a:pPr indent="0" lvl="0" marL="0" marR="0" rtl="0" algn="l">
                <a:lnSpc>
                  <a:spcPct val="111111"/>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是否教育使用者如何監控AI決策的可能偏誤？</a:t>
              </a:r>
              <a:endParaRPr b="0" i="0" sz="1400" u="none" cap="none" strike="noStrike">
                <a:solidFill>
                  <a:srgbClr val="000000"/>
                </a:solidFill>
                <a:latin typeface="Arial"/>
                <a:ea typeface="Arial"/>
                <a:cs typeface="Arial"/>
                <a:sym typeface="Arial"/>
              </a:endParaRPr>
            </a:p>
            <a:p>
              <a:pPr indent="0" lvl="0" marL="0" marR="0" rtl="0" algn="l">
                <a:lnSpc>
                  <a:spcPct val="111111"/>
                </a:lnSpc>
                <a:spcBef>
                  <a:spcPts val="0"/>
                </a:spcBef>
                <a:spcAft>
                  <a:spcPts val="0"/>
                </a:spcAft>
                <a:buClr>
                  <a:srgbClr val="000000"/>
                </a:buClr>
                <a:buSzPts val="1800"/>
                <a:buFont typeface="Arial"/>
                <a:buNone/>
              </a:pPr>
              <a:r>
                <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利害關係者:</a:t>
              </a:r>
              <a:endParaRPr b="0" i="0" sz="1400" u="none" cap="none" strike="noStrike">
                <a:solidFill>
                  <a:srgbClr val="000000"/>
                </a:solidFill>
                <a:latin typeface="Arial"/>
                <a:ea typeface="Arial"/>
                <a:cs typeface="Arial"/>
                <a:sym typeface="Arial"/>
              </a:endParaRPr>
            </a:p>
            <a:p>
              <a:pPr indent="0" lvl="0" marL="0" marR="0" rtl="0" algn="l">
                <a:lnSpc>
                  <a:spcPct val="111111"/>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使用者之外，AI模型的決策是否還會間接影響到其他利害關係人？</a:t>
              </a:r>
              <a:endParaRPr b="1" i="0" sz="1800" u="none" cap="none" strike="noStrike">
                <a:solidFill>
                  <a:schemeClr val="dk1"/>
                </a:solidFill>
                <a:latin typeface="Microsoft JhengHei"/>
                <a:ea typeface="Microsoft JhengHei"/>
                <a:cs typeface="Microsoft JhengHei"/>
                <a:sym typeface="Microsoft JhengHei"/>
              </a:endParaRPr>
            </a:p>
            <a:p>
              <a:pPr indent="0" lvl="0" marL="0" marR="0" rtl="0" algn="l">
                <a:lnSpc>
                  <a:spcPct val="111111"/>
                </a:lnSpc>
                <a:spcBef>
                  <a:spcPts val="0"/>
                </a:spcBef>
                <a:spcAft>
                  <a:spcPts val="0"/>
                </a:spcAft>
                <a:buClr>
                  <a:srgbClr val="000000"/>
                </a:buClr>
                <a:buSzPts val="1800"/>
                <a:buFont typeface="Arial"/>
                <a:buNone/>
              </a:pPr>
              <a:r>
                <a:rPr b="0" i="0" lang="zh-TW" sz="1800" u="none" cap="none" strike="noStrike">
                  <a:solidFill>
                    <a:srgbClr val="713613"/>
                  </a:solidFill>
                  <a:latin typeface="Microsoft JhengHei"/>
                  <a:ea typeface="Microsoft JhengHei"/>
                  <a:cs typeface="Microsoft JhengHei"/>
                  <a:sym typeface="Microsoft JhengHei"/>
                </a:rPr>
                <a:t>（例如:政府環保部門使用AI模型辨識結果檢舉污染者）</a:t>
              </a:r>
              <a:endParaRPr b="0" i="0" sz="1800" u="none" cap="none" strike="noStrike">
                <a:solidFill>
                  <a:srgbClr val="713613"/>
                </a:solidFill>
                <a:latin typeface="Microsoft JhengHei"/>
                <a:ea typeface="Microsoft JhengHei"/>
                <a:cs typeface="Microsoft JhengHei"/>
                <a:sym typeface="Microsoft JhengHei"/>
              </a:endParaRPr>
            </a:p>
            <a:p>
              <a:pPr indent="0" lvl="0" marL="0" marR="0" rtl="0" algn="l">
                <a:lnSpc>
                  <a:spcPct val="111111"/>
                </a:lnSpc>
                <a:spcBef>
                  <a:spcPts val="0"/>
                </a:spcBef>
                <a:spcAft>
                  <a:spcPts val="0"/>
                </a:spcAft>
                <a:buClr>
                  <a:srgbClr val="000000"/>
                </a:buClr>
                <a:buSzPts val="1800"/>
                <a:buFont typeface="Arial"/>
                <a:buNone/>
              </a:pPr>
              <a:r>
                <a:t/>
              </a:r>
              <a:endParaRPr b="0" i="0" sz="1800" u="none" cap="none" strike="noStrike">
                <a:solidFill>
                  <a:srgbClr val="A5A5A5"/>
                </a:solidFill>
                <a:latin typeface="Microsoft JhengHei"/>
                <a:ea typeface="Microsoft JhengHei"/>
                <a:cs typeface="Microsoft JhengHei"/>
                <a:sym typeface="Microsoft JhengHei"/>
              </a:endParaRPr>
            </a:p>
            <a:p>
              <a:pPr indent="0" lvl="0" marL="0" marR="0" rtl="0" algn="l">
                <a:lnSpc>
                  <a:spcPct val="10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矯正不正義:</a:t>
              </a:r>
              <a:endParaRPr b="0" i="0" sz="1400" u="none" cap="none" strike="noStrike">
                <a:solidFill>
                  <a:srgbClr val="000000"/>
                </a:solidFill>
                <a:latin typeface="Arial"/>
                <a:ea typeface="Arial"/>
                <a:cs typeface="Arial"/>
                <a:sym typeface="Arial"/>
              </a:endParaRPr>
            </a:p>
            <a:p>
              <a:pPr indent="0" lvl="0" marL="0" marR="0" rtl="0" algn="l">
                <a:lnSpc>
                  <a:spcPct val="111111"/>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是否已有機制矯正利害關係者因AI模型之決策而導致的不公平待遇？</a:t>
              </a:r>
              <a:endParaRPr b="0" i="0" sz="1400" u="none" cap="none" strike="noStrike">
                <a:solidFill>
                  <a:srgbClr val="000000"/>
                </a:solidFill>
                <a:latin typeface="Arial"/>
                <a:ea typeface="Arial"/>
                <a:cs typeface="Arial"/>
                <a:sym typeface="Arial"/>
              </a:endParaRPr>
            </a:p>
            <a:p>
              <a:pPr indent="0" lvl="0" marL="0" marR="0" rtl="0" algn="l">
                <a:lnSpc>
                  <a:spcPct val="111111"/>
                </a:lnSpc>
                <a:spcBef>
                  <a:spcPts val="0"/>
                </a:spcBef>
                <a:spcAft>
                  <a:spcPts val="0"/>
                </a:spcAft>
                <a:buClr>
                  <a:srgbClr val="000000"/>
                </a:buClr>
                <a:buSzPts val="1800"/>
                <a:buFont typeface="Arial"/>
                <a:buNone/>
              </a:pPr>
              <a:r>
                <a:t/>
              </a:r>
              <a:endParaRPr b="0" i="0" sz="1800" u="none" cap="none" strike="noStrike">
                <a:solidFill>
                  <a:srgbClr val="A5A5A5"/>
                </a:solidFill>
                <a:latin typeface="Microsoft JhengHei"/>
                <a:ea typeface="Microsoft JhengHei"/>
                <a:cs typeface="Microsoft JhengHei"/>
                <a:sym typeface="Microsoft JhengHei"/>
              </a:endParaRPr>
            </a:p>
          </p:txBody>
        </p:sp>
        <p:cxnSp>
          <p:nvCxnSpPr>
            <p:cNvPr id="965" name="Google Shape;965;p57"/>
            <p:cNvCxnSpPr/>
            <p:nvPr/>
          </p:nvCxnSpPr>
          <p:spPr>
            <a:xfrm>
              <a:off x="3926629" y="2437469"/>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966" name="Google Shape;966;p57"/>
            <p:cNvCxnSpPr/>
            <p:nvPr/>
          </p:nvCxnSpPr>
          <p:spPr>
            <a:xfrm>
              <a:off x="3917298" y="3498984"/>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967" name="Google Shape;967;p57"/>
            <p:cNvCxnSpPr/>
            <p:nvPr/>
          </p:nvCxnSpPr>
          <p:spPr>
            <a:xfrm>
              <a:off x="3917298" y="4293017"/>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968" name="Google Shape;968;p57"/>
            <p:cNvCxnSpPr/>
            <p:nvPr/>
          </p:nvCxnSpPr>
          <p:spPr>
            <a:xfrm>
              <a:off x="3973282" y="5290462"/>
              <a:ext cx="6207190" cy="0"/>
            </a:xfrm>
            <a:prstGeom prst="straightConnector1">
              <a:avLst/>
            </a:prstGeom>
            <a:noFill/>
            <a:ln cap="flat" cmpd="sng" w="9525">
              <a:solidFill>
                <a:schemeClr val="dk1"/>
              </a:solidFill>
              <a:prstDash val="solid"/>
              <a:miter lim="800000"/>
              <a:headEnd len="sm" w="sm" type="none"/>
              <a:tailEnd len="sm" w="sm" type="none"/>
            </a:ln>
          </p:spPr>
        </p:cxnSp>
      </p:grpSp>
      <p:grpSp>
        <p:nvGrpSpPr>
          <p:cNvPr id="969" name="Google Shape;969;p57"/>
          <p:cNvGrpSpPr/>
          <p:nvPr/>
        </p:nvGrpSpPr>
        <p:grpSpPr>
          <a:xfrm>
            <a:off x="1194058" y="2758320"/>
            <a:ext cx="2674353" cy="1341358"/>
            <a:chOff x="1469994" y="3087274"/>
            <a:chExt cx="2674353" cy="1341358"/>
          </a:xfrm>
        </p:grpSpPr>
        <p:sp>
          <p:nvSpPr>
            <p:cNvPr id="970" name="Google Shape;970;p57"/>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公平性</a:t>
              </a:r>
              <a:endParaRPr b="0" i="0" sz="1400" u="none" cap="none" strike="noStrike">
                <a:solidFill>
                  <a:srgbClr val="000000"/>
                </a:solidFill>
                <a:latin typeface="Arial"/>
                <a:ea typeface="Arial"/>
                <a:cs typeface="Arial"/>
                <a:sym typeface="Arial"/>
              </a:endParaRPr>
            </a:p>
          </p:txBody>
        </p:sp>
        <p:sp>
          <p:nvSpPr>
            <p:cNvPr id="971" name="Google Shape;971;p57"/>
            <p:cNvSpPr txBox="1"/>
            <p:nvPr/>
          </p:nvSpPr>
          <p:spPr>
            <a:xfrm>
              <a:off x="1569159" y="3087274"/>
              <a:ext cx="2242311"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B46A62"/>
                  </a:solidFill>
                  <a:latin typeface="Arial"/>
                  <a:ea typeface="Arial"/>
                  <a:cs typeface="Arial"/>
                  <a:sym typeface="Arial"/>
                </a:rPr>
                <a:t>F</a:t>
              </a:r>
              <a:r>
                <a:rPr b="1" i="0" lang="zh-TW" sz="2800" u="sng" cap="none" strike="noStrike">
                  <a:solidFill>
                    <a:schemeClr val="dk1"/>
                  </a:solidFill>
                  <a:latin typeface="Arial"/>
                  <a:ea typeface="Arial"/>
                  <a:cs typeface="Arial"/>
                  <a:sym typeface="Arial"/>
                </a:rPr>
                <a:t>airness</a:t>
              </a:r>
              <a:endParaRPr b="0" i="0" sz="2800" u="sng" cap="none" strike="noStrike">
                <a:solidFill>
                  <a:schemeClr val="dk1"/>
                </a:solidFill>
                <a:latin typeface="Arial"/>
                <a:ea typeface="Arial"/>
                <a:cs typeface="Arial"/>
                <a:sym typeface="Arial"/>
              </a:endParaRPr>
            </a:p>
          </p:txBody>
        </p:sp>
      </p:grpSp>
      <p:pic>
        <p:nvPicPr>
          <p:cNvPr id="972" name="Google Shape;972;p57">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973" name="Google Shape;973;p57"/>
          <p:cNvGrpSpPr/>
          <p:nvPr/>
        </p:nvGrpSpPr>
        <p:grpSpPr>
          <a:xfrm>
            <a:off x="1804702" y="430359"/>
            <a:ext cx="1453063" cy="737119"/>
            <a:chOff x="2080727" y="858416"/>
            <a:chExt cx="1453063" cy="737119"/>
          </a:xfrm>
        </p:grpSpPr>
        <p:sp>
          <p:nvSpPr>
            <p:cNvPr id="974" name="Google Shape;974;p57"/>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建模後</a:t>
              </a:r>
              <a:endParaRPr b="0" i="0" sz="2400" u="none" cap="none" strike="noStrike">
                <a:solidFill>
                  <a:schemeClr val="dk1"/>
                </a:solidFill>
                <a:latin typeface="Calibri"/>
                <a:ea typeface="Calibri"/>
                <a:cs typeface="Calibri"/>
                <a:sym typeface="Calibri"/>
              </a:endParaRPr>
            </a:p>
          </p:txBody>
        </p:sp>
        <p:sp>
          <p:nvSpPr>
            <p:cNvPr id="975" name="Google Shape;975;p57"/>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pic>
        <p:nvPicPr>
          <p:cNvPr id="980" name="Google Shape;980;p58"/>
          <p:cNvPicPr preferRelativeResize="0"/>
          <p:nvPr/>
        </p:nvPicPr>
        <p:blipFill rotWithShape="1">
          <a:blip r:embed="rId3">
            <a:alphaModFix/>
          </a:blip>
          <a:srcRect b="0" l="0" r="0" t="0"/>
          <a:stretch/>
        </p:blipFill>
        <p:spPr>
          <a:xfrm>
            <a:off x="-247650" y="-139303"/>
            <a:ext cx="12687300" cy="7136606"/>
          </a:xfrm>
          <a:prstGeom prst="rect">
            <a:avLst/>
          </a:prstGeom>
          <a:noFill/>
          <a:ln>
            <a:noFill/>
          </a:ln>
        </p:spPr>
      </p:pic>
      <p:grpSp>
        <p:nvGrpSpPr>
          <p:cNvPr id="981" name="Google Shape;981;p58"/>
          <p:cNvGrpSpPr/>
          <p:nvPr/>
        </p:nvGrpSpPr>
        <p:grpSpPr>
          <a:xfrm>
            <a:off x="4239224" y="1560365"/>
            <a:ext cx="6339232" cy="4427238"/>
            <a:chOff x="3926774" y="1699339"/>
            <a:chExt cx="6339232" cy="4427238"/>
          </a:xfrm>
        </p:grpSpPr>
        <p:cxnSp>
          <p:nvCxnSpPr>
            <p:cNvPr id="982" name="Google Shape;982;p58"/>
            <p:cNvCxnSpPr/>
            <p:nvPr/>
          </p:nvCxnSpPr>
          <p:spPr>
            <a:xfrm>
              <a:off x="4058816" y="2845837"/>
              <a:ext cx="6207190" cy="0"/>
            </a:xfrm>
            <a:prstGeom prst="straightConnector1">
              <a:avLst/>
            </a:prstGeom>
            <a:noFill/>
            <a:ln cap="flat" cmpd="sng" w="9525">
              <a:solidFill>
                <a:schemeClr val="dk1"/>
              </a:solidFill>
              <a:prstDash val="solid"/>
              <a:miter lim="800000"/>
              <a:headEnd len="sm" w="sm" type="none"/>
              <a:tailEnd len="sm" w="sm" type="none"/>
            </a:ln>
          </p:spPr>
        </p:cxnSp>
        <p:cxnSp>
          <p:nvCxnSpPr>
            <p:cNvPr id="983" name="Google Shape;983;p58"/>
            <p:cNvCxnSpPr/>
            <p:nvPr/>
          </p:nvCxnSpPr>
          <p:spPr>
            <a:xfrm>
              <a:off x="4058816" y="4217437"/>
              <a:ext cx="6207190" cy="0"/>
            </a:xfrm>
            <a:prstGeom prst="straightConnector1">
              <a:avLst/>
            </a:prstGeom>
            <a:noFill/>
            <a:ln cap="flat" cmpd="sng" w="9525">
              <a:solidFill>
                <a:schemeClr val="dk1"/>
              </a:solidFill>
              <a:prstDash val="solid"/>
              <a:miter lim="800000"/>
              <a:headEnd len="sm" w="sm" type="none"/>
              <a:tailEnd len="sm" w="sm" type="none"/>
            </a:ln>
          </p:spPr>
        </p:cxnSp>
        <p:sp>
          <p:nvSpPr>
            <p:cNvPr id="984" name="Google Shape;984;p58"/>
            <p:cNvSpPr txBox="1"/>
            <p:nvPr/>
          </p:nvSpPr>
          <p:spPr>
            <a:xfrm>
              <a:off x="3926774" y="1699339"/>
              <a:ext cx="6097554" cy="4427238"/>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評估資安弱點:</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是否持續進行原定的資安管理程序？</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風險評估:</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是否告知使用者AI模型可能的弱點或漏洞？</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000"/>
                <a:buFont typeface="Arial"/>
                <a:buNone/>
              </a:pPr>
              <a:r>
                <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2000"/>
                <a:buFont typeface="Arial"/>
                <a:buNone/>
              </a:pPr>
              <a:r>
                <a:rPr b="1" i="0" lang="zh-TW" sz="2000" u="none" cap="none" strike="noStrike">
                  <a:solidFill>
                    <a:srgbClr val="FF0000"/>
                  </a:solidFill>
                  <a:latin typeface="Microsoft JhengHei"/>
                  <a:ea typeface="Microsoft JhengHei"/>
                  <a:cs typeface="Microsoft JhengHei"/>
                  <a:sym typeface="Microsoft JhengHei"/>
                </a:rPr>
                <a:t>避免受攻擊:</a:t>
              </a:r>
              <a:endParaRPr b="1" i="0" sz="2000" u="none" cap="none" strike="noStrike">
                <a:solidFill>
                  <a:srgbClr val="FF0000"/>
                </a:solidFill>
                <a:latin typeface="Microsoft JhengHei"/>
                <a:ea typeface="Microsoft JhengHei"/>
                <a:cs typeface="Microsoft JhengHei"/>
                <a:sym typeface="Microsoft JhengHei"/>
              </a:endParaRPr>
            </a:p>
            <a:p>
              <a:pPr indent="0" lvl="0" marL="0" marR="0" rtl="0" algn="l">
                <a:lnSpc>
                  <a:spcPct val="150000"/>
                </a:lnSpc>
                <a:spcBef>
                  <a:spcPts val="0"/>
                </a:spcBef>
                <a:spcAft>
                  <a:spcPts val="0"/>
                </a:spcAft>
                <a:buClr>
                  <a:srgbClr val="000000"/>
                </a:buClr>
                <a:buSzPts val="1800"/>
                <a:buFont typeface="Arial"/>
                <a:buNone/>
              </a:pPr>
              <a:r>
                <a:rPr b="1" i="0" lang="zh-TW" sz="1800" u="none" cap="none" strike="noStrike">
                  <a:solidFill>
                    <a:schemeClr val="dk1"/>
                  </a:solidFill>
                  <a:latin typeface="Microsoft JhengHei"/>
                  <a:ea typeface="Microsoft JhengHei"/>
                  <a:cs typeface="Microsoft JhengHei"/>
                  <a:sym typeface="Microsoft JhengHei"/>
                </a:rPr>
                <a:t>是否告知使用者如何採取必要措施避免AI模型受到外來的攻擊？</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1" i="0" sz="1800" u="none" cap="none" strike="noStrike">
                <a:solidFill>
                  <a:srgbClr val="FF0000"/>
                </a:solidFill>
                <a:latin typeface="Microsoft JhengHei"/>
                <a:ea typeface="Microsoft JhengHei"/>
                <a:cs typeface="Microsoft JhengHei"/>
                <a:sym typeface="Microsoft JhengHei"/>
              </a:endParaRPr>
            </a:p>
          </p:txBody>
        </p:sp>
      </p:grpSp>
      <p:grpSp>
        <p:nvGrpSpPr>
          <p:cNvPr id="985" name="Google Shape;985;p58"/>
          <p:cNvGrpSpPr/>
          <p:nvPr/>
        </p:nvGrpSpPr>
        <p:grpSpPr>
          <a:xfrm>
            <a:off x="1564404" y="2758321"/>
            <a:ext cx="2674353" cy="1341358"/>
            <a:chOff x="1469994" y="3087274"/>
            <a:chExt cx="2674353" cy="1341358"/>
          </a:xfrm>
        </p:grpSpPr>
        <p:sp>
          <p:nvSpPr>
            <p:cNvPr id="986" name="Google Shape;986;p58"/>
            <p:cNvSpPr txBox="1"/>
            <p:nvPr/>
          </p:nvSpPr>
          <p:spPr>
            <a:xfrm>
              <a:off x="1469994" y="4028522"/>
              <a:ext cx="2674353"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zh-TW" sz="2000" u="none" cap="none" strike="noStrike">
                  <a:solidFill>
                    <a:schemeClr val="dk1"/>
                  </a:solidFill>
                  <a:latin typeface="Microsoft JhengHei"/>
                  <a:ea typeface="Microsoft JhengHei"/>
                  <a:cs typeface="Microsoft JhengHei"/>
                  <a:sym typeface="Microsoft JhengHei"/>
                </a:rPr>
                <a:t>資訊安全</a:t>
              </a:r>
              <a:endParaRPr b="0" i="0" sz="1400" u="none" cap="none" strike="noStrike">
                <a:solidFill>
                  <a:srgbClr val="000000"/>
                </a:solidFill>
                <a:latin typeface="Arial"/>
                <a:ea typeface="Arial"/>
                <a:cs typeface="Arial"/>
                <a:sym typeface="Arial"/>
              </a:endParaRPr>
            </a:p>
          </p:txBody>
        </p:sp>
        <p:sp>
          <p:nvSpPr>
            <p:cNvPr id="987" name="Google Shape;987;p58"/>
            <p:cNvSpPr txBox="1"/>
            <p:nvPr/>
          </p:nvSpPr>
          <p:spPr>
            <a:xfrm>
              <a:off x="1729279" y="3087274"/>
              <a:ext cx="2082191"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1" i="0" lang="zh-TW" sz="6000" u="sng" cap="none" strike="noStrike">
                  <a:solidFill>
                    <a:srgbClr val="CEA488"/>
                  </a:solidFill>
                  <a:latin typeface="Arial"/>
                  <a:ea typeface="Arial"/>
                  <a:cs typeface="Arial"/>
                  <a:sym typeface="Arial"/>
                </a:rPr>
                <a:t>S</a:t>
              </a:r>
              <a:r>
                <a:rPr b="0" i="0" lang="zh-TW" sz="2800" u="sng" cap="none" strike="noStrike">
                  <a:solidFill>
                    <a:schemeClr val="dk1"/>
                  </a:solidFill>
                  <a:latin typeface="Arial"/>
                  <a:ea typeface="Arial"/>
                  <a:cs typeface="Arial"/>
                  <a:sym typeface="Arial"/>
                </a:rPr>
                <a:t>ecurity</a:t>
              </a:r>
              <a:endParaRPr b="0" i="0" sz="2800" u="sng" cap="none" strike="noStrike">
                <a:solidFill>
                  <a:schemeClr val="dk1"/>
                </a:solidFill>
                <a:latin typeface="Arial"/>
                <a:ea typeface="Arial"/>
                <a:cs typeface="Arial"/>
                <a:sym typeface="Arial"/>
              </a:endParaRPr>
            </a:p>
          </p:txBody>
        </p:sp>
      </p:grpSp>
      <p:pic>
        <p:nvPicPr>
          <p:cNvPr id="988" name="Google Shape;988;p58">
            <a:hlinkClick action="ppaction://hlinksldjump" r:id="rId4"/>
          </p:cNvPr>
          <p:cNvPicPr preferRelativeResize="0"/>
          <p:nvPr/>
        </p:nvPicPr>
        <p:blipFill rotWithShape="1">
          <a:blip r:embed="rId5">
            <a:alphaModFix/>
          </a:blip>
          <a:srcRect b="0" l="0" r="0" t="0"/>
          <a:stretch/>
        </p:blipFill>
        <p:spPr>
          <a:xfrm>
            <a:off x="11314519" y="6048961"/>
            <a:ext cx="756832" cy="715314"/>
          </a:xfrm>
          <a:prstGeom prst="rect">
            <a:avLst/>
          </a:prstGeom>
          <a:noFill/>
          <a:ln>
            <a:noFill/>
          </a:ln>
        </p:spPr>
      </p:pic>
      <p:grpSp>
        <p:nvGrpSpPr>
          <p:cNvPr id="989" name="Google Shape;989;p58"/>
          <p:cNvGrpSpPr/>
          <p:nvPr/>
        </p:nvGrpSpPr>
        <p:grpSpPr>
          <a:xfrm>
            <a:off x="2087464" y="569161"/>
            <a:ext cx="1453063" cy="737119"/>
            <a:chOff x="2080727" y="858416"/>
            <a:chExt cx="1453063" cy="737119"/>
          </a:xfrm>
        </p:grpSpPr>
        <p:sp>
          <p:nvSpPr>
            <p:cNvPr id="990" name="Google Shape;990;p58"/>
            <p:cNvSpPr txBox="1"/>
            <p:nvPr/>
          </p:nvSpPr>
          <p:spPr>
            <a:xfrm>
              <a:off x="2164165" y="958185"/>
              <a:ext cx="136962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zh-TW" sz="2400" u="none" cap="none" strike="noStrike">
                  <a:solidFill>
                    <a:schemeClr val="dk1"/>
                  </a:solidFill>
                  <a:latin typeface="Microsoft JhengHei"/>
                  <a:ea typeface="Microsoft JhengHei"/>
                  <a:cs typeface="Microsoft JhengHei"/>
                  <a:sym typeface="Microsoft JhengHei"/>
                </a:rPr>
                <a:t>建模後</a:t>
              </a:r>
              <a:endParaRPr b="0" i="0" sz="2400" u="none" cap="none" strike="noStrike">
                <a:solidFill>
                  <a:schemeClr val="dk1"/>
                </a:solidFill>
                <a:latin typeface="Calibri"/>
                <a:ea typeface="Calibri"/>
                <a:cs typeface="Calibri"/>
                <a:sym typeface="Calibri"/>
              </a:endParaRPr>
            </a:p>
          </p:txBody>
        </p:sp>
        <p:sp>
          <p:nvSpPr>
            <p:cNvPr id="991" name="Google Shape;991;p58"/>
            <p:cNvSpPr/>
            <p:nvPr/>
          </p:nvSpPr>
          <p:spPr>
            <a:xfrm>
              <a:off x="2080727" y="858416"/>
              <a:ext cx="1453063" cy="737119"/>
            </a:xfrm>
            <a:prstGeom prst="flowChartOffpageConnecto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佈景主題">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2024-05-22T09:55:53Z</dcterms:created>
  <dc:creator>奇 劉</dc:creator>
</cp:coreProperties>
</file>